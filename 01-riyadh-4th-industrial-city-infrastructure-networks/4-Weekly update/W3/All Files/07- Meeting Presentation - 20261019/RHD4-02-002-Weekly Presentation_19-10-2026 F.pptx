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handoutMasterIdLst>
    <p:handoutMasterId r:id="rId23"/>
  </p:handoutMasterIdLst>
  <p:sldIdLst>
    <p:sldId id="266" r:id="rId6"/>
    <p:sldId id="2147378751" r:id="rId7"/>
    <p:sldId id="2147378804" r:id="rId8"/>
    <p:sldId id="2147378791" r:id="rId9"/>
    <p:sldId id="2147378798" r:id="rId10"/>
    <p:sldId id="2147378785" r:id="rId11"/>
    <p:sldId id="2147378784" r:id="rId12"/>
    <p:sldId id="2147378781" r:id="rId13"/>
    <p:sldId id="2147378790" r:id="rId14"/>
    <p:sldId id="2038" r:id="rId15"/>
    <p:sldId id="2147378788" r:id="rId16"/>
    <p:sldId id="2147378799" r:id="rId17"/>
    <p:sldId id="2047" r:id="rId18"/>
    <p:sldId id="2147378770" r:id="rId19"/>
    <p:sldId id="2147378792" r:id="rId20"/>
    <p:sldId id="2147378771" r:id="rId2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zeed A. Alragabah / يزيد آل رقبة" initials="YAA/يآر" lastIdx="2" clrIdx="0">
    <p:extLst>
      <p:ext uri="{19B8F6BF-5375-455C-9EA6-DF929625EA0E}">
        <p15:presenceInfo xmlns:p15="http://schemas.microsoft.com/office/powerpoint/2012/main" userId="S-1-5-21-649039957-972252681-926967226-387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B4C1FF"/>
    <a:srgbClr val="BC8F00"/>
    <a:srgbClr val="96C843"/>
    <a:srgbClr val="99D65B"/>
    <a:srgbClr val="91D150"/>
    <a:srgbClr val="296A8E"/>
    <a:srgbClr val="EAB200"/>
    <a:srgbClr val="FF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56" autoAdjust="0"/>
  </p:normalViewPr>
  <p:slideViewPr>
    <p:cSldViewPr snapToGrid="0" showGuides="1">
      <p:cViewPr varScale="1">
        <p:scale>
          <a:sx n="95" d="100"/>
          <a:sy n="95" d="100"/>
        </p:scale>
        <p:origin x="163" y="72"/>
      </p:cViewPr>
      <p:guideLst>
        <p:guide orient="horz" pos="2183"/>
        <p:guide pos="3840"/>
        <p:guide orient="horz" pos="4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20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6C84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A68-45A3-8778-429C8E0AAA77}"/>
              </c:ext>
            </c:extLst>
          </c:dPt>
          <c:dPt>
            <c:idx val="3"/>
            <c:invertIfNegative val="0"/>
            <c:bubble3D val="0"/>
            <c:spPr>
              <a:solidFill>
                <a:srgbClr val="B8DA8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A68-45A3-8778-429C8E0AAA77}"/>
              </c:ext>
            </c:extLst>
          </c:dPt>
          <c:dLbls>
            <c:dLbl>
              <c:idx val="0"/>
              <c:layout>
                <c:manualLayout>
                  <c:x val="-9.3553255352532699E-3"/>
                  <c:y val="-4.7295610418568647E-2"/>
                </c:manualLayout>
              </c:layout>
              <c:tx>
                <c:rich>
                  <a:bodyPr/>
                  <a:lstStyle/>
                  <a:p>
                    <a:fld id="{491AF981-D79E-423C-9E7B-2FA7C5A27A0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664532687034936"/>
                      <c:h val="0.1285540634152329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A68-45A3-8778-429C8E0AAA77}"/>
                </c:ext>
              </c:extLst>
            </c:dLbl>
            <c:dLbl>
              <c:idx val="1"/>
              <c:layout>
                <c:manualLayout>
                  <c:x val="1.0921059638431376E-2"/>
                  <c:y val="1.5952182090808651E-2"/>
                </c:manualLayout>
              </c:layout>
              <c:tx>
                <c:rich>
                  <a:bodyPr/>
                  <a:lstStyle/>
                  <a:p>
                    <a:fld id="{AFAA5FC9-B609-4F37-BC52-5622C4816131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15002019682485"/>
                      <c:h val="0.1400383192157275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A68-45A3-8778-429C8E0AAA77}"/>
                </c:ext>
              </c:extLst>
            </c:dLbl>
            <c:dLbl>
              <c:idx val="3"/>
              <c:layout>
                <c:manualLayout>
                  <c:x val="3.2990312018214805E-2"/>
                  <c:y val="-2.784034610055944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800" b="0" i="0" u="none" strike="noStrike" kern="1200" baseline="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18889161643436"/>
                      <c:h val="0.1121976990933164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A68-45A3-8778-429C8E0AA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القيمة التعاقدية</c:v>
                </c:pt>
                <c:pt idx="1">
                  <c:v>إجمالي ما تم صرفه</c:v>
                </c:pt>
                <c:pt idx="2">
                  <c:v>إجمالي الخصومات</c:v>
                </c:pt>
                <c:pt idx="3">
                  <c:v>المتبقي من القيمة التعاقدية</c:v>
                </c:pt>
                <c:pt idx="4">
                  <c:v>نسبة قيمة الأعمال المنجزة وغير مصروفة</c:v>
                </c:pt>
              </c:strCache>
            </c:strRef>
          </c:cat>
          <c:val>
            <c:numRef>
              <c:f>Sheet1!$B$2:$B$6</c:f>
              <c:numCache>
                <c:formatCode>#,##0.00_);[Red]\(#,##0.00\)_)</c:formatCode>
                <c:ptCount val="5"/>
                <c:pt idx="0" formatCode="[$SAR]\ #,##0.00">
                  <c:v>445000000</c:v>
                </c:pt>
                <c:pt idx="1">
                  <c:v>41804647</c:v>
                </c:pt>
                <c:pt idx="2" formatCode="[$SAR]\ #,##0.00">
                  <c:v>0</c:v>
                </c:pt>
                <c:pt idx="3" formatCode="[$SAR]\ #,##0.00">
                  <c:v>403195353</c:v>
                </c:pt>
                <c:pt idx="4" formatCode="0.00%">
                  <c:v>1.4249949168539331E-2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A68-45A3-8778-429C8E0AA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2793360"/>
        <c:axId val="1533493984"/>
      </c:barChart>
      <c:catAx>
        <c:axId val="158279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defRPr>
            </a:pPr>
            <a:endParaRPr lang="en-US"/>
          </a:p>
        </c:txPr>
        <c:crossAx val="1533493984"/>
        <c:crosses val="autoZero"/>
        <c:auto val="1"/>
        <c:lblAlgn val="ctr"/>
        <c:lblOffset val="100"/>
        <c:noMultiLvlLbl val="0"/>
      </c:catAx>
      <c:valAx>
        <c:axId val="153349398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[$SAR]\ #,##0.00" sourceLinked="1"/>
        <c:majorTickMark val="none"/>
        <c:minorTickMark val="none"/>
        <c:tickLblPos val="nextTo"/>
        <c:crossAx val="158279336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 w="25400">
          <a:noFill/>
        </a:ln>
        <a:effectLst/>
        <a:sp3d/>
      </c:spPr>
    </c:sideWall>
    <c:backWall>
      <c:thickness val="0"/>
      <c:spPr>
        <a:noFill/>
        <a:ln w="25400"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5361679025045364E-2"/>
          <c:y val="6.9601550306027604E-2"/>
          <c:w val="0.90927664194990931"/>
          <c:h val="0.8207644990442117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3.4993861458271776E-2"/>
                  <c:y val="-4.000447811322163E-2"/>
                </c:manualLayout>
              </c:layout>
              <c:tx>
                <c:rich>
                  <a:bodyPr/>
                  <a:lstStyle/>
                  <a:p>
                    <a:fld id="{491AF981-D79E-423C-9E7B-2FA7C5A27A0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31A-4F88-BDDC-2A3638E67B85}"/>
                </c:ext>
              </c:extLst>
            </c:dLbl>
            <c:dLbl>
              <c:idx val="1"/>
              <c:layout>
                <c:manualLayout>
                  <c:x val="2.5158171372325434E-2"/>
                  <c:y val="-2.9789212914189591E-2"/>
                </c:manualLayout>
              </c:layout>
              <c:tx>
                <c:rich>
                  <a:bodyPr/>
                  <a:lstStyle/>
                  <a:p>
                    <a:fld id="{AFAA5FC9-B609-4F37-BC52-5622C4816131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31A-4F88-BDDC-2A3638E67B85}"/>
                </c:ext>
              </c:extLst>
            </c:dLbl>
            <c:spPr>
              <a:solidFill>
                <a:srgbClr val="96C84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 formatCode="0.00%">
                  <c:v>0.22189999999999999</c:v>
                </c:pt>
                <c:pt idx="1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1A-4F88-BDDC-2A3638E67B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Earned</c:v>
                </c:pt>
              </c:strCache>
            </c:strRef>
          </c:tx>
          <c:spPr>
            <a:solidFill>
              <a:srgbClr val="498FAA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3.4620907903176276E-2"/>
                  <c:y val="-3.3773585447280263E-2"/>
                </c:manualLayout>
              </c:layout>
              <c:tx>
                <c:rich>
                  <a:bodyPr/>
                  <a:lstStyle/>
                  <a:p>
                    <a:fld id="{48392235-B48A-4333-A419-505FBB55C7BC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31A-4F88-BDDC-2A3638E67B85}"/>
                </c:ext>
              </c:extLst>
            </c:dLbl>
            <c:dLbl>
              <c:idx val="1"/>
              <c:layout>
                <c:manualLayout>
                  <c:x val="8.563507780104973E-2"/>
                  <c:y val="-2.78102313404772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252.00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1A-4F88-BDDC-2A3638E67B85}"/>
                </c:ext>
              </c:extLst>
            </c:dLbl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Sheet1!$C$2:$C$3</c:f>
              <c:numCache>
                <c:formatCode>0\x\1.\5\ \ \ \ \ \ا\ل\ع\م\ل\ \د\و\ا\م\ \إ\ض\ا\ف\ي</c:formatCode>
                <c:ptCount val="2"/>
                <c:pt idx="0" formatCode="0.00%">
                  <c:v>0.21</c:v>
                </c:pt>
                <c:pt idx="1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31A-4F88-BDDC-2A3638E67B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91D15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91D1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F31A-4F88-BDDC-2A3638E67B85}"/>
              </c:ext>
            </c:extLst>
          </c:dPt>
          <c:dLbls>
            <c:dLbl>
              <c:idx val="0"/>
              <c:layout>
                <c:manualLayout>
                  <c:x val="9.6889794394745127E-2"/>
                  <c:y val="-3.7600590615723621E-2"/>
                </c:manualLayout>
              </c:layout>
              <c:tx>
                <c:rich>
                  <a:bodyPr/>
                  <a:lstStyle/>
                  <a:p>
                    <a:fld id="{C957152E-A8CD-454C-9D8D-A52FE01AC369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F31A-4F88-BDDC-2A3638E67B85}"/>
                </c:ext>
              </c:extLst>
            </c:dLbl>
            <c:dLbl>
              <c:idx val="1"/>
              <c:layout>
                <c:manualLayout>
                  <c:x val="0.11545867444226415"/>
                  <c:y val="8.0052589124500154E-2"/>
                </c:manualLayout>
              </c:layout>
              <c:tx>
                <c:rich>
                  <a:bodyPr/>
                  <a:lstStyle/>
                  <a:p>
                    <a:fld id="{D9E9EEF5-0E74-450A-973E-6626CB5CE53F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F31A-4F88-BDDC-2A3638E67B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 - Cost</c:v>
                </c:pt>
                <c:pt idx="1">
                  <c:v>Physical Equipment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 formatCode="0.00%">
                  <c:v>1.1899999999999994E-2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31A-4F88-BDDC-2A3638E67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82793360"/>
        <c:axId val="1533493984"/>
        <c:axId val="0"/>
      </c:bar3DChart>
      <c:catAx>
        <c:axId val="158279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3493984"/>
        <c:crosses val="autoZero"/>
        <c:auto val="1"/>
        <c:lblAlgn val="ctr"/>
        <c:lblOffset val="100"/>
        <c:noMultiLvlLbl val="0"/>
      </c:catAx>
      <c:valAx>
        <c:axId val="1533493984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158279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1.6404821435235313E-2"/>
          <c:w val="0.59906510131532631"/>
          <c:h val="0.146421671771524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178F39-2C41-476E-8AEB-D1B3B6A84E7C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35763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pPr algn="ctr"/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endParaRPr lang="en-US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8CBBA-5292-4079-B908-EBB9EE558E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C3AF815-5AD2-48DC-BC36-66416468E79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4E32E-5BC6-45DB-B892-F74305117288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9371285"/>
            <a:ext cx="6735763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CD372-84DC-4FFA-9B14-8BB7278487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7E34891-67DC-4651-A120-033432C16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92926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35763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ctr">
              <a:defRPr lang="en-US" sz="1000" b="1" i="0" u="none">
                <a:solidFill>
                  <a:srgbClr val="D4AC0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8EFBDC-07CF-4AB5-A7A8-8935FC7B56E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9371285"/>
            <a:ext cx="6735763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502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918116-2CB4-4EAD-BACF-94537D18561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918116-2CB4-4EAD-BACF-94537D18561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86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| </a:t>
            </a:r>
            <a:r>
              <a:rPr kumimoji="0" lang="ar-SA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مقيّد</a:t>
            </a:r>
            <a:endParaRPr kumimoji="0" lang="ar-SA" sz="1000" b="1" i="0" u="none" strike="noStrike" kern="1200" cap="none" spc="0" normalizeH="0" baseline="0" noProof="0" dirty="0">
              <a:ln>
                <a:noFill/>
              </a:ln>
              <a:solidFill>
                <a:srgbClr val="D4AC0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85486-2A36-4153-9FE1-C7FA1A83A1D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166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Confidential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| </a:t>
            </a:r>
            <a:r>
              <a:rPr kumimoji="0" lang="ar-SA" sz="1000" b="0" i="0" u="none" strike="noStrike" kern="1200" cap="none" spc="0" normalizeH="0" baseline="0" noProof="0">
                <a:ln>
                  <a:noFill/>
                </a:ln>
                <a:solidFill>
                  <a:srgbClr val="D4AC0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مقيّد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885486-2A36-4153-9FE1-C7FA1A83A1D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197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C9D6-11B4-E33F-61FF-9BCD9BF5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AA1E3-A562-96BD-12AC-6EFA8FD90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13477-3AB0-951C-6A65-6D9C70745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4B23202-2964-9D5A-9055-4EDCDBC06FFF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A325-62EF-6A68-2499-7C0432945A7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F32FC-12DA-3751-72F9-32BA1D5C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25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8AA9-00BB-5136-B614-D5B1544D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8F3C1-6C4E-1FA7-A67A-4FF5C348F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86F39-0DBD-7488-971E-AFB5B61F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AABBE5-A800-EF21-DFCB-6F0623668E64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CC291-B16C-FFC5-5794-DD506B66AA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8807E-A70B-0ADA-6F9B-1C66174C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7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8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B219-9A13-529C-BF44-FA2A0827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688C4-C736-34CB-52CE-55A87B6BD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E0EEB-A8E5-F98A-F8E0-760484008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C675DAE-F5B9-BEDB-B8B9-01F553A2D828}"/>
              </a:ext>
            </a:extLst>
          </p:cNvPr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20445-FBF1-809A-04D5-D935ED449BA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2F09-F35E-ED47-507E-557E06F8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3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ar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ar-SA" sz="1000" b="1" dirty="0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85486-2A36-4153-9FE1-C7FA1A83A1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4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E61C07-D432-BC4B-B21C-C1B0C477B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01E71-BB2B-8645-B3FA-C91F05FD35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" y="0"/>
            <a:ext cx="876935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D9B31-8D6C-0243-A657-0759B53A07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913" y="587141"/>
            <a:ext cx="1289905" cy="208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78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E697F-F91C-5E4C-9D50-B261EBD808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244" y="5554282"/>
            <a:ext cx="4371756" cy="132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C7700-C68E-CE40-9DEF-E52AAB87D6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D1C7F6-BB81-FD41-A9FF-008837144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0EC15-7E0B-124A-8815-B3793421DF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54652C-FB10-1240-A9CE-5C69C06FA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7FDFCE-D557-B74B-B64E-E24C248244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CEA4AB-B006-614B-9613-FA0ECAF48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4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F486F-CBF0-6446-ACCE-5278F2BA0E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FD94701-9FCD-D24D-AEDF-57FB2A631C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1376" y="4549525"/>
            <a:ext cx="6903721" cy="1325563"/>
          </a:xfrm>
        </p:spPr>
        <p:txBody>
          <a:bodyPr>
            <a:normAutofit/>
          </a:bodyPr>
          <a:lstStyle>
            <a:lvl1pPr algn="r" rtl="1">
              <a:defRPr sz="3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SA" dirty="0"/>
              <a:t>عنوان الفواصل بين المواضيع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75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  <a:sym typeface="+mn-lt"/>
              </a:rPr>
              <a:t>Copyright © 2018 by The Boston Consulting Group, Inc. All rights reserved.</a:t>
            </a:r>
          </a:p>
        </p:txBody>
      </p:sp>
      <p:sp>
        <p:nvSpPr>
          <p:cNvPr id="10" name="FooterSimple" hidden="1"/>
          <p:cNvSpPr txBox="1"/>
          <p:nvPr userDrawn="1">
            <p:custDataLst>
              <p:tags r:id="rId2"/>
            </p:custDataLst>
          </p:nvPr>
        </p:nvSpPr>
        <p:spPr>
          <a:xfrm rot="16200000">
            <a:off x="10561320" y="5069411"/>
            <a:ext cx="2743200" cy="1938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cs typeface="+mn-cs"/>
                <a:sym typeface="+mn-lt"/>
              </a:rPr>
              <a:t>NIC Strategy Phase 2 - Strategy content discussion with HE Saud (v6) slides 1-5,25 20180721T1629+04.pptx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lt"/>
              <a:cs typeface="+mn-cs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7A1BCE1-7902-C34F-AAC8-099C8E92DBE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27186-58DE-944B-BCAC-B2DA1BA0041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913" y="587141"/>
            <a:ext cx="1289905" cy="2084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3A2A3A-566C-B24E-99EC-0E76D7DCFB9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" y="0"/>
            <a:ext cx="876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9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porate Busin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5C34C339-13B5-FF86-ED58-7D429E36C3B8}"/>
              </a:ext>
            </a:extLst>
          </p:cNvPr>
          <p:cNvSpPr/>
          <p:nvPr userDrawn="1"/>
        </p:nvSpPr>
        <p:spPr>
          <a:xfrm>
            <a:off x="0" y="977161"/>
            <a:ext cx="1929615" cy="5880839"/>
          </a:xfrm>
          <a:custGeom>
            <a:avLst/>
            <a:gdLst>
              <a:gd name="connsiteX0" fmla="*/ 555932 w 1929615"/>
              <a:gd name="connsiteY0" fmla="*/ 0 h 5880839"/>
              <a:gd name="connsiteX1" fmla="*/ 1927398 w 1929615"/>
              <a:gd name="connsiteY1" fmla="*/ 669037 h 5880839"/>
              <a:gd name="connsiteX2" fmla="*/ 1929615 w 1929615"/>
              <a:gd name="connsiteY2" fmla="*/ 2338366 h 5880839"/>
              <a:gd name="connsiteX3" fmla="*/ 1214077 w 1929615"/>
              <a:gd name="connsiteY3" fmla="*/ 1989304 h 5880839"/>
              <a:gd name="connsiteX4" fmla="*/ 1219379 w 1929615"/>
              <a:gd name="connsiteY4" fmla="*/ 5880839 h 5880839"/>
              <a:gd name="connsiteX5" fmla="*/ 0 w 1929615"/>
              <a:gd name="connsiteY5" fmla="*/ 5880839 h 5880839"/>
              <a:gd name="connsiteX6" fmla="*/ 0 w 1929615"/>
              <a:gd name="connsiteY6" fmla="*/ 1941395 h 5880839"/>
              <a:gd name="connsiteX7" fmla="*/ 558215 w 1929615"/>
              <a:gd name="connsiteY7" fmla="*/ 1666459 h 5880839"/>
              <a:gd name="connsiteX8" fmla="*/ 555932 w 1929615"/>
              <a:gd name="connsiteY8" fmla="*/ 0 h 588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29615" h="5880839">
                <a:moveTo>
                  <a:pt x="555932" y="0"/>
                </a:moveTo>
                <a:lnTo>
                  <a:pt x="1927398" y="669037"/>
                </a:lnTo>
                <a:lnTo>
                  <a:pt x="1929615" y="2338366"/>
                </a:lnTo>
                <a:lnTo>
                  <a:pt x="1214077" y="1989304"/>
                </a:lnTo>
                <a:lnTo>
                  <a:pt x="1219379" y="5880839"/>
                </a:lnTo>
                <a:lnTo>
                  <a:pt x="0" y="5880839"/>
                </a:lnTo>
                <a:lnTo>
                  <a:pt x="0" y="1941395"/>
                </a:lnTo>
                <a:lnTo>
                  <a:pt x="558215" y="1666459"/>
                </a:lnTo>
                <a:lnTo>
                  <a:pt x="555932" y="0"/>
                </a:lnTo>
                <a:close/>
              </a:path>
            </a:pathLst>
          </a:custGeom>
          <a:solidFill>
            <a:srgbClr val="D6D6D6">
              <a:alpha val="30000"/>
            </a:srgbClr>
          </a:solidFill>
          <a:ln w="404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26244B-46B7-4EC4-9D37-69BD74D0E1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2686049"/>
            <a:ext cx="5358495" cy="1485901"/>
          </a:xfrm>
          <a:prstGeom prst="rect">
            <a:avLst/>
          </a:prstGeom>
        </p:spPr>
        <p:txBody>
          <a:bodyPr/>
          <a:lstStyle>
            <a:lvl1pPr algn="r" rtl="1">
              <a:lnSpc>
                <a:spcPct val="80000"/>
              </a:lnSpc>
              <a:buNone/>
              <a:defRPr sz="5000" b="1" i="0" spc="-150">
                <a:solidFill>
                  <a:schemeClr val="tx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6BBC2B62-9385-44F0-A81F-D0C3E9F6B0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4784" y="612319"/>
            <a:ext cx="3647215" cy="306160"/>
          </a:xfrm>
          <a:prstGeom prst="rect">
            <a:avLst/>
          </a:prstGeom>
        </p:spPr>
        <p:txBody>
          <a:bodyPr anchor="ctr"/>
          <a:lstStyle>
            <a:lvl1pPr marL="0" algn="l" rtl="1">
              <a:lnSpc>
                <a:spcPct val="50000"/>
              </a:lnSpc>
              <a:buNone/>
              <a:defRPr lang="en-ID" sz="14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674E79A-ED9B-4EFE-87E4-63A0311A483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4785" y="5055080"/>
            <a:ext cx="5358496" cy="1184050"/>
          </a:xfrm>
          <a:prstGeom prst="rect">
            <a:avLst/>
          </a:prstGeom>
        </p:spPr>
        <p:txBody>
          <a:bodyPr/>
          <a:lstStyle>
            <a:lvl1pPr marL="0" algn="r" rtl="1">
              <a:lnSpc>
                <a:spcPct val="70000"/>
              </a:lnSpc>
              <a:buNone/>
              <a:defRPr sz="1200" b="0" i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F15DE26-C4F3-40D8-878A-819D2683F34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057736" y="5932970"/>
            <a:ext cx="2396759" cy="306160"/>
          </a:xfrm>
          <a:prstGeom prst="rect">
            <a:avLst/>
          </a:prstGeom>
        </p:spPr>
        <p:txBody>
          <a:bodyPr anchor="ctr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D2D20F3-5D66-49FD-9578-4F9A716F0F6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20952" y="612319"/>
            <a:ext cx="1733543" cy="595376"/>
          </a:xfrm>
          <a:prstGeom prst="rect">
            <a:avLst/>
          </a:prstGeom>
        </p:spPr>
        <p:txBody>
          <a:bodyPr anchor="t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accent5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</a:t>
            </a:r>
          </a:p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887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rporate Business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7FFA180D-4DE1-DE9A-4690-5A3261B27A65}"/>
              </a:ext>
            </a:extLst>
          </p:cNvPr>
          <p:cNvSpPr/>
          <p:nvPr/>
        </p:nvSpPr>
        <p:spPr>
          <a:xfrm>
            <a:off x="-44830" y="-2539"/>
            <a:ext cx="12250801" cy="6891083"/>
          </a:xfrm>
          <a:custGeom>
            <a:avLst/>
            <a:gdLst>
              <a:gd name="connsiteX0" fmla="*/ 0 w 12250801"/>
              <a:gd name="connsiteY0" fmla="*/ 0 h 6891083"/>
              <a:gd name="connsiteX1" fmla="*/ 12250801 w 12250801"/>
              <a:gd name="connsiteY1" fmla="*/ 0 h 6891083"/>
              <a:gd name="connsiteX2" fmla="*/ 12250801 w 12250801"/>
              <a:gd name="connsiteY2" fmla="*/ 6891084 h 6891083"/>
              <a:gd name="connsiteX3" fmla="*/ 0 w 12250801"/>
              <a:gd name="connsiteY3" fmla="*/ 6891084 h 6891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50801" h="6891083">
                <a:moveTo>
                  <a:pt x="0" y="0"/>
                </a:moveTo>
                <a:lnTo>
                  <a:pt x="12250801" y="0"/>
                </a:lnTo>
                <a:lnTo>
                  <a:pt x="12250801" y="6891084"/>
                </a:lnTo>
                <a:lnTo>
                  <a:pt x="0" y="6891084"/>
                </a:lnTo>
                <a:close/>
              </a:path>
            </a:pathLst>
          </a:custGeom>
          <a:solidFill>
            <a:srgbClr val="4FAC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457200" rtl="1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7FDDCE22-8D24-CCF8-3191-272BB80BBFB6}"/>
              </a:ext>
            </a:extLst>
          </p:cNvPr>
          <p:cNvSpPr/>
          <p:nvPr userDrawn="1"/>
        </p:nvSpPr>
        <p:spPr>
          <a:xfrm>
            <a:off x="585279" y="4362259"/>
            <a:ext cx="1724850" cy="2528825"/>
          </a:xfrm>
          <a:custGeom>
            <a:avLst/>
            <a:gdLst>
              <a:gd name="connsiteX0" fmla="*/ 800227 w 1724850"/>
              <a:gd name="connsiteY0" fmla="*/ 0 h 2528825"/>
              <a:gd name="connsiteX1" fmla="*/ 1723327 w 1724850"/>
              <a:gd name="connsiteY1" fmla="*/ 450342 h 2528825"/>
              <a:gd name="connsiteX2" fmla="*/ 1724850 w 1724850"/>
              <a:gd name="connsiteY2" fmla="*/ 1573975 h 2528825"/>
              <a:gd name="connsiteX3" fmla="*/ 1243203 w 1724850"/>
              <a:gd name="connsiteY3" fmla="*/ 1338961 h 2528825"/>
              <a:gd name="connsiteX4" fmla="*/ 1244815 w 1724850"/>
              <a:gd name="connsiteY4" fmla="*/ 2528825 h 2528825"/>
              <a:gd name="connsiteX5" fmla="*/ 1387 w 1724850"/>
              <a:gd name="connsiteY5" fmla="*/ 2528825 h 2528825"/>
              <a:gd name="connsiteX6" fmla="*/ 0 w 1724850"/>
              <a:gd name="connsiteY6" fmla="*/ 1516571 h 2528825"/>
              <a:gd name="connsiteX7" fmla="*/ 801751 w 1724850"/>
              <a:gd name="connsiteY7" fmla="*/ 1121728 h 2528825"/>
              <a:gd name="connsiteX8" fmla="*/ 800227 w 1724850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850" h="2528825">
                <a:moveTo>
                  <a:pt x="800227" y="0"/>
                </a:moveTo>
                <a:lnTo>
                  <a:pt x="1723327" y="450342"/>
                </a:lnTo>
                <a:lnTo>
                  <a:pt x="1724850" y="1573975"/>
                </a:lnTo>
                <a:lnTo>
                  <a:pt x="1243203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22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46A94C17-C90C-C6A5-BA87-4FEA64A6783D}"/>
              </a:ext>
            </a:extLst>
          </p:cNvPr>
          <p:cNvSpPr/>
          <p:nvPr userDrawn="1"/>
        </p:nvSpPr>
        <p:spPr>
          <a:xfrm>
            <a:off x="2869564" y="4362259"/>
            <a:ext cx="1724787" cy="2528825"/>
          </a:xfrm>
          <a:custGeom>
            <a:avLst/>
            <a:gdLst>
              <a:gd name="connsiteX0" fmla="*/ 800227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203 w 1724787"/>
              <a:gd name="connsiteY3" fmla="*/ 1338961 h 2528825"/>
              <a:gd name="connsiteX4" fmla="*/ 1244815 w 1724787"/>
              <a:gd name="connsiteY4" fmla="*/ 2528825 h 2528825"/>
              <a:gd name="connsiteX5" fmla="*/ 1387 w 1724787"/>
              <a:gd name="connsiteY5" fmla="*/ 2528825 h 2528825"/>
              <a:gd name="connsiteX6" fmla="*/ 0 w 1724787"/>
              <a:gd name="connsiteY6" fmla="*/ 1516571 h 2528825"/>
              <a:gd name="connsiteX7" fmla="*/ 801751 w 1724787"/>
              <a:gd name="connsiteY7" fmla="*/ 1121728 h 2528825"/>
              <a:gd name="connsiteX8" fmla="*/ 800227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227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203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22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E2E021FC-A091-E37D-122A-4D207DDAA725}"/>
              </a:ext>
            </a:extLst>
          </p:cNvPr>
          <p:cNvSpPr/>
          <p:nvPr userDrawn="1"/>
        </p:nvSpPr>
        <p:spPr>
          <a:xfrm>
            <a:off x="5150421" y="4362259"/>
            <a:ext cx="1724787" cy="2528825"/>
          </a:xfrm>
          <a:custGeom>
            <a:avLst/>
            <a:gdLst>
              <a:gd name="connsiteX0" fmla="*/ 800163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139 w 1724787"/>
              <a:gd name="connsiteY3" fmla="*/ 1338961 h 2528825"/>
              <a:gd name="connsiteX4" fmla="*/ 1244776 w 1724787"/>
              <a:gd name="connsiteY4" fmla="*/ 2528825 h 2528825"/>
              <a:gd name="connsiteX5" fmla="*/ 1359 w 1724787"/>
              <a:gd name="connsiteY5" fmla="*/ 2528825 h 2528825"/>
              <a:gd name="connsiteX6" fmla="*/ 0 w 1724787"/>
              <a:gd name="connsiteY6" fmla="*/ 1516571 h 2528825"/>
              <a:gd name="connsiteX7" fmla="*/ 801688 w 1724787"/>
              <a:gd name="connsiteY7" fmla="*/ 1121728 h 2528825"/>
              <a:gd name="connsiteX8" fmla="*/ 800163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163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139" y="1338961"/>
                </a:lnTo>
                <a:lnTo>
                  <a:pt x="1244776" y="2528825"/>
                </a:lnTo>
                <a:lnTo>
                  <a:pt x="1359" y="2528825"/>
                </a:lnTo>
                <a:lnTo>
                  <a:pt x="0" y="1516571"/>
                </a:lnTo>
                <a:lnTo>
                  <a:pt x="801688" y="1121728"/>
                </a:lnTo>
                <a:lnTo>
                  <a:pt x="800163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C7DD2DCE-EC7B-1484-F9D6-74C119C28C70}"/>
              </a:ext>
            </a:extLst>
          </p:cNvPr>
          <p:cNvSpPr/>
          <p:nvPr userDrawn="1"/>
        </p:nvSpPr>
        <p:spPr>
          <a:xfrm>
            <a:off x="7434643" y="4362259"/>
            <a:ext cx="1724850" cy="2528825"/>
          </a:xfrm>
          <a:custGeom>
            <a:avLst/>
            <a:gdLst>
              <a:gd name="connsiteX0" fmla="*/ 800226 w 1724850"/>
              <a:gd name="connsiteY0" fmla="*/ 0 h 2528825"/>
              <a:gd name="connsiteX1" fmla="*/ 1723326 w 1724850"/>
              <a:gd name="connsiteY1" fmla="*/ 450342 h 2528825"/>
              <a:gd name="connsiteX2" fmla="*/ 1724850 w 1724850"/>
              <a:gd name="connsiteY2" fmla="*/ 1573975 h 2528825"/>
              <a:gd name="connsiteX3" fmla="*/ 1243202 w 1724850"/>
              <a:gd name="connsiteY3" fmla="*/ 1338961 h 2528825"/>
              <a:gd name="connsiteX4" fmla="*/ 1244815 w 1724850"/>
              <a:gd name="connsiteY4" fmla="*/ 2528825 h 2528825"/>
              <a:gd name="connsiteX5" fmla="*/ 1387 w 1724850"/>
              <a:gd name="connsiteY5" fmla="*/ 2528825 h 2528825"/>
              <a:gd name="connsiteX6" fmla="*/ 0 w 1724850"/>
              <a:gd name="connsiteY6" fmla="*/ 1516571 h 2528825"/>
              <a:gd name="connsiteX7" fmla="*/ 801750 w 1724850"/>
              <a:gd name="connsiteY7" fmla="*/ 1121728 h 2528825"/>
              <a:gd name="connsiteX8" fmla="*/ 800226 w 1724850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850" h="2528825">
                <a:moveTo>
                  <a:pt x="800226" y="0"/>
                </a:moveTo>
                <a:lnTo>
                  <a:pt x="1723326" y="450342"/>
                </a:lnTo>
                <a:lnTo>
                  <a:pt x="1724850" y="1573975"/>
                </a:lnTo>
                <a:lnTo>
                  <a:pt x="1243202" y="1338961"/>
                </a:lnTo>
                <a:lnTo>
                  <a:pt x="1244815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0" y="1121728"/>
                </a:lnTo>
                <a:lnTo>
                  <a:pt x="800226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469D1CFB-1C21-CA26-FD20-70D33774566B}"/>
              </a:ext>
            </a:extLst>
          </p:cNvPr>
          <p:cNvSpPr/>
          <p:nvPr userDrawn="1"/>
        </p:nvSpPr>
        <p:spPr>
          <a:xfrm>
            <a:off x="9718929" y="4362259"/>
            <a:ext cx="1724787" cy="2528825"/>
          </a:xfrm>
          <a:custGeom>
            <a:avLst/>
            <a:gdLst>
              <a:gd name="connsiteX0" fmla="*/ 800164 w 1724787"/>
              <a:gd name="connsiteY0" fmla="*/ 0 h 2528825"/>
              <a:gd name="connsiteX1" fmla="*/ 1723263 w 1724787"/>
              <a:gd name="connsiteY1" fmla="*/ 450342 h 2528825"/>
              <a:gd name="connsiteX2" fmla="*/ 1724787 w 1724787"/>
              <a:gd name="connsiteY2" fmla="*/ 1573975 h 2528825"/>
              <a:gd name="connsiteX3" fmla="*/ 1243140 w 1724787"/>
              <a:gd name="connsiteY3" fmla="*/ 1338961 h 2528825"/>
              <a:gd name="connsiteX4" fmla="*/ 1244776 w 1724787"/>
              <a:gd name="connsiteY4" fmla="*/ 2528825 h 2528825"/>
              <a:gd name="connsiteX5" fmla="*/ 1387 w 1724787"/>
              <a:gd name="connsiteY5" fmla="*/ 2528825 h 2528825"/>
              <a:gd name="connsiteX6" fmla="*/ 0 w 1724787"/>
              <a:gd name="connsiteY6" fmla="*/ 1516571 h 2528825"/>
              <a:gd name="connsiteX7" fmla="*/ 801751 w 1724787"/>
              <a:gd name="connsiteY7" fmla="*/ 1121728 h 2528825"/>
              <a:gd name="connsiteX8" fmla="*/ 800164 w 1724787"/>
              <a:gd name="connsiteY8" fmla="*/ 0 h 252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4787" h="2528825">
                <a:moveTo>
                  <a:pt x="800164" y="0"/>
                </a:moveTo>
                <a:lnTo>
                  <a:pt x="1723263" y="450342"/>
                </a:lnTo>
                <a:lnTo>
                  <a:pt x="1724787" y="1573975"/>
                </a:lnTo>
                <a:lnTo>
                  <a:pt x="1243140" y="1338961"/>
                </a:lnTo>
                <a:lnTo>
                  <a:pt x="1244776" y="2528825"/>
                </a:lnTo>
                <a:lnTo>
                  <a:pt x="1387" y="2528825"/>
                </a:lnTo>
                <a:lnTo>
                  <a:pt x="0" y="1516571"/>
                </a:lnTo>
                <a:lnTo>
                  <a:pt x="801751" y="1121728"/>
                </a:lnTo>
                <a:lnTo>
                  <a:pt x="800164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C43F0CD7-9093-17FB-89B1-0806481E8A0E}"/>
              </a:ext>
            </a:extLst>
          </p:cNvPr>
          <p:cNvSpPr/>
          <p:nvPr userDrawn="1"/>
        </p:nvSpPr>
        <p:spPr>
          <a:xfrm>
            <a:off x="-44829" y="4778865"/>
            <a:ext cx="70675" cy="1157369"/>
          </a:xfrm>
          <a:custGeom>
            <a:avLst/>
            <a:gdLst>
              <a:gd name="connsiteX0" fmla="*/ 0 w 70675"/>
              <a:gd name="connsiteY0" fmla="*/ 0 h 1157369"/>
              <a:gd name="connsiteX1" fmla="*/ 69151 w 70675"/>
              <a:gd name="connsiteY1" fmla="*/ 33736 h 1157369"/>
              <a:gd name="connsiteX2" fmla="*/ 70675 w 70675"/>
              <a:gd name="connsiteY2" fmla="*/ 1157369 h 1157369"/>
              <a:gd name="connsiteX3" fmla="*/ 0 w 70675"/>
              <a:gd name="connsiteY3" fmla="*/ 1122884 h 1157369"/>
              <a:gd name="connsiteX4" fmla="*/ 0 w 70675"/>
              <a:gd name="connsiteY4" fmla="*/ 0 h 115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75" h="1157369">
                <a:moveTo>
                  <a:pt x="0" y="0"/>
                </a:moveTo>
                <a:lnTo>
                  <a:pt x="69151" y="33736"/>
                </a:lnTo>
                <a:lnTo>
                  <a:pt x="70675" y="1157369"/>
                </a:lnTo>
                <a:lnTo>
                  <a:pt x="0" y="1122884"/>
                </a:lnTo>
                <a:lnTo>
                  <a:pt x="0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r" defTabSz="457200" rtl="1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0491CA1E-6618-3AE9-12CF-4BF6B48DC704}"/>
              </a:ext>
            </a:extLst>
          </p:cNvPr>
          <p:cNvSpPr/>
          <p:nvPr userDrawn="1"/>
        </p:nvSpPr>
        <p:spPr>
          <a:xfrm>
            <a:off x="-29401" y="0"/>
            <a:ext cx="1450776" cy="5177919"/>
          </a:xfrm>
          <a:custGeom>
            <a:avLst/>
            <a:gdLst>
              <a:gd name="connsiteX0" fmla="*/ 204880 w 1450776"/>
              <a:gd name="connsiteY0" fmla="*/ 0 h 5177919"/>
              <a:gd name="connsiteX1" fmla="*/ 1449083 w 1450776"/>
              <a:gd name="connsiteY1" fmla="*/ 0 h 5177919"/>
              <a:gd name="connsiteX2" fmla="*/ 1450776 w 1450776"/>
              <a:gd name="connsiteY2" fmla="*/ 1224886 h 5177919"/>
              <a:gd name="connsiteX3" fmla="*/ 1408811 w 1450776"/>
              <a:gd name="connsiteY3" fmla="*/ 1245554 h 5177919"/>
              <a:gd name="connsiteX4" fmla="*/ 1408888 w 1450776"/>
              <a:gd name="connsiteY4" fmla="*/ 1302461 h 5177919"/>
              <a:gd name="connsiteX5" fmla="*/ 801244 w 1450776"/>
              <a:gd name="connsiteY5" fmla="*/ 1006032 h 5177919"/>
              <a:gd name="connsiteX6" fmla="*/ 806959 w 1450776"/>
              <a:gd name="connsiteY6" fmla="*/ 5177919 h 5177919"/>
              <a:gd name="connsiteX7" fmla="*/ 0 w 1450776"/>
              <a:gd name="connsiteY7" fmla="*/ 4789341 h 5177919"/>
              <a:gd name="connsiteX8" fmla="*/ 0 w 1450776"/>
              <a:gd name="connsiteY8" fmla="*/ 814373 h 5177919"/>
              <a:gd name="connsiteX9" fmla="*/ 205868 w 1450776"/>
              <a:gd name="connsiteY9" fmla="*/ 712980 h 5177919"/>
              <a:gd name="connsiteX10" fmla="*/ 204880 w 1450776"/>
              <a:gd name="connsiteY10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0776" h="5177919">
                <a:moveTo>
                  <a:pt x="204880" y="0"/>
                </a:moveTo>
                <a:lnTo>
                  <a:pt x="1449083" y="0"/>
                </a:lnTo>
                <a:lnTo>
                  <a:pt x="1450776" y="1224886"/>
                </a:lnTo>
                <a:lnTo>
                  <a:pt x="1408811" y="1245554"/>
                </a:lnTo>
                <a:lnTo>
                  <a:pt x="1408888" y="1302461"/>
                </a:lnTo>
                <a:lnTo>
                  <a:pt x="801244" y="1006032"/>
                </a:lnTo>
                <a:lnTo>
                  <a:pt x="806959" y="5177919"/>
                </a:lnTo>
                <a:lnTo>
                  <a:pt x="0" y="4789341"/>
                </a:lnTo>
                <a:lnTo>
                  <a:pt x="0" y="814373"/>
                </a:lnTo>
                <a:lnTo>
                  <a:pt x="205868" y="712980"/>
                </a:lnTo>
                <a:lnTo>
                  <a:pt x="204880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DB529B4-1876-3B2E-A4AE-CD58DDD60E79}"/>
              </a:ext>
            </a:extLst>
          </p:cNvPr>
          <p:cNvSpPr/>
          <p:nvPr userDrawn="1"/>
        </p:nvSpPr>
        <p:spPr>
          <a:xfrm>
            <a:off x="1379487" y="0"/>
            <a:ext cx="2326114" cy="5177919"/>
          </a:xfrm>
          <a:custGeom>
            <a:avLst/>
            <a:gdLst>
              <a:gd name="connsiteX0" fmla="*/ 1080277 w 2326114"/>
              <a:gd name="connsiteY0" fmla="*/ 0 h 5177919"/>
              <a:gd name="connsiteX1" fmla="*/ 2324472 w 2326114"/>
              <a:gd name="connsiteY1" fmla="*/ 0 h 5177919"/>
              <a:gd name="connsiteX2" fmla="*/ 2326114 w 2326114"/>
              <a:gd name="connsiteY2" fmla="*/ 1224914 h 5177919"/>
              <a:gd name="connsiteX3" fmla="*/ 2284209 w 2326114"/>
              <a:gd name="connsiteY3" fmla="*/ 1245554 h 5177919"/>
              <a:gd name="connsiteX4" fmla="*/ 2284286 w 2326114"/>
              <a:gd name="connsiteY4" fmla="*/ 1302490 h 5177919"/>
              <a:gd name="connsiteX5" fmla="*/ 1676641 w 2326114"/>
              <a:gd name="connsiteY5" fmla="*/ 1006032 h 5177919"/>
              <a:gd name="connsiteX6" fmla="*/ 1682356 w 2326114"/>
              <a:gd name="connsiteY6" fmla="*/ 5177919 h 5177919"/>
              <a:gd name="connsiteX7" fmla="*/ 4177 w 2326114"/>
              <a:gd name="connsiteY7" fmla="*/ 4369818 h 5177919"/>
              <a:gd name="connsiteX8" fmla="*/ 0 w 2326114"/>
              <a:gd name="connsiteY8" fmla="*/ 1302461 h 5177919"/>
              <a:gd name="connsiteX9" fmla="*/ 42024 w 2326114"/>
              <a:gd name="connsiteY9" fmla="*/ 1322961 h 5177919"/>
              <a:gd name="connsiteX10" fmla="*/ 41888 w 2326114"/>
              <a:gd name="connsiteY10" fmla="*/ 1224886 h 5177919"/>
              <a:gd name="connsiteX11" fmla="*/ 1081265 w 2326114"/>
              <a:gd name="connsiteY11" fmla="*/ 712980 h 5177919"/>
              <a:gd name="connsiteX12" fmla="*/ 1080277 w 2326114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4" h="5177919">
                <a:moveTo>
                  <a:pt x="1080277" y="0"/>
                </a:moveTo>
                <a:lnTo>
                  <a:pt x="2324472" y="0"/>
                </a:lnTo>
                <a:lnTo>
                  <a:pt x="2326114" y="1224914"/>
                </a:lnTo>
                <a:lnTo>
                  <a:pt x="2284209" y="1245554"/>
                </a:lnTo>
                <a:lnTo>
                  <a:pt x="2284286" y="1302490"/>
                </a:lnTo>
                <a:lnTo>
                  <a:pt x="1676641" y="1006032"/>
                </a:lnTo>
                <a:lnTo>
                  <a:pt x="1682356" y="5177919"/>
                </a:lnTo>
                <a:lnTo>
                  <a:pt x="4177" y="4369818"/>
                </a:lnTo>
                <a:lnTo>
                  <a:pt x="0" y="1302461"/>
                </a:lnTo>
                <a:lnTo>
                  <a:pt x="42024" y="1322961"/>
                </a:lnTo>
                <a:lnTo>
                  <a:pt x="41888" y="1224886"/>
                </a:lnTo>
                <a:lnTo>
                  <a:pt x="1081265" y="712980"/>
                </a:lnTo>
                <a:lnTo>
                  <a:pt x="1080277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B8C2FE25-7019-8E7E-61B3-2ECF95B145DC}"/>
              </a:ext>
            </a:extLst>
          </p:cNvPr>
          <p:cNvSpPr/>
          <p:nvPr userDrawn="1"/>
        </p:nvSpPr>
        <p:spPr>
          <a:xfrm>
            <a:off x="3663774" y="0"/>
            <a:ext cx="2326111" cy="5177919"/>
          </a:xfrm>
          <a:custGeom>
            <a:avLst/>
            <a:gdLst>
              <a:gd name="connsiteX0" fmla="*/ 1080243 w 2326111"/>
              <a:gd name="connsiteY0" fmla="*/ 0 h 5177919"/>
              <a:gd name="connsiteX1" fmla="*/ 2324471 w 2326111"/>
              <a:gd name="connsiteY1" fmla="*/ 0 h 5177919"/>
              <a:gd name="connsiteX2" fmla="*/ 2326111 w 2326111"/>
              <a:gd name="connsiteY2" fmla="*/ 1223195 h 5177919"/>
              <a:gd name="connsiteX3" fmla="*/ 2280716 w 2326111"/>
              <a:gd name="connsiteY3" fmla="*/ 1245553 h 5177919"/>
              <a:gd name="connsiteX4" fmla="*/ 2280791 w 2326111"/>
              <a:gd name="connsiteY4" fmla="*/ 1300785 h 5177919"/>
              <a:gd name="connsiteX5" fmla="*/ 1676640 w 2326111"/>
              <a:gd name="connsiteY5" fmla="*/ 1006032 h 5177919"/>
              <a:gd name="connsiteX6" fmla="*/ 1682355 w 2326111"/>
              <a:gd name="connsiteY6" fmla="*/ 5177919 h 5177919"/>
              <a:gd name="connsiteX7" fmla="*/ 4177 w 2326111"/>
              <a:gd name="connsiteY7" fmla="*/ 4369818 h 5177919"/>
              <a:gd name="connsiteX8" fmla="*/ 0 w 2326111"/>
              <a:gd name="connsiteY8" fmla="*/ 1302490 h 5177919"/>
              <a:gd name="connsiteX9" fmla="*/ 41960 w 2326111"/>
              <a:gd name="connsiteY9" fmla="*/ 1322961 h 5177919"/>
              <a:gd name="connsiteX10" fmla="*/ 41828 w 2326111"/>
              <a:gd name="connsiteY10" fmla="*/ 1224914 h 5177919"/>
              <a:gd name="connsiteX11" fmla="*/ 1081201 w 2326111"/>
              <a:gd name="connsiteY11" fmla="*/ 712980 h 5177919"/>
              <a:gd name="connsiteX12" fmla="*/ 1080243 w 2326111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1" h="5177919">
                <a:moveTo>
                  <a:pt x="1080243" y="0"/>
                </a:moveTo>
                <a:lnTo>
                  <a:pt x="2324471" y="0"/>
                </a:lnTo>
                <a:lnTo>
                  <a:pt x="2326111" y="1223195"/>
                </a:lnTo>
                <a:lnTo>
                  <a:pt x="2280716" y="1245553"/>
                </a:lnTo>
                <a:lnTo>
                  <a:pt x="2280791" y="1300785"/>
                </a:lnTo>
                <a:lnTo>
                  <a:pt x="1676640" y="1006032"/>
                </a:lnTo>
                <a:lnTo>
                  <a:pt x="1682355" y="5177919"/>
                </a:lnTo>
                <a:lnTo>
                  <a:pt x="4177" y="4369818"/>
                </a:lnTo>
                <a:lnTo>
                  <a:pt x="0" y="1302490"/>
                </a:lnTo>
                <a:lnTo>
                  <a:pt x="41960" y="1322961"/>
                </a:lnTo>
                <a:lnTo>
                  <a:pt x="41828" y="1224914"/>
                </a:lnTo>
                <a:lnTo>
                  <a:pt x="1081201" y="712980"/>
                </a:lnTo>
                <a:lnTo>
                  <a:pt x="1080243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00D9E5CD-F0AE-C140-D331-E0B9003CE9D4}"/>
              </a:ext>
            </a:extLst>
          </p:cNvPr>
          <p:cNvSpPr/>
          <p:nvPr userDrawn="1"/>
        </p:nvSpPr>
        <p:spPr>
          <a:xfrm>
            <a:off x="8228853" y="0"/>
            <a:ext cx="2326113" cy="5177919"/>
          </a:xfrm>
          <a:custGeom>
            <a:avLst/>
            <a:gdLst>
              <a:gd name="connsiteX0" fmla="*/ 1080276 w 2326113"/>
              <a:gd name="connsiteY0" fmla="*/ 0 h 5177919"/>
              <a:gd name="connsiteX1" fmla="*/ 2324471 w 2326113"/>
              <a:gd name="connsiteY1" fmla="*/ 0 h 5177919"/>
              <a:gd name="connsiteX2" fmla="*/ 2326113 w 2326113"/>
              <a:gd name="connsiteY2" fmla="*/ 1224914 h 5177919"/>
              <a:gd name="connsiteX3" fmla="*/ 2284207 w 2326113"/>
              <a:gd name="connsiteY3" fmla="*/ 1245554 h 5177919"/>
              <a:gd name="connsiteX4" fmla="*/ 2284285 w 2326113"/>
              <a:gd name="connsiteY4" fmla="*/ 1302490 h 5177919"/>
              <a:gd name="connsiteX5" fmla="*/ 1676640 w 2326113"/>
              <a:gd name="connsiteY5" fmla="*/ 1006032 h 5177919"/>
              <a:gd name="connsiteX6" fmla="*/ 1682354 w 2326113"/>
              <a:gd name="connsiteY6" fmla="*/ 5177919 h 5177919"/>
              <a:gd name="connsiteX7" fmla="*/ 4177 w 2326113"/>
              <a:gd name="connsiteY7" fmla="*/ 4369818 h 5177919"/>
              <a:gd name="connsiteX8" fmla="*/ 0 w 2326113"/>
              <a:gd name="connsiteY8" fmla="*/ 1302460 h 5177919"/>
              <a:gd name="connsiteX9" fmla="*/ 42023 w 2326113"/>
              <a:gd name="connsiteY9" fmla="*/ 1322960 h 5177919"/>
              <a:gd name="connsiteX10" fmla="*/ 41888 w 2326113"/>
              <a:gd name="connsiteY10" fmla="*/ 1224886 h 5177919"/>
              <a:gd name="connsiteX11" fmla="*/ 1081264 w 2326113"/>
              <a:gd name="connsiteY11" fmla="*/ 712980 h 5177919"/>
              <a:gd name="connsiteX12" fmla="*/ 1080276 w 2326113"/>
              <a:gd name="connsiteY12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26113" h="5177919">
                <a:moveTo>
                  <a:pt x="1080276" y="0"/>
                </a:moveTo>
                <a:lnTo>
                  <a:pt x="2324471" y="0"/>
                </a:lnTo>
                <a:lnTo>
                  <a:pt x="2326113" y="1224914"/>
                </a:lnTo>
                <a:lnTo>
                  <a:pt x="2284207" y="1245554"/>
                </a:lnTo>
                <a:lnTo>
                  <a:pt x="2284285" y="1302490"/>
                </a:lnTo>
                <a:lnTo>
                  <a:pt x="1676640" y="1006032"/>
                </a:lnTo>
                <a:lnTo>
                  <a:pt x="1682354" y="5177919"/>
                </a:lnTo>
                <a:lnTo>
                  <a:pt x="4177" y="4369818"/>
                </a:lnTo>
                <a:lnTo>
                  <a:pt x="0" y="1302460"/>
                </a:lnTo>
                <a:lnTo>
                  <a:pt x="42023" y="1322960"/>
                </a:lnTo>
                <a:lnTo>
                  <a:pt x="41888" y="1224886"/>
                </a:lnTo>
                <a:lnTo>
                  <a:pt x="1081264" y="712980"/>
                </a:lnTo>
                <a:lnTo>
                  <a:pt x="1080276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5ACAEA66-EBDE-9231-7907-C949E787FFA5}"/>
              </a:ext>
            </a:extLst>
          </p:cNvPr>
          <p:cNvSpPr/>
          <p:nvPr userDrawn="1"/>
        </p:nvSpPr>
        <p:spPr>
          <a:xfrm>
            <a:off x="10513138" y="0"/>
            <a:ext cx="1708263" cy="5177919"/>
          </a:xfrm>
          <a:custGeom>
            <a:avLst/>
            <a:gdLst>
              <a:gd name="connsiteX0" fmla="*/ 1080243 w 1708263"/>
              <a:gd name="connsiteY0" fmla="*/ 0 h 5177919"/>
              <a:gd name="connsiteX1" fmla="*/ 1708263 w 1708263"/>
              <a:gd name="connsiteY1" fmla="*/ 0 h 5177919"/>
              <a:gd name="connsiteX2" fmla="*/ 1708263 w 1708263"/>
              <a:gd name="connsiteY2" fmla="*/ 1021460 h 5177919"/>
              <a:gd name="connsiteX3" fmla="*/ 1676640 w 1708263"/>
              <a:gd name="connsiteY3" fmla="*/ 1006032 h 5177919"/>
              <a:gd name="connsiteX4" fmla="*/ 1682291 w 1708263"/>
              <a:gd name="connsiteY4" fmla="*/ 5177919 h 5177919"/>
              <a:gd name="connsiteX5" fmla="*/ 4177 w 1708263"/>
              <a:gd name="connsiteY5" fmla="*/ 4369818 h 5177919"/>
              <a:gd name="connsiteX6" fmla="*/ 0 w 1708263"/>
              <a:gd name="connsiteY6" fmla="*/ 1302490 h 5177919"/>
              <a:gd name="connsiteX7" fmla="*/ 41959 w 1708263"/>
              <a:gd name="connsiteY7" fmla="*/ 1322961 h 5177919"/>
              <a:gd name="connsiteX8" fmla="*/ 41828 w 1708263"/>
              <a:gd name="connsiteY8" fmla="*/ 1224914 h 5177919"/>
              <a:gd name="connsiteX9" fmla="*/ 1081200 w 1708263"/>
              <a:gd name="connsiteY9" fmla="*/ 712980 h 5177919"/>
              <a:gd name="connsiteX10" fmla="*/ 1080243 w 1708263"/>
              <a:gd name="connsiteY10" fmla="*/ 0 h 517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08263" h="5177919">
                <a:moveTo>
                  <a:pt x="1080243" y="0"/>
                </a:moveTo>
                <a:lnTo>
                  <a:pt x="1708263" y="0"/>
                </a:lnTo>
                <a:lnTo>
                  <a:pt x="1708263" y="1021460"/>
                </a:lnTo>
                <a:lnTo>
                  <a:pt x="1676640" y="1006032"/>
                </a:lnTo>
                <a:lnTo>
                  <a:pt x="1682291" y="5177919"/>
                </a:lnTo>
                <a:lnTo>
                  <a:pt x="4177" y="4369818"/>
                </a:lnTo>
                <a:lnTo>
                  <a:pt x="0" y="1302490"/>
                </a:lnTo>
                <a:lnTo>
                  <a:pt x="41959" y="1322961"/>
                </a:lnTo>
                <a:lnTo>
                  <a:pt x="41828" y="1224914"/>
                </a:lnTo>
                <a:lnTo>
                  <a:pt x="1081200" y="712980"/>
                </a:lnTo>
                <a:lnTo>
                  <a:pt x="1080243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9EC56E6-93AF-BE29-6C0F-471805134727}"/>
              </a:ext>
            </a:extLst>
          </p:cNvPr>
          <p:cNvSpPr/>
          <p:nvPr userDrawn="1"/>
        </p:nvSpPr>
        <p:spPr>
          <a:xfrm>
            <a:off x="-29401" y="0"/>
            <a:ext cx="205868" cy="814373"/>
          </a:xfrm>
          <a:custGeom>
            <a:avLst/>
            <a:gdLst>
              <a:gd name="connsiteX0" fmla="*/ 0 w 205868"/>
              <a:gd name="connsiteY0" fmla="*/ 0 h 814373"/>
              <a:gd name="connsiteX1" fmla="*/ 204880 w 205868"/>
              <a:gd name="connsiteY1" fmla="*/ 0 h 814373"/>
              <a:gd name="connsiteX2" fmla="*/ 205868 w 205868"/>
              <a:gd name="connsiteY2" fmla="*/ 712980 h 814373"/>
              <a:gd name="connsiteX3" fmla="*/ 0 w 205868"/>
              <a:gd name="connsiteY3" fmla="*/ 814373 h 814373"/>
              <a:gd name="connsiteX4" fmla="*/ 0 w 205868"/>
              <a:gd name="connsiteY4" fmla="*/ 0 h 81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868" h="814373">
                <a:moveTo>
                  <a:pt x="0" y="0"/>
                </a:moveTo>
                <a:lnTo>
                  <a:pt x="204880" y="0"/>
                </a:lnTo>
                <a:lnTo>
                  <a:pt x="205868" y="712980"/>
                </a:lnTo>
                <a:lnTo>
                  <a:pt x="0" y="814373"/>
                </a:lnTo>
                <a:lnTo>
                  <a:pt x="0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C1A1045-AD4F-2901-06FF-D01DAC671A00}"/>
              </a:ext>
            </a:extLst>
          </p:cNvPr>
          <p:cNvSpPr/>
          <p:nvPr userDrawn="1"/>
        </p:nvSpPr>
        <p:spPr>
          <a:xfrm>
            <a:off x="5944490" y="1223194"/>
            <a:ext cx="45529" cy="99766"/>
          </a:xfrm>
          <a:custGeom>
            <a:avLst/>
            <a:gdLst>
              <a:gd name="connsiteX0" fmla="*/ 45395 w 45529"/>
              <a:gd name="connsiteY0" fmla="*/ 0 h 99766"/>
              <a:gd name="connsiteX1" fmla="*/ 45529 w 45529"/>
              <a:gd name="connsiteY1" fmla="*/ 99766 h 99766"/>
              <a:gd name="connsiteX2" fmla="*/ 75 w 45529"/>
              <a:gd name="connsiteY2" fmla="*/ 77590 h 99766"/>
              <a:gd name="connsiteX3" fmla="*/ 0 w 45529"/>
              <a:gd name="connsiteY3" fmla="*/ 22358 h 99766"/>
              <a:gd name="connsiteX4" fmla="*/ 45395 w 45529"/>
              <a:gd name="connsiteY4" fmla="*/ 0 h 99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9" h="99766">
                <a:moveTo>
                  <a:pt x="45395" y="0"/>
                </a:moveTo>
                <a:lnTo>
                  <a:pt x="45529" y="99766"/>
                </a:lnTo>
                <a:lnTo>
                  <a:pt x="75" y="77590"/>
                </a:lnTo>
                <a:lnTo>
                  <a:pt x="0" y="22358"/>
                </a:lnTo>
                <a:lnTo>
                  <a:pt x="45395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E806BD7-2064-E7E7-D7B3-34AFD01CB88D}"/>
              </a:ext>
            </a:extLst>
          </p:cNvPr>
          <p:cNvSpPr/>
          <p:nvPr userDrawn="1"/>
        </p:nvSpPr>
        <p:spPr>
          <a:xfrm>
            <a:off x="1379411" y="1224886"/>
            <a:ext cx="42101" cy="98075"/>
          </a:xfrm>
          <a:custGeom>
            <a:avLst/>
            <a:gdLst>
              <a:gd name="connsiteX0" fmla="*/ 41965 w 42101"/>
              <a:gd name="connsiteY0" fmla="*/ 0 h 98075"/>
              <a:gd name="connsiteX1" fmla="*/ 42101 w 42101"/>
              <a:gd name="connsiteY1" fmla="*/ 98075 h 98075"/>
              <a:gd name="connsiteX2" fmla="*/ 77 w 42101"/>
              <a:gd name="connsiteY2" fmla="*/ 77575 h 98075"/>
              <a:gd name="connsiteX3" fmla="*/ 0 w 42101"/>
              <a:gd name="connsiteY3" fmla="*/ 20668 h 98075"/>
              <a:gd name="connsiteX4" fmla="*/ 41965 w 42101"/>
              <a:gd name="connsiteY4" fmla="*/ 0 h 98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01" h="98075">
                <a:moveTo>
                  <a:pt x="41965" y="0"/>
                </a:moveTo>
                <a:lnTo>
                  <a:pt x="42101" y="98075"/>
                </a:lnTo>
                <a:lnTo>
                  <a:pt x="77" y="77575"/>
                </a:lnTo>
                <a:lnTo>
                  <a:pt x="0" y="20668"/>
                </a:lnTo>
                <a:lnTo>
                  <a:pt x="41965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50045DA-70F6-AB69-04D8-CFBDF0C2B445}"/>
              </a:ext>
            </a:extLst>
          </p:cNvPr>
          <p:cNvSpPr/>
          <p:nvPr userDrawn="1"/>
        </p:nvSpPr>
        <p:spPr>
          <a:xfrm>
            <a:off x="10513060" y="1224914"/>
            <a:ext cx="42037" cy="98047"/>
          </a:xfrm>
          <a:custGeom>
            <a:avLst/>
            <a:gdLst>
              <a:gd name="connsiteX0" fmla="*/ 41906 w 42037"/>
              <a:gd name="connsiteY0" fmla="*/ 0 h 98047"/>
              <a:gd name="connsiteX1" fmla="*/ 42037 w 42037"/>
              <a:gd name="connsiteY1" fmla="*/ 98047 h 98047"/>
              <a:gd name="connsiteX2" fmla="*/ 78 w 42037"/>
              <a:gd name="connsiteY2" fmla="*/ 77576 h 98047"/>
              <a:gd name="connsiteX3" fmla="*/ 0 w 42037"/>
              <a:gd name="connsiteY3" fmla="*/ 20640 h 98047"/>
              <a:gd name="connsiteX4" fmla="*/ 41906 w 42037"/>
              <a:gd name="connsiteY4" fmla="*/ 0 h 9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7" h="98047">
                <a:moveTo>
                  <a:pt x="41906" y="0"/>
                </a:moveTo>
                <a:lnTo>
                  <a:pt x="42037" y="98047"/>
                </a:lnTo>
                <a:lnTo>
                  <a:pt x="78" y="77576"/>
                </a:lnTo>
                <a:lnTo>
                  <a:pt x="0" y="20640"/>
                </a:lnTo>
                <a:lnTo>
                  <a:pt x="41906" y="0"/>
                </a:lnTo>
                <a:close/>
              </a:path>
            </a:pathLst>
          </a:custGeom>
          <a:solidFill>
            <a:srgbClr val="5BB0EC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3B2A6EE-1796-0724-77C6-A24C4CA309C5}"/>
              </a:ext>
            </a:extLst>
          </p:cNvPr>
          <p:cNvSpPr/>
          <p:nvPr userDrawn="1"/>
        </p:nvSpPr>
        <p:spPr>
          <a:xfrm>
            <a:off x="3663697" y="1224914"/>
            <a:ext cx="42037" cy="98047"/>
          </a:xfrm>
          <a:custGeom>
            <a:avLst/>
            <a:gdLst>
              <a:gd name="connsiteX0" fmla="*/ 41905 w 42037"/>
              <a:gd name="connsiteY0" fmla="*/ 0 h 98047"/>
              <a:gd name="connsiteX1" fmla="*/ 42037 w 42037"/>
              <a:gd name="connsiteY1" fmla="*/ 98047 h 98047"/>
              <a:gd name="connsiteX2" fmla="*/ 77 w 42037"/>
              <a:gd name="connsiteY2" fmla="*/ 77576 h 98047"/>
              <a:gd name="connsiteX3" fmla="*/ 0 w 42037"/>
              <a:gd name="connsiteY3" fmla="*/ 20640 h 98047"/>
              <a:gd name="connsiteX4" fmla="*/ 41905 w 42037"/>
              <a:gd name="connsiteY4" fmla="*/ 0 h 9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7" h="98047">
                <a:moveTo>
                  <a:pt x="41905" y="0"/>
                </a:moveTo>
                <a:lnTo>
                  <a:pt x="42037" y="98047"/>
                </a:lnTo>
                <a:lnTo>
                  <a:pt x="77" y="77576"/>
                </a:lnTo>
                <a:lnTo>
                  <a:pt x="0" y="20640"/>
                </a:lnTo>
                <a:lnTo>
                  <a:pt x="41905" y="0"/>
                </a:lnTo>
                <a:close/>
              </a:path>
            </a:pathLst>
          </a:custGeom>
          <a:solidFill>
            <a:srgbClr val="67B3EA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6B05545-5C1F-41A6-815A-E7A4C06FD310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7414984" y="4261293"/>
            <a:ext cx="4087537" cy="306160"/>
          </a:xfrm>
          <a:prstGeom prst="rect">
            <a:avLst/>
          </a:prstGeom>
        </p:spPr>
        <p:txBody>
          <a:bodyPr anchor="ctr"/>
          <a:lstStyle>
            <a:lvl1pPr marL="0" algn="r" rtl="1">
              <a:lnSpc>
                <a:spcPct val="50000"/>
              </a:lnSpc>
              <a:buNone/>
              <a:defRPr lang="en-ID" sz="1400" b="1" i="0" dirty="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 Here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2A9549-20CE-4878-9178-8AE5C0E5CEDC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9777184" y="5650302"/>
            <a:ext cx="1733543" cy="595376"/>
          </a:xfrm>
          <a:prstGeom prst="rect">
            <a:avLst/>
          </a:prstGeom>
        </p:spPr>
        <p:txBody>
          <a:bodyPr anchor="t"/>
          <a:lstStyle>
            <a:lvl1pPr marL="0" algn="r" rtl="1">
              <a:lnSpc>
                <a:spcPct val="50000"/>
              </a:lnSpc>
              <a:buNone/>
              <a:defRPr lang="en-ID" sz="1200" b="1" i="0" dirty="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</a:t>
            </a:r>
          </a:p>
          <a:p>
            <a:pPr lvl="0"/>
            <a:r>
              <a:rPr lang="en-US" dirty="0"/>
              <a:t>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1428A38-2130-47CB-C2BC-C6F10144F108}"/>
              </a:ext>
            </a:extLst>
          </p:cNvPr>
          <p:cNvSpPr/>
          <p:nvPr userDrawn="1"/>
        </p:nvSpPr>
        <p:spPr>
          <a:xfrm>
            <a:off x="5944489" y="0"/>
            <a:ext cx="2326386" cy="5177918"/>
          </a:xfrm>
          <a:custGeom>
            <a:avLst/>
            <a:gdLst>
              <a:gd name="connsiteX0" fmla="*/ 1080354 w 2326386"/>
              <a:gd name="connsiteY0" fmla="*/ 0 h 5177918"/>
              <a:gd name="connsiteX1" fmla="*/ 2324557 w 2326386"/>
              <a:gd name="connsiteY1" fmla="*/ 0 h 5177918"/>
              <a:gd name="connsiteX2" fmla="*/ 2326386 w 2326386"/>
              <a:gd name="connsiteY2" fmla="*/ 1322960 h 5177918"/>
              <a:gd name="connsiteX3" fmla="*/ 1676717 w 2326386"/>
              <a:gd name="connsiteY3" fmla="*/ 1006031 h 5177918"/>
              <a:gd name="connsiteX4" fmla="*/ 1682432 w 2326386"/>
              <a:gd name="connsiteY4" fmla="*/ 5177918 h 5177918"/>
              <a:gd name="connsiteX5" fmla="*/ 4254 w 2326386"/>
              <a:gd name="connsiteY5" fmla="*/ 4369817 h 5177918"/>
              <a:gd name="connsiteX6" fmla="*/ 0 w 2326386"/>
              <a:gd name="connsiteY6" fmla="*/ 1245553 h 5177918"/>
              <a:gd name="connsiteX7" fmla="*/ 1081342 w 2326386"/>
              <a:gd name="connsiteY7" fmla="*/ 712979 h 5177918"/>
              <a:gd name="connsiteX8" fmla="*/ 1080354 w 2326386"/>
              <a:gd name="connsiteY8" fmla="*/ 0 h 517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6386" h="5177918">
                <a:moveTo>
                  <a:pt x="1080354" y="0"/>
                </a:moveTo>
                <a:lnTo>
                  <a:pt x="2324557" y="0"/>
                </a:lnTo>
                <a:lnTo>
                  <a:pt x="2326386" y="1322960"/>
                </a:lnTo>
                <a:lnTo>
                  <a:pt x="1676717" y="1006031"/>
                </a:lnTo>
                <a:lnTo>
                  <a:pt x="1682432" y="5177918"/>
                </a:lnTo>
                <a:lnTo>
                  <a:pt x="4254" y="4369817"/>
                </a:lnTo>
                <a:lnTo>
                  <a:pt x="0" y="1245553"/>
                </a:lnTo>
                <a:lnTo>
                  <a:pt x="1081342" y="712979"/>
                </a:lnTo>
                <a:lnTo>
                  <a:pt x="1080354" y="0"/>
                </a:lnTo>
                <a:close/>
              </a:path>
            </a:pathLst>
          </a:custGeom>
          <a:solidFill>
            <a:srgbClr val="5AB0ED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algn="l" defTabSz="457200" rtl="0" eaLnBrk="1" latinLnBrk="0" hangingPunct="1"/>
            <a:endParaRPr lang="en-SA" dirty="0"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91" name="Text Placeholder 6">
            <a:extLst>
              <a:ext uri="{FF2B5EF4-FFF2-40B4-BE49-F238E27FC236}">
                <a16:creationId xmlns:a16="http://schemas.microsoft.com/office/drawing/2014/main" id="{A231EFC5-E244-B986-ACF5-48AB58C0E83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145428" y="2686049"/>
            <a:ext cx="5358495" cy="1485901"/>
          </a:xfrm>
          <a:prstGeom prst="rect">
            <a:avLst/>
          </a:prstGeom>
        </p:spPr>
        <p:txBody>
          <a:bodyPr/>
          <a:lstStyle>
            <a:lvl1pPr algn="r" rtl="1">
              <a:lnSpc>
                <a:spcPct val="80000"/>
              </a:lnSpc>
              <a:buNone/>
              <a:defRPr sz="5000" b="1" i="0" spc="-150">
                <a:solidFill>
                  <a:schemeClr val="bg1"/>
                </a:solidFill>
                <a:latin typeface="TheSansArab Plain" panose="020B0502050302020203" pitchFamily="34" charset="-78"/>
                <a:ea typeface="TheSansArab Plain" panose="020B0502050302020203" pitchFamily="34" charset="-78"/>
                <a:cs typeface="TheSansArab Plain" panose="020B0502050302020203" pitchFamily="34" charset="-78"/>
              </a:defRPr>
            </a:lvl1pPr>
          </a:lstStyle>
          <a:p>
            <a:pPr lvl="0"/>
            <a:r>
              <a:rPr lang="en-US" dirty="0"/>
              <a:t>Your Text</a:t>
            </a:r>
          </a:p>
          <a:p>
            <a:pPr lvl="0"/>
            <a:r>
              <a:rPr lang="en-US" dirty="0"/>
              <a:t>Here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251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SecloreFooter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0" y="6356352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ar-SA" sz="1200"/>
            </a:lvl1pPr>
          </a:lstStyle>
          <a:p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Confidential | </a:t>
            </a:r>
            <a:r>
              <a:rPr lang="ar-SA">
                <a:solidFill>
                  <a:srgbClr val="000000"/>
                </a:solidFill>
                <a:latin typeface="Arial" panose="020B0604020202020204" pitchFamily="34" charset="0"/>
              </a:rPr>
              <a:t>مقيد</a:t>
            </a:r>
            <a:endParaRPr lang="ar-SA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E8B4F-841B-491E-EBBF-09EC226FB1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033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Data sensitivity - Public</a:t>
            </a:r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55" r:id="rId3"/>
    <p:sldLayoutId id="2147483656" r:id="rId4"/>
    <p:sldLayoutId id="2147483685" r:id="rId5"/>
    <p:sldLayoutId id="2147483686" r:id="rId6"/>
    <p:sldLayoutId id="2147483658" r:id="rId7"/>
    <p:sldLayoutId id="2147483687" r:id="rId8"/>
    <p:sldLayoutId id="2147483688" r:id="rId9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TheSansArabic SemiLight" panose="020B0402050302020203" pitchFamily="34" charset="-78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TheSansArabic SemiLight" panose="020B0402050302020203" pitchFamily="34" charset="-78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1277EEB5-1AA1-117F-4D94-988943EF5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67094" y="-46995"/>
            <a:ext cx="12359094" cy="695199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789EA0-8AEB-4A2E-83DD-E0AF6B571A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408120" y="2686050"/>
            <a:ext cx="10066458" cy="63512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ar-SA" sz="4000" dirty="0">
                <a:solidFill>
                  <a:schemeClr val="bg1"/>
                </a:solidFill>
              </a:rPr>
              <a:t>مشروع إنشاء شبكات البنية التحتية بالمدينة الصناعية الرابعة بالرياض</a:t>
            </a:r>
            <a:endParaRPr lang="ar-SA" sz="4000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2223AE-2ED1-44CD-BCF6-90DAD703D4D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4785" y="612319"/>
            <a:ext cx="438408" cy="306160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ar-SA" dirty="0">
                <a:solidFill>
                  <a:schemeClr val="bg1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مدن</a:t>
            </a:r>
            <a:endParaRPr lang="en-ID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A65B9A-0D4E-49AF-A9D4-345E68A720A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6116082" y="5386646"/>
            <a:ext cx="5358496" cy="852483"/>
          </a:xfrm>
        </p:spPr>
        <p:txBody>
          <a:bodyPr/>
          <a:lstStyle/>
          <a:p>
            <a:r>
              <a:rPr lang="ar-SA" dirty="0">
                <a:solidFill>
                  <a:schemeClr val="bg1"/>
                </a:solidFill>
              </a:rPr>
              <a:t>العرض الأسبوعي -  رمز المشروع</a:t>
            </a:r>
            <a:r>
              <a:rPr lang="en-US" dirty="0">
                <a:solidFill>
                  <a:schemeClr val="bg1"/>
                </a:solidFill>
              </a:rPr>
              <a:t>RHD4-02-002 : </a:t>
            </a:r>
            <a:r>
              <a:rPr lang="ar-SA" dirty="0">
                <a:solidFill>
                  <a:schemeClr val="bg1"/>
                </a:solidFill>
              </a:rPr>
              <a:t> - </a:t>
            </a:r>
            <a:r>
              <a:rPr lang="ar-EG" dirty="0">
                <a:solidFill>
                  <a:schemeClr val="bg1"/>
                </a:solidFill>
              </a:rPr>
              <a:t>19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0" dirty="0">
                <a:solidFill>
                  <a:schemeClr val="bg1"/>
                </a:solidFill>
                <a:latin typeface="Gotham Medium" pitchFamily="2" charset="0"/>
                <a:cs typeface="Gotham Medium" pitchFamily="2" charset="0"/>
              </a:rPr>
              <a:t>October 2026</a:t>
            </a:r>
          </a:p>
          <a:p>
            <a:pPr>
              <a:lnSpc>
                <a:spcPct val="100000"/>
              </a:lnSpc>
            </a:pPr>
            <a:endParaRPr lang="ar-SA" dirty="0">
              <a:solidFill>
                <a:schemeClr val="bg1"/>
              </a:solidFill>
              <a:effectLst/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94EE1E-2611-4EF4-9CC1-B7FE66BDC43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680992" y="5932970"/>
            <a:ext cx="2396759" cy="30616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modon.sa.gov</a:t>
            </a:r>
            <a:endParaRPr lang="en-ID" dirty="0">
              <a:solidFill>
                <a:schemeClr val="bg1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pic>
        <p:nvPicPr>
          <p:cNvPr id="13" name="Picture 12" descr="A logo of a building&#10;&#10;Description automatically generated">
            <a:extLst>
              <a:ext uri="{FF2B5EF4-FFF2-40B4-BE49-F238E27FC236}">
                <a16:creationId xmlns:a16="http://schemas.microsoft.com/office/drawing/2014/main" id="{8EDE9CE4-F9E3-BE6E-BA27-4270867C9C7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262" y="246437"/>
            <a:ext cx="2287737" cy="1281717"/>
          </a:xfrm>
          <a:prstGeom prst="rect">
            <a:avLst/>
          </a:prstGeom>
        </p:spPr>
      </p:pic>
      <p:sp>
        <p:nvSpPr>
          <p:cNvPr id="3" name="BJPseudoFooter">
            <a:extLst>
              <a:ext uri="{FF2B5EF4-FFF2-40B4-BE49-F238E27FC236}">
                <a16:creationId xmlns:a16="http://schemas.microsoft.com/office/drawing/2014/main" id="{A14CC0FE-95EA-4A65-B388-76D84D81767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3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8F7A89-933A-E96B-78F6-9BD41AB1C8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414984" y="2277374"/>
            <a:ext cx="4087537" cy="2803584"/>
          </a:xfrm>
        </p:spPr>
        <p:txBody>
          <a:bodyPr>
            <a:noAutofit/>
          </a:bodyPr>
          <a:lstStyle/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بيانات المشروع.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أبرز الأعمال</a:t>
            </a:r>
            <a:r>
              <a:rPr lang="en-US" sz="1600" dirty="0"/>
              <a:t> </a:t>
            </a:r>
            <a:r>
              <a:rPr lang="ar-EG" sz="1600" dirty="0"/>
              <a:t>المنفذة</a:t>
            </a:r>
            <a:r>
              <a:rPr lang="ar-SA" sz="1600" dirty="0"/>
              <a:t>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حالة المشتريات الرئيسية </a:t>
            </a:r>
            <a:r>
              <a:rPr lang="en-US" sz="1600" dirty="0"/>
              <a:t>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خطة الأعمال الحالية والمستقبلية.</a:t>
            </a:r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سجلات تقديم المشروع</a:t>
            </a:r>
            <a:endParaRPr lang="en-US" sz="1600" dirty="0"/>
          </a:p>
          <a:p>
            <a:pPr marL="114300" indent="-342900">
              <a:lnSpc>
                <a:spcPct val="150000"/>
              </a:lnSpc>
              <a:buFont typeface="+mj-lt"/>
              <a:buAutoNum type="arabicPeriod"/>
            </a:pPr>
            <a:r>
              <a:rPr lang="ar-SA" sz="1600" dirty="0"/>
              <a:t>اهم نقاط محضر الاجتماع السابق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ED6B-FA96-E1D2-46D1-738DDF74092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9768978" y="6026819"/>
            <a:ext cx="1733543" cy="595376"/>
          </a:xfrm>
        </p:spPr>
        <p:txBody>
          <a:bodyPr/>
          <a:lstStyle/>
          <a:p>
            <a:r>
              <a:rPr lang="en-US" dirty="0"/>
              <a:t>2026</a:t>
            </a:r>
            <a:endParaRPr lang="en-S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6B0BD-73DE-1E19-F82C-05039FE43AB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144026" y="1645637"/>
            <a:ext cx="5358495" cy="666236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ar-SA" sz="4000" dirty="0"/>
              <a:t>محتويات العرض</a:t>
            </a:r>
          </a:p>
        </p:txBody>
      </p:sp>
      <p:sp>
        <p:nvSpPr>
          <p:cNvPr id="6" name="BJPseudoFooter">
            <a:extLst>
              <a:ext uri="{FF2B5EF4-FFF2-40B4-BE49-F238E27FC236}">
                <a16:creationId xmlns:a16="http://schemas.microsoft.com/office/drawing/2014/main" id="{F255B9CD-F5AF-42BE-ABB1-9141C07D4F2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7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DC954B-5808-6841-AAEC-F78D81DD9E6A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90C740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5AEE1-CD61-654C-897E-C41E21915E29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1. بيانات المشروع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AA68E-23C1-402A-8C42-A7A71EA02244}"/>
              </a:ext>
            </a:extLst>
          </p:cNvPr>
          <p:cNvCxnSpPr>
            <a:cxnSpLocks/>
          </p:cNvCxnSpPr>
          <p:nvPr/>
        </p:nvCxnSpPr>
        <p:spPr>
          <a:xfrm flipH="1">
            <a:off x="315619" y="705105"/>
            <a:ext cx="11682037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8C68308-F3FD-441D-A995-C99355D0000D}"/>
              </a:ext>
            </a:extLst>
          </p:cNvPr>
          <p:cNvSpPr/>
          <p:nvPr/>
        </p:nvSpPr>
        <p:spPr>
          <a:xfrm>
            <a:off x="6053647" y="776622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المقاول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6DEA9-CE53-45A6-B661-915D11541553}"/>
              </a:ext>
            </a:extLst>
          </p:cNvPr>
          <p:cNvSpPr/>
          <p:nvPr/>
        </p:nvSpPr>
        <p:spPr>
          <a:xfrm>
            <a:off x="6053647" y="1082805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الرواف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4A16A-2743-46D7-931A-354357884226}"/>
              </a:ext>
            </a:extLst>
          </p:cNvPr>
          <p:cNvSpPr/>
          <p:nvPr/>
        </p:nvSpPr>
        <p:spPr>
          <a:xfrm>
            <a:off x="4619141" y="774434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قيمة العقد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1D2364-DA45-4AB9-8B9A-FE881CE58E3C}"/>
              </a:ext>
            </a:extLst>
          </p:cNvPr>
          <p:cNvSpPr/>
          <p:nvPr/>
        </p:nvSpPr>
        <p:spPr>
          <a:xfrm>
            <a:off x="4619141" y="1080617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445,000,000.00 SAR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F823C7-2687-4887-BE36-90AFD155E5A6}"/>
              </a:ext>
            </a:extLst>
          </p:cNvPr>
          <p:cNvSpPr/>
          <p:nvPr/>
        </p:nvSpPr>
        <p:spPr>
          <a:xfrm>
            <a:off x="9000126" y="781051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اسم المشروع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77F0CF-28D0-4B78-940B-FCCF57A33313}"/>
              </a:ext>
            </a:extLst>
          </p:cNvPr>
          <p:cNvSpPr/>
          <p:nvPr/>
        </p:nvSpPr>
        <p:spPr>
          <a:xfrm>
            <a:off x="9000125" y="1087234"/>
            <a:ext cx="2988177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مشروع إنشاء شبكات البنية التحتية بالمدينة الصناعية الرابعة بالرياض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EFECB-DF16-4932-B695-2DB6FFC113A4}"/>
              </a:ext>
            </a:extLst>
          </p:cNvPr>
          <p:cNvSpPr/>
          <p:nvPr/>
        </p:nvSpPr>
        <p:spPr>
          <a:xfrm>
            <a:off x="3184634" y="77282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إجمالي قيمة </a:t>
            </a:r>
            <a:r>
              <a:rPr lang="ar-SA" sz="1100" b="1" dirty="0">
                <a:solidFill>
                  <a:srgbClr val="FFFFFF"/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المستخلصات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75127-3858-40A5-8890-A0B5B6F962DF}"/>
              </a:ext>
            </a:extLst>
          </p:cNvPr>
          <p:cNvSpPr/>
          <p:nvPr/>
        </p:nvSpPr>
        <p:spPr>
          <a:xfrm>
            <a:off x="3184634" y="107900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>
              <a:defRPr/>
            </a:pPr>
            <a:r>
              <a:rPr lang="en-US" sz="1000" dirty="0">
                <a:solidFill>
                  <a:srgbClr val="E7E6E6">
                    <a:lumMod val="10000"/>
                  </a:srgb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54,980,525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SAR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747732-E6A9-4436-83FF-1F06522B8970}"/>
              </a:ext>
            </a:extLst>
          </p:cNvPr>
          <p:cNvSpPr/>
          <p:nvPr/>
        </p:nvSpPr>
        <p:spPr>
          <a:xfrm>
            <a:off x="1750127" y="77282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مدة المشروع التعاقدية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1D383-9031-4880-90BD-80AC770E8228}"/>
              </a:ext>
            </a:extLst>
          </p:cNvPr>
          <p:cNvSpPr/>
          <p:nvPr/>
        </p:nvSpPr>
        <p:spPr>
          <a:xfrm>
            <a:off x="1750127" y="107900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شهر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C1270B-E55B-43D2-AAAC-FD4EBB6DAFEC}"/>
              </a:ext>
            </a:extLst>
          </p:cNvPr>
          <p:cNvSpPr/>
          <p:nvPr/>
        </p:nvSpPr>
        <p:spPr>
          <a:xfrm>
            <a:off x="315618" y="769600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مدة المشروع المستهدفة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23E7A1-3DDE-4060-8F67-504DE0C60652}"/>
              </a:ext>
            </a:extLst>
          </p:cNvPr>
          <p:cNvSpPr/>
          <p:nvPr/>
        </p:nvSpPr>
        <p:spPr>
          <a:xfrm>
            <a:off x="315619" y="1082805"/>
            <a:ext cx="1407708" cy="377299"/>
          </a:xfrm>
          <a:prstGeom prst="rect">
            <a:avLst/>
          </a:prstGeom>
          <a:solidFill>
            <a:srgbClr val="96C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أشهر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3E06C8-B21A-42F5-B598-DB9CDFB86F2B}"/>
              </a:ext>
            </a:extLst>
          </p:cNvPr>
          <p:cNvSpPr/>
          <p:nvPr/>
        </p:nvSpPr>
        <p:spPr>
          <a:xfrm>
            <a:off x="8997908" y="1517897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ملخص الأداء للمشروع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9E210A-5B16-493F-81AC-683135E8C433}"/>
              </a:ext>
            </a:extLst>
          </p:cNvPr>
          <p:cNvSpPr/>
          <p:nvPr/>
        </p:nvSpPr>
        <p:spPr>
          <a:xfrm>
            <a:off x="8997908" y="1824082"/>
            <a:ext cx="2988177" cy="1800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6A8E62-0C4A-45B3-BC79-B075BA987D61}"/>
              </a:ext>
            </a:extLst>
          </p:cNvPr>
          <p:cNvSpPr/>
          <p:nvPr/>
        </p:nvSpPr>
        <p:spPr>
          <a:xfrm>
            <a:off x="313403" y="1517896"/>
            <a:ext cx="8582160" cy="819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B21FE8-149F-4669-8B0E-C457719F62B2}"/>
              </a:ext>
            </a:extLst>
          </p:cNvPr>
          <p:cNvSpPr/>
          <p:nvPr/>
        </p:nvSpPr>
        <p:spPr>
          <a:xfrm>
            <a:off x="7477761" y="1517896"/>
            <a:ext cx="1417802" cy="299191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معالم المشروع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A85B91-7B73-40B3-8F4E-8BF09B8BFCCC}"/>
              </a:ext>
            </a:extLst>
          </p:cNvPr>
          <p:cNvCxnSpPr>
            <a:cxnSpLocks/>
            <a:stCxn id="46" idx="2"/>
            <a:endCxn id="47" idx="6"/>
          </p:cNvCxnSpPr>
          <p:nvPr/>
        </p:nvCxnSpPr>
        <p:spPr>
          <a:xfrm flipH="1" flipV="1">
            <a:off x="1055535" y="1837456"/>
            <a:ext cx="5782716" cy="112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F3C21BE-303B-432D-A42C-18614F979F93}"/>
              </a:ext>
            </a:extLst>
          </p:cNvPr>
          <p:cNvSpPr/>
          <p:nvPr/>
        </p:nvSpPr>
        <p:spPr>
          <a:xfrm>
            <a:off x="6838251" y="1785363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3BC8BE5-CEA4-447F-BE07-DB5CC9BCF2AD}"/>
              </a:ext>
            </a:extLst>
          </p:cNvPr>
          <p:cNvSpPr/>
          <p:nvPr/>
        </p:nvSpPr>
        <p:spPr>
          <a:xfrm>
            <a:off x="924567" y="1774151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9C28E8-D0EA-4D69-9EE2-64781ADA7085}"/>
              </a:ext>
            </a:extLst>
          </p:cNvPr>
          <p:cNvSpPr/>
          <p:nvPr/>
        </p:nvSpPr>
        <p:spPr>
          <a:xfrm>
            <a:off x="3829861" y="1779641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2A6DD97-A85D-495F-8813-FA376B069D84}"/>
              </a:ext>
            </a:extLst>
          </p:cNvPr>
          <p:cNvSpPr/>
          <p:nvPr/>
        </p:nvSpPr>
        <p:spPr>
          <a:xfrm>
            <a:off x="5336284" y="1784999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0FAFBB1-BF5F-4FB4-8222-5419FE0B3D3C}"/>
              </a:ext>
            </a:extLst>
          </p:cNvPr>
          <p:cNvSpPr/>
          <p:nvPr/>
        </p:nvSpPr>
        <p:spPr>
          <a:xfrm>
            <a:off x="2326579" y="1774152"/>
            <a:ext cx="130968" cy="126609"/>
          </a:xfrm>
          <a:prstGeom prst="ellipse">
            <a:avLst/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1AAF47-5FC1-4F8C-8D27-DF9BCA2F137E}"/>
              </a:ext>
            </a:extLst>
          </p:cNvPr>
          <p:cNvSpPr/>
          <p:nvPr/>
        </p:nvSpPr>
        <p:spPr>
          <a:xfrm>
            <a:off x="6411302" y="1512931"/>
            <a:ext cx="856380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09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202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BBB133-2660-4BF0-8624-C4DED167C425}"/>
              </a:ext>
            </a:extLst>
          </p:cNvPr>
          <p:cNvSpPr/>
          <p:nvPr/>
        </p:nvSpPr>
        <p:spPr>
          <a:xfrm>
            <a:off x="6243574" y="1933056"/>
            <a:ext cx="1133458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ترسية المشروع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FA1D44-CAB2-4629-ABEE-91FBD36D1023}"/>
              </a:ext>
            </a:extLst>
          </p:cNvPr>
          <p:cNvSpPr/>
          <p:nvPr/>
        </p:nvSpPr>
        <p:spPr>
          <a:xfrm>
            <a:off x="4928801" y="1504848"/>
            <a:ext cx="94593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22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0F31E9-0647-4476-8B7B-4CF7E4A91FE2}"/>
              </a:ext>
            </a:extLst>
          </p:cNvPr>
          <p:cNvSpPr/>
          <p:nvPr/>
        </p:nvSpPr>
        <p:spPr>
          <a:xfrm>
            <a:off x="2520878" y="6201443"/>
            <a:ext cx="667345" cy="1904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مكتمل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BA4385-FFD8-4BA8-A947-BB63B15EFBBA}"/>
              </a:ext>
            </a:extLst>
          </p:cNvPr>
          <p:cNvSpPr/>
          <p:nvPr/>
        </p:nvSpPr>
        <p:spPr>
          <a:xfrm>
            <a:off x="1788154" y="6201443"/>
            <a:ext cx="667345" cy="1904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قيد التنفيذ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F717DB-DFD1-497C-AB39-52F97C774943}"/>
              </a:ext>
            </a:extLst>
          </p:cNvPr>
          <p:cNvSpPr/>
          <p:nvPr/>
        </p:nvSpPr>
        <p:spPr>
          <a:xfrm>
            <a:off x="1055430" y="6201443"/>
            <a:ext cx="667345" cy="19048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متأخر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351026F-3BC2-408C-89B9-BB283EE1AD68}"/>
              </a:ext>
            </a:extLst>
          </p:cNvPr>
          <p:cNvSpPr/>
          <p:nvPr/>
        </p:nvSpPr>
        <p:spPr>
          <a:xfrm>
            <a:off x="322706" y="6201443"/>
            <a:ext cx="667345" cy="1904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معلّق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E8A455C-E88E-4024-AD29-C0EAB500DF20}"/>
              </a:ext>
            </a:extLst>
          </p:cNvPr>
          <p:cNvSpPr/>
          <p:nvPr/>
        </p:nvSpPr>
        <p:spPr>
          <a:xfrm>
            <a:off x="8997906" y="3702117"/>
            <a:ext cx="298817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ملخص الأداء المالي للمشروع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691BB6D-E51B-413B-9A2A-9BBAC61140C8}"/>
              </a:ext>
            </a:extLst>
          </p:cNvPr>
          <p:cNvSpPr/>
          <p:nvPr/>
        </p:nvSpPr>
        <p:spPr>
          <a:xfrm>
            <a:off x="8997906" y="4008302"/>
            <a:ext cx="2988177" cy="1800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A5654F5-832E-42BF-800B-28E0F5BA6734}"/>
              </a:ext>
            </a:extLst>
          </p:cNvPr>
          <p:cNvSpPr/>
          <p:nvPr/>
        </p:nvSpPr>
        <p:spPr>
          <a:xfrm>
            <a:off x="4863015" y="19532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توقيع العقد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E92291E-28D9-48F3-A4A7-5C5C90AC89C1}"/>
              </a:ext>
            </a:extLst>
          </p:cNvPr>
          <p:cNvSpPr/>
          <p:nvPr/>
        </p:nvSpPr>
        <p:spPr>
          <a:xfrm>
            <a:off x="3464895" y="1512931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نوفمبر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2025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B30B4D1-92F1-4E28-8786-F3B836A76AEB}"/>
              </a:ext>
            </a:extLst>
          </p:cNvPr>
          <p:cNvSpPr/>
          <p:nvPr/>
        </p:nvSpPr>
        <p:spPr>
          <a:xfrm>
            <a:off x="3358988" y="19675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10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استلام الموقع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325914-8690-4638-8DB8-DBCBF113C379}"/>
              </a:ext>
            </a:extLst>
          </p:cNvPr>
          <p:cNvSpPr/>
          <p:nvPr/>
        </p:nvSpPr>
        <p:spPr>
          <a:xfrm>
            <a:off x="1978271" y="1512931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E0F2457-DBEF-4F75-8537-E0EE8D51A1F2}"/>
              </a:ext>
            </a:extLst>
          </p:cNvPr>
          <p:cNvSpPr/>
          <p:nvPr/>
        </p:nvSpPr>
        <p:spPr>
          <a:xfrm>
            <a:off x="1905133" y="1967512"/>
            <a:ext cx="1085414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نهاية المشروع التعاقدي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6370061-2FD9-49D4-8442-6109EFE92FE7}"/>
              </a:ext>
            </a:extLst>
          </p:cNvPr>
          <p:cNvSpPr/>
          <p:nvPr/>
        </p:nvSpPr>
        <p:spPr>
          <a:xfrm>
            <a:off x="573765" y="1507754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مايو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2028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558D07-3651-43D3-BB46-FCDC3412FD36}"/>
              </a:ext>
            </a:extLst>
          </p:cNvPr>
          <p:cNvSpPr/>
          <p:nvPr/>
        </p:nvSpPr>
        <p:spPr>
          <a:xfrm>
            <a:off x="451277" y="1992188"/>
            <a:ext cx="1198563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تاريخ نهاية المشروع المستهدف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3C68B27-62B4-41AB-B144-A59776FC21C7}"/>
              </a:ext>
            </a:extLst>
          </p:cNvPr>
          <p:cNvSpPr/>
          <p:nvPr/>
        </p:nvSpPr>
        <p:spPr>
          <a:xfrm>
            <a:off x="7486650" y="779411"/>
            <a:ext cx="1407709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الإستشاري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53A36B1-EF99-4663-A00C-C9FDDA724C94}"/>
              </a:ext>
            </a:extLst>
          </p:cNvPr>
          <p:cNvSpPr/>
          <p:nvPr/>
        </p:nvSpPr>
        <p:spPr>
          <a:xfrm>
            <a:off x="7486650" y="1085594"/>
            <a:ext cx="1407708" cy="377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EGIS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sp>
        <p:nvSpPr>
          <p:cNvPr id="102" name="Arrow: Left 101">
            <a:extLst>
              <a:ext uri="{FF2B5EF4-FFF2-40B4-BE49-F238E27FC236}">
                <a16:creationId xmlns:a16="http://schemas.microsoft.com/office/drawing/2014/main" id="{5D2C6460-6E3E-408C-AF17-75B1CDEADBC4}"/>
              </a:ext>
            </a:extLst>
          </p:cNvPr>
          <p:cNvSpPr/>
          <p:nvPr/>
        </p:nvSpPr>
        <p:spPr>
          <a:xfrm>
            <a:off x="6082860" y="1803856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3" name="Arrow: Left 102">
            <a:extLst>
              <a:ext uri="{FF2B5EF4-FFF2-40B4-BE49-F238E27FC236}">
                <a16:creationId xmlns:a16="http://schemas.microsoft.com/office/drawing/2014/main" id="{D228CFED-4282-42BF-BFDD-5C6ECF104B4A}"/>
              </a:ext>
            </a:extLst>
          </p:cNvPr>
          <p:cNvSpPr/>
          <p:nvPr/>
        </p:nvSpPr>
        <p:spPr>
          <a:xfrm>
            <a:off x="4576944" y="1796211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4" name="Arrow: Left 103">
            <a:extLst>
              <a:ext uri="{FF2B5EF4-FFF2-40B4-BE49-F238E27FC236}">
                <a16:creationId xmlns:a16="http://schemas.microsoft.com/office/drawing/2014/main" id="{D13D9C98-6328-4DD2-A009-4876C4825B55}"/>
              </a:ext>
            </a:extLst>
          </p:cNvPr>
          <p:cNvSpPr/>
          <p:nvPr/>
        </p:nvSpPr>
        <p:spPr>
          <a:xfrm>
            <a:off x="3069396" y="1796211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105" name="Arrow: Left 104">
            <a:extLst>
              <a:ext uri="{FF2B5EF4-FFF2-40B4-BE49-F238E27FC236}">
                <a16:creationId xmlns:a16="http://schemas.microsoft.com/office/drawing/2014/main" id="{08632028-7F8D-4323-ACCA-5B9707E8E18C}"/>
              </a:ext>
            </a:extLst>
          </p:cNvPr>
          <p:cNvSpPr/>
          <p:nvPr/>
        </p:nvSpPr>
        <p:spPr>
          <a:xfrm>
            <a:off x="1649841" y="1793008"/>
            <a:ext cx="120316" cy="88894"/>
          </a:xfrm>
          <a:prstGeom prst="leftArrow">
            <a:avLst>
              <a:gd name="adj1" fmla="val 5357"/>
              <a:gd name="adj2" fmla="val 95539"/>
            </a:avLst>
          </a:prstGeom>
          <a:solidFill>
            <a:srgbClr val="0A2C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5F967-9F16-B28E-F37C-C8143D7D5BA2}"/>
              </a:ext>
            </a:extLst>
          </p:cNvPr>
          <p:cNvSpPr/>
          <p:nvPr/>
        </p:nvSpPr>
        <p:spPr>
          <a:xfrm>
            <a:off x="1975831" y="1500476"/>
            <a:ext cx="844605" cy="30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30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مايو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2028</a:t>
            </a:r>
            <a:r>
              <a:rPr kumimoji="0" lang="ar-SA" sz="7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م</a:t>
            </a: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ExtraLight" panose="02040503050201020203" pitchFamily="18" charset="-78"/>
              <a:ea typeface="+mn-ea"/>
              <a:cs typeface="Bahij TheSansArabic ExtraLight" panose="02040503050201020203" pitchFamily="18" charset="-78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AA6B994-9AE6-9487-2941-902E59B22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3747703"/>
              </p:ext>
            </p:extLst>
          </p:nvPr>
        </p:nvGraphicFramePr>
        <p:xfrm>
          <a:off x="9002641" y="4008300"/>
          <a:ext cx="3079692" cy="1999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Table 70">
            <a:extLst>
              <a:ext uri="{FF2B5EF4-FFF2-40B4-BE49-F238E27FC236}">
                <a16:creationId xmlns:a16="http://schemas.microsoft.com/office/drawing/2014/main" id="{F3E20AC5-761B-0419-C331-36045B29900B}"/>
              </a:ext>
            </a:extLst>
          </p:cNvPr>
          <p:cNvGraphicFramePr>
            <a:graphicFrameLocks noGrp="1"/>
          </p:cNvGraphicFramePr>
          <p:nvPr/>
        </p:nvGraphicFramePr>
        <p:xfrm>
          <a:off x="301864" y="2355027"/>
          <a:ext cx="8580956" cy="3824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808">
                  <a:extLst>
                    <a:ext uri="{9D8B030D-6E8A-4147-A177-3AD203B41FA5}">
                      <a16:colId xmlns:a16="http://schemas.microsoft.com/office/drawing/2014/main" val="3860108947"/>
                    </a:ext>
                  </a:extLst>
                </a:gridCol>
                <a:gridCol w="633808">
                  <a:extLst>
                    <a:ext uri="{9D8B030D-6E8A-4147-A177-3AD203B41FA5}">
                      <a16:colId xmlns:a16="http://schemas.microsoft.com/office/drawing/2014/main" val="403226280"/>
                    </a:ext>
                  </a:extLst>
                </a:gridCol>
                <a:gridCol w="808034">
                  <a:extLst>
                    <a:ext uri="{9D8B030D-6E8A-4147-A177-3AD203B41FA5}">
                      <a16:colId xmlns:a16="http://schemas.microsoft.com/office/drawing/2014/main" val="584500977"/>
                    </a:ext>
                  </a:extLst>
                </a:gridCol>
                <a:gridCol w="830944">
                  <a:extLst>
                    <a:ext uri="{9D8B030D-6E8A-4147-A177-3AD203B41FA5}">
                      <a16:colId xmlns:a16="http://schemas.microsoft.com/office/drawing/2014/main" val="880429156"/>
                    </a:ext>
                  </a:extLst>
                </a:gridCol>
                <a:gridCol w="1559039">
                  <a:extLst>
                    <a:ext uri="{9D8B030D-6E8A-4147-A177-3AD203B41FA5}">
                      <a16:colId xmlns:a16="http://schemas.microsoft.com/office/drawing/2014/main" val="2845466279"/>
                    </a:ext>
                  </a:extLst>
                </a:gridCol>
                <a:gridCol w="1953394">
                  <a:extLst>
                    <a:ext uri="{9D8B030D-6E8A-4147-A177-3AD203B41FA5}">
                      <a16:colId xmlns:a16="http://schemas.microsoft.com/office/drawing/2014/main" val="3417894790"/>
                    </a:ext>
                  </a:extLst>
                </a:gridCol>
                <a:gridCol w="1898964">
                  <a:extLst>
                    <a:ext uri="{9D8B030D-6E8A-4147-A177-3AD203B41FA5}">
                      <a16:colId xmlns:a16="http://schemas.microsoft.com/office/drawing/2014/main" val="3475071474"/>
                    </a:ext>
                  </a:extLst>
                </a:gridCol>
                <a:gridCol w="262965">
                  <a:extLst>
                    <a:ext uri="{9D8B030D-6E8A-4147-A177-3AD203B41FA5}">
                      <a16:colId xmlns:a16="http://schemas.microsoft.com/office/drawing/2014/main" val="2037549718"/>
                    </a:ext>
                  </a:extLst>
                </a:gridCol>
              </a:tblGrid>
              <a:tr h="538354">
                <a:tc>
                  <a:txBody>
                    <a:bodyPr/>
                    <a:lstStyle/>
                    <a:p>
                      <a:pPr algn="ctr" rtl="1"/>
                      <a:r>
                        <a:rPr lang="ar-EG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الأثر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المسؤول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تاريخ </a:t>
                      </a:r>
                      <a:r>
                        <a:rPr lang="ar-EG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متوقع ل</a:t>
                      </a:r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معالجة  التحدي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الخطوات القادمة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الإجراء المتخذ / التحديث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10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التحدي</a:t>
                      </a:r>
                      <a:endParaRPr lang="en-US" sz="110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1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#</a:t>
                      </a:r>
                      <a:endParaRPr lang="en-US" sz="1200" b="1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62421"/>
                  </a:ext>
                </a:extLst>
              </a:tr>
              <a:tr h="745413">
                <a:tc>
                  <a:txBody>
                    <a:bodyPr/>
                    <a:lstStyle/>
                    <a:p>
                      <a:pPr algn="ctr" rtl="1"/>
                      <a:r>
                        <a:rPr lang="ar-SA" sz="1000" b="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مغلق</a:t>
                      </a:r>
                      <a:endParaRPr lang="en-US" sz="1000" b="0" dirty="0">
                        <a:solidFill>
                          <a:srgbClr val="000000"/>
                        </a:solidFill>
                        <a:highlight>
                          <a:srgbClr val="91D150"/>
                        </a:highlight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 ومالي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مدن</a:t>
                      </a: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 + الاستشاري</a:t>
                      </a:r>
                    </a:p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+ 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9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30/8/2026</a:t>
                      </a:r>
                      <a:endParaRPr lang="en-US" sz="9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تقديم جزء كبير من المخططات التنفيذية وجاري استكمال بقية المخططات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استلام المخطط العام المحدث للمشروع من مدن مع  المخططات التصميمية المحدثة للشبكات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التصميم: 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تعديل المخطط العام للمشروع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1</a:t>
                      </a:r>
                      <a:endParaRPr lang="en-US" sz="1200" b="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49227"/>
                  </a:ext>
                </a:extLst>
              </a:tr>
              <a:tr h="1242355"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91D150"/>
                          </a:highlight>
                          <a:uLnTx/>
                          <a:uFillTx/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قيد التنفيذ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0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20/9/2026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جاري اعمال التوريدات بما يتوافق مع الخطة التصحيحية 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جاري</a:t>
                      </a: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 اصدار أ</a:t>
                      </a:r>
                      <a:r>
                        <a:rPr lang="ar-SA" sz="1200" dirty="0" err="1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وا</a:t>
                      </a: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مر الشراء </a:t>
                      </a: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بما يتوافق مع التعديلات الأخيرة بالمخططات </a:t>
                      </a:r>
                      <a:endParaRPr lang="en-US" sz="1200" dirty="0">
                        <a:solidFill>
                          <a:srgbClr val="FF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التوريدات :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تعديل أوامر الشراء بناء على التعديلات بالمخططات التصميمية إضافة الي ارتفاع أسعار المواد طبقا لظروف السوق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2</a:t>
                      </a:r>
                      <a:endParaRPr lang="en-US" sz="1200" b="0" dirty="0"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639485"/>
                  </a:ext>
                </a:extLst>
              </a:tr>
              <a:tr h="1242355"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000" b="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قيد التنفيذ</a:t>
                      </a:r>
                      <a:endParaRPr lang="en-US" sz="1000" b="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0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أثر زمني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المقاول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20/9/2026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تم زيادة عدد المعدات وزيادة عدد فرق التنفيذ بما يتناسب مع الخطة التصحيحية للمشروع</a:t>
                      </a:r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زيادة عدد المعدات بما يتناسب مع الخطة التصحيحية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التنفيذ :</a:t>
                      </a:r>
                    </a:p>
                    <a:p>
                      <a:pPr algn="ctr" rtl="1"/>
                      <a:r>
                        <a:rPr lang="ar-SA" sz="1200" dirty="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- نقص عدد المعدات في </a:t>
                      </a:r>
                      <a:r>
                        <a:rPr lang="ar-SA" sz="1200">
                          <a:solidFill>
                            <a:srgbClr val="000000"/>
                          </a:solidFill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بداية المشروع</a:t>
                      </a:r>
                      <a:endParaRPr lang="ar-SA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  <a:p>
                      <a:pPr algn="ctr" rtl="1"/>
                      <a:endParaRPr lang="en-US" sz="1200" dirty="0">
                        <a:solidFill>
                          <a:srgbClr val="000000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0" dirty="0">
                          <a:latin typeface="Bahij TheSansArabic ExtraLight" panose="02040503050201020203" pitchFamily="18" charset="-78"/>
                          <a:cs typeface="Bahij TheSansArabic ExtraLight" panose="02040503050201020203" pitchFamily="18" charset="-78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168540"/>
                  </a:ext>
                </a:extLst>
              </a:tr>
            </a:tbl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0889F3D7-DBA5-A2A2-C5A7-7705814CA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067734"/>
              </p:ext>
            </p:extLst>
          </p:nvPr>
        </p:nvGraphicFramePr>
        <p:xfrm>
          <a:off x="9002643" y="1824080"/>
          <a:ext cx="2995011" cy="1817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3242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5D6E1A-16E6-A933-7917-B99BE1056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64781"/>
              </p:ext>
            </p:extLst>
          </p:nvPr>
        </p:nvGraphicFramePr>
        <p:xfrm>
          <a:off x="9188580" y="0"/>
          <a:ext cx="2831166" cy="863324"/>
        </p:xfrm>
        <a:graphic>
          <a:graphicData uri="http://schemas.openxmlformats.org/drawingml/2006/table">
            <a:tbl>
              <a:tblPr/>
              <a:tblGrid>
                <a:gridCol w="2831166">
                  <a:extLst>
                    <a:ext uri="{9D8B030D-6E8A-4147-A177-3AD203B41FA5}">
                      <a16:colId xmlns:a16="http://schemas.microsoft.com/office/drawing/2014/main" val="1406816918"/>
                    </a:ext>
                  </a:extLst>
                </a:gridCol>
              </a:tblGrid>
              <a:tr h="4336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 C T U A L    E X E C U T E D    W O R K   P R O G R E S S   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723783"/>
                  </a:ext>
                </a:extLst>
              </a:tr>
              <a:tr h="4296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Earth Works for Roads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653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75FBD5-8F9A-9C6C-0151-D3F10CB2D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85606"/>
              </p:ext>
            </p:extLst>
          </p:nvPr>
        </p:nvGraphicFramePr>
        <p:xfrm>
          <a:off x="-1" y="1"/>
          <a:ext cx="9192127" cy="7411336"/>
        </p:xfrm>
        <a:graphic>
          <a:graphicData uri="http://schemas.openxmlformats.org/drawingml/2006/table">
            <a:tbl>
              <a:tblPr/>
              <a:tblGrid>
                <a:gridCol w="977427">
                  <a:extLst>
                    <a:ext uri="{9D8B030D-6E8A-4147-A177-3AD203B41FA5}">
                      <a16:colId xmlns:a16="http://schemas.microsoft.com/office/drawing/2014/main" val="2382370527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68628080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3030222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158054120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3247195786"/>
                    </a:ext>
                  </a:extLst>
                </a:gridCol>
                <a:gridCol w="977427">
                  <a:extLst>
                    <a:ext uri="{9D8B030D-6E8A-4147-A177-3AD203B41FA5}">
                      <a16:colId xmlns:a16="http://schemas.microsoft.com/office/drawing/2014/main" val="3574609965"/>
                    </a:ext>
                  </a:extLst>
                </a:gridCol>
                <a:gridCol w="977427">
                  <a:extLst>
                    <a:ext uri="{9D8B030D-6E8A-4147-A177-3AD203B41FA5}">
                      <a16:colId xmlns:a16="http://schemas.microsoft.com/office/drawing/2014/main" val="1690402222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510030789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18567441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3953564770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699758718"/>
                    </a:ext>
                  </a:extLst>
                </a:gridCol>
                <a:gridCol w="634006">
                  <a:extLst>
                    <a:ext uri="{9D8B030D-6E8A-4147-A177-3AD203B41FA5}">
                      <a16:colId xmlns:a16="http://schemas.microsoft.com/office/drawing/2014/main" val="2014644990"/>
                    </a:ext>
                  </a:extLst>
                </a:gridCol>
                <a:gridCol w="553792">
                  <a:extLst>
                    <a:ext uri="{9D8B030D-6E8A-4147-A177-3AD203B41FA5}">
                      <a16:colId xmlns:a16="http://schemas.microsoft.com/office/drawing/2014/main" val="2402048129"/>
                    </a:ext>
                  </a:extLst>
                </a:gridCol>
              </a:tblGrid>
              <a:tr h="93087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ROAD NAME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TOTAL LENGTH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STATION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Excavation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Backfilling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RIC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20 cm backfill roller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Subgrade %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Aggregate Base Coarse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Bituminous Base Coarse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21972"/>
                  </a:ext>
                </a:extLst>
              </a:tr>
              <a:tr h="930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FROM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</a:p>
                  </a:txBody>
                  <a:tcPr marL="3503" marR="3503" marT="3503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108882"/>
                  </a:ext>
                </a:extLst>
              </a:tr>
              <a:tr h="11876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RD A 1/5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564953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Fill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568091"/>
                  </a:ext>
                </a:extLst>
              </a:tr>
              <a:tr h="256540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1/4</a:t>
                      </a:r>
                      <a:endParaRPr 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1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5603041"/>
                  </a:ext>
                </a:extLst>
              </a:tr>
              <a:tr h="176756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1/4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1+300</a:t>
                      </a:r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025711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1+300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1+600</a:t>
                      </a:r>
                      <a:endParaRPr lang="en-US" sz="800" b="0" i="0" u="none" strike="noStrike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473737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RD A 1/3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1+750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2+500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21060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2+500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 3+200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C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809636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A 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0+184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42676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 5/1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809.43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0+809.43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42974"/>
                  </a:ext>
                </a:extLst>
              </a:tr>
              <a:tr h="1767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 5/2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809.43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879588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RD C 6/1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1046.16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CUT and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7661299"/>
                  </a:ext>
                </a:extLst>
              </a:tr>
              <a:tr h="118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0+50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0+375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48536893"/>
                  </a:ext>
                </a:extLst>
              </a:tr>
              <a:tr h="11876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RD C 6/2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0+375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385747"/>
                  </a:ext>
                </a:extLst>
              </a:tr>
              <a:tr h="907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0+765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1+046.16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0466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54599"/>
                  </a:ext>
                </a:extLst>
              </a:tr>
              <a:tr h="209251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RD L 07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1218.05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(Tunnel ) CUT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75629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0+350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0+800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Fill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7892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0+800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1+218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7030A0"/>
                          </a:solidFill>
                          <a:effectLst/>
                          <a:latin typeface="Aptos Narrow" panose="020B0004020202020204" pitchFamily="34" charset="0"/>
                        </a:rPr>
                        <a:t>FILL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16410"/>
                  </a:ext>
                </a:extLst>
              </a:tr>
              <a:tr h="176756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RD L 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764.7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0+550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13624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550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44124299"/>
                  </a:ext>
                </a:extLst>
              </a:tr>
              <a:tr h="11876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RD L 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662.81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0+475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TOE -0.20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436342"/>
                  </a:ext>
                </a:extLst>
              </a:tr>
              <a:tr h="1187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0+475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0+663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687754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 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213.59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233724"/>
                  </a:ext>
                </a:extLst>
              </a:tr>
              <a:tr h="118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 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488.24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0+488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573910"/>
                  </a:ext>
                </a:extLst>
              </a:tr>
              <a:tr h="1767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691"/>
                  </a:ext>
                </a:extLst>
              </a:tr>
              <a:tr h="20925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115796"/>
                  </a:ext>
                </a:extLst>
              </a:tr>
              <a:tr h="2092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0+250</a:t>
                      </a:r>
                    </a:p>
                  </a:txBody>
                  <a:tcPr marL="7620" marR="7620" marT="7620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729205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0+741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2790154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C03/1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962984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C03/2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277908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1+050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653211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C02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0+850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27072"/>
                  </a:ext>
                </a:extLst>
              </a:tr>
              <a:tr h="2092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RD L 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0+00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1+436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Cut &amp; fill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RD A 1/5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0+150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0+650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C00000"/>
                          </a:solidFill>
                          <a:effectLst/>
                          <a:latin typeface="Aptos Narrow" panose="020B0004020202020204" pitchFamily="34" charset="0"/>
                        </a:rPr>
                        <a:t>CUT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517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1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3FE76D-9F08-0E2D-2F59-D1EF51DF6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323" y="208261"/>
            <a:ext cx="9236306" cy="62249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739E04-EC2B-2764-BF0E-663BE51259A4}"/>
              </a:ext>
            </a:extLst>
          </p:cNvPr>
          <p:cNvSpPr/>
          <p:nvPr/>
        </p:nvSpPr>
        <p:spPr>
          <a:xfrm>
            <a:off x="745958" y="6160622"/>
            <a:ext cx="2663268" cy="431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E989A-DABC-C545-5C5A-25896ED74606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90C740"/>
              </a:solidFill>
              <a:effectLst/>
              <a:uLnTx/>
              <a:uFillTx/>
              <a:latin typeface="Gotham"/>
              <a:ea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9369E-55CE-AC58-A47E-622D60B5053B}"/>
              </a:ext>
            </a:extLst>
          </p:cNvPr>
          <p:cNvSpPr/>
          <p:nvPr/>
        </p:nvSpPr>
        <p:spPr>
          <a:xfrm>
            <a:off x="10688956" y="587326"/>
            <a:ext cx="15030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2. </a:t>
            </a:r>
            <a:r>
              <a:rPr kumimoji="0" lang="ar-EG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مخطط تقدم أعمال الطرق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  )</a:t>
            </a:r>
            <a:r>
              <a:rPr kumimoji="0" lang="ar-SA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الحفر والردم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Bahij TheSansArabic SemiBold" panose="02040503050201020203" pitchFamily="18" charset="-78"/>
                <a:ea typeface="+mn-ea"/>
                <a:cs typeface="Bahij TheSansArabic SemiBold" panose="02040503050201020203" pitchFamily="18" charset="-78"/>
              </a:rPr>
              <a:t>(</a:t>
            </a:r>
            <a:endParaRPr kumimoji="0" lang="ar-SA" sz="2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Bahij TheSansArabic SemiBold" panose="02040503050201020203" pitchFamily="18" charset="-78"/>
              <a:ea typeface="+mn-ea"/>
              <a:cs typeface="Bahij TheSansArabic SemiBold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413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D678-4BE7-BA6E-C6E4-C87D33FDF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198D99-90BE-4334-43A9-05E67D9426EC}"/>
              </a:ext>
            </a:extLst>
          </p:cNvPr>
          <p:cNvSpPr txBox="1"/>
          <p:nvPr/>
        </p:nvSpPr>
        <p:spPr>
          <a:xfrm>
            <a:off x="4534907" y="-55985"/>
            <a:ext cx="6103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Earth Works for Plots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6D84FB-0C63-8BA8-9163-6F931753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81174"/>
              </p:ext>
            </p:extLst>
          </p:nvPr>
        </p:nvGraphicFramePr>
        <p:xfrm>
          <a:off x="1676400" y="208546"/>
          <a:ext cx="8398041" cy="6136281"/>
        </p:xfrm>
        <a:graphic>
          <a:graphicData uri="http://schemas.openxmlformats.org/drawingml/2006/table">
            <a:tbl>
              <a:tblPr/>
              <a:tblGrid>
                <a:gridCol w="870639">
                  <a:extLst>
                    <a:ext uri="{9D8B030D-6E8A-4147-A177-3AD203B41FA5}">
                      <a16:colId xmlns:a16="http://schemas.microsoft.com/office/drawing/2014/main" val="1662998552"/>
                    </a:ext>
                  </a:extLst>
                </a:gridCol>
                <a:gridCol w="1759417">
                  <a:extLst>
                    <a:ext uri="{9D8B030D-6E8A-4147-A177-3AD203B41FA5}">
                      <a16:colId xmlns:a16="http://schemas.microsoft.com/office/drawing/2014/main" val="1932577960"/>
                    </a:ext>
                  </a:extLst>
                </a:gridCol>
                <a:gridCol w="1596172">
                  <a:extLst>
                    <a:ext uri="{9D8B030D-6E8A-4147-A177-3AD203B41FA5}">
                      <a16:colId xmlns:a16="http://schemas.microsoft.com/office/drawing/2014/main" val="81669880"/>
                    </a:ext>
                  </a:extLst>
                </a:gridCol>
                <a:gridCol w="1559896">
                  <a:extLst>
                    <a:ext uri="{9D8B030D-6E8A-4147-A177-3AD203B41FA5}">
                      <a16:colId xmlns:a16="http://schemas.microsoft.com/office/drawing/2014/main" val="136567608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3214273677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3969554835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1119992884"/>
                    </a:ext>
                  </a:extLst>
                </a:gridCol>
              </a:tblGrid>
              <a:tr h="181621"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A C T U A L    E X E C U T E D    W O R K   P R O G R E S S  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0B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3828"/>
                  </a:ext>
                </a:extLst>
              </a:tr>
              <a:tr h="181621">
                <a:tc grid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Earth Works for Plots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80092"/>
                  </a:ext>
                </a:extLst>
              </a:tr>
              <a:tr h="5314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Zone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Block Name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Excavation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Backfilling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RIC %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20 cm layer by Roller 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477" marR="4477" marT="4477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384289"/>
                  </a:ext>
                </a:extLst>
              </a:tr>
              <a:tr h="2586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7248"/>
                  </a:ext>
                </a:extLst>
              </a:tr>
              <a:tr h="262344">
                <a:tc rowSpan="8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BLOCK-12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780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38000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BLOCK-13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2295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11684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85%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034322"/>
                  </a:ext>
                </a:extLst>
              </a:tr>
              <a:tr h="25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933100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BLOCK-14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07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093025"/>
                  </a:ext>
                </a:extLst>
              </a:tr>
              <a:tr h="262344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BLOCK-Z6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55832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BLOCK-15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446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08689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BLOCK-16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750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303209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BLOCK-17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A2C5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954242"/>
                  </a:ext>
                </a:extLst>
              </a:tr>
              <a:tr h="1727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710256"/>
                  </a:ext>
                </a:extLst>
              </a:tr>
              <a:tr h="26234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Water Tank Area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556781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218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22328"/>
                  </a:ext>
                </a:extLst>
              </a:tr>
              <a:tr h="262344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56048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 cut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104984"/>
                  </a:ext>
                </a:extLst>
              </a:tr>
              <a:tr h="262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BLOCK-20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42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48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DC29-30C9-91EC-520D-D8C201485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ED380-2E59-1F13-7B5C-4A6F27836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698" y="56147"/>
            <a:ext cx="8689961" cy="65772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3FA80E-E6BB-9EDF-53A6-04B2CE1102FC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2EDA2D-D469-5D16-E0ED-A0C35A39A44C}"/>
              </a:ext>
            </a:extLst>
          </p:cNvPr>
          <p:cNvSpPr/>
          <p:nvPr/>
        </p:nvSpPr>
        <p:spPr>
          <a:xfrm>
            <a:off x="9182922" y="0"/>
            <a:ext cx="24863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2. 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مخطط تقدم أعمال البلوكات</a:t>
            </a:r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)</a:t>
            </a:r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اعمال الحفر والردم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(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784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492A-4EE7-A477-5F7C-5C1A55BD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B0FA79-85CD-EA51-07D5-6EBCF4CBE4E5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79A02-9D8F-F46C-AD1B-3215B084D912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2. أبرز الأعمال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D63056-1A14-8CEA-2A8E-1384C929C1D4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4BF171E-E34E-C9FC-7318-B159F49AE355}"/>
              </a:ext>
            </a:extLst>
          </p:cNvPr>
          <p:cNvSpPr/>
          <p:nvPr/>
        </p:nvSpPr>
        <p:spPr>
          <a:xfrm>
            <a:off x="359252" y="767478"/>
            <a:ext cx="11635705" cy="306184"/>
          </a:xfrm>
          <a:prstGeom prst="rect">
            <a:avLst/>
          </a:prstGeom>
          <a:solidFill>
            <a:srgbClr val="2F8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فترة العمل (</a:t>
            </a:r>
            <a:r>
              <a:rPr lang="ar-EG" sz="1200" b="1" dirty="0">
                <a:solidFill>
                  <a:srgbClr val="FFFFFF"/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6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kumimoji="0" lang="ar-EG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اكتوبر</a:t>
            </a:r>
            <a:r>
              <a:rPr kumimoji="0" lang="ar-SA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ahij TheSansArabic ExtraLight" panose="02040503050201020203" pitchFamily="18" charset="-78"/>
                <a:ea typeface="+mn-ea"/>
                <a:cs typeface="Bahij TheSansArabic ExtraLight" panose="02040503050201020203" pitchFamily="18" charset="-78"/>
              </a:rPr>
              <a:t> 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-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12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اكتوبر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ar-EG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2026</a:t>
            </a:r>
            <a:r>
              <a:rPr lang="ar-SA" sz="1200" b="1" dirty="0"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)</a:t>
            </a:r>
            <a:endParaRPr lang="en-US" sz="1200" b="1" dirty="0"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44ED16-3CD5-549A-0DEC-285861878BBF}"/>
              </a:ext>
            </a:extLst>
          </p:cNvPr>
          <p:cNvSpPr/>
          <p:nvPr/>
        </p:nvSpPr>
        <p:spPr>
          <a:xfrm>
            <a:off x="333562" y="3588535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Asphalt work for RD-A-1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FFCB2-236F-6CB4-899F-761283A4F73A}"/>
              </a:ext>
            </a:extLst>
          </p:cNvPr>
          <p:cNvSpPr/>
          <p:nvPr/>
        </p:nvSpPr>
        <p:spPr>
          <a:xfrm>
            <a:off x="4429897" y="3578232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ABC work for RD-A-1</a:t>
            </a:r>
            <a:r>
              <a:rPr lang="ar-EG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- Z05</a:t>
            </a:r>
            <a:endParaRPr lang="en-GB" sz="11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2FB1A-0260-6480-015A-7B0011D44260}"/>
              </a:ext>
            </a:extLst>
          </p:cNvPr>
          <p:cNvSpPr/>
          <p:nvPr/>
        </p:nvSpPr>
        <p:spPr>
          <a:xfrm>
            <a:off x="8473437" y="3578232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ABC work for RD-A-1</a:t>
            </a:r>
            <a:r>
              <a:rPr lang="ar-EG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</a:t>
            </a:r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 - Z04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D7245-6789-2B61-63AA-E7E8B97B03CB}"/>
              </a:ext>
            </a:extLst>
          </p:cNvPr>
          <p:cNvSpPr/>
          <p:nvPr/>
        </p:nvSpPr>
        <p:spPr>
          <a:xfrm>
            <a:off x="333562" y="6473934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Spray MC1 - RD-A-1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359FD-6AD3-7A85-35C8-C023A0DDC4AA}"/>
              </a:ext>
            </a:extLst>
          </p:cNvPr>
          <p:cNvSpPr/>
          <p:nvPr/>
        </p:nvSpPr>
        <p:spPr>
          <a:xfrm>
            <a:off x="4495800" y="6480704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Tunnel Part 01 </a:t>
            </a:r>
            <a:r>
              <a:rPr lang="en-US" sz="1100" b="1" dirty="0" err="1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Deshuttering</a:t>
            </a:r>
            <a:endParaRPr lang="en-GB" sz="11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60675-05B0-8E93-55FA-6748AAEE1BAD}"/>
              </a:ext>
            </a:extLst>
          </p:cNvPr>
          <p:cNvSpPr/>
          <p:nvPr/>
        </p:nvSpPr>
        <p:spPr>
          <a:xfrm>
            <a:off x="8509577" y="6480705"/>
            <a:ext cx="3200400" cy="37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Bahij TheSansArabic ExtraLight" panose="02040503050201020203" pitchFamily="18" charset="-78"/>
                <a:cs typeface="Bahij TheSansArabic ExtraLight" panose="02040503050201020203" pitchFamily="18" charset="-78"/>
              </a:rPr>
              <a:t>Backfilling works for BL-23</a:t>
            </a:r>
            <a:endParaRPr lang="en-GB" sz="1200" b="1" dirty="0">
              <a:solidFill>
                <a:schemeClr val="bg2">
                  <a:lumMod val="10000"/>
                </a:schemeClr>
              </a:solidFill>
              <a:latin typeface="Bahij TheSansArabic ExtraLight" panose="02040503050201020203" pitchFamily="18" charset="-78"/>
              <a:cs typeface="Bahij TheSansArabic ExtraLight" panose="02040503050201020203" pitchFamily="18" charset="-78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E6DC524-4143-3BFB-4326-120BDB65B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206846"/>
              </p:ext>
            </p:extLst>
          </p:nvPr>
        </p:nvGraphicFramePr>
        <p:xfrm>
          <a:off x="-633238" y="-8698477"/>
          <a:ext cx="163181" cy="167640"/>
        </p:xfrm>
        <a:graphic>
          <a:graphicData uri="http://schemas.openxmlformats.org/drawingml/2006/table">
            <a:tbl>
              <a:tblPr/>
              <a:tblGrid>
                <a:gridCol w="163181">
                  <a:extLst>
                    <a:ext uri="{9D8B030D-6E8A-4147-A177-3AD203B41FA5}">
                      <a16:colId xmlns:a16="http://schemas.microsoft.com/office/drawing/2014/main" val="3720757362"/>
                    </a:ext>
                  </a:extLst>
                </a:gridCol>
              </a:tblGrid>
              <a:tr h="594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tham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8023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CECD09C-F76A-23B8-B746-241AC1D11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174317"/>
              </p:ext>
            </p:extLst>
          </p:nvPr>
        </p:nvGraphicFramePr>
        <p:xfrm>
          <a:off x="1845431" y="-8516041"/>
          <a:ext cx="88331" cy="167640"/>
        </p:xfrm>
        <a:graphic>
          <a:graphicData uri="http://schemas.openxmlformats.org/drawingml/2006/table">
            <a:tbl>
              <a:tblPr/>
              <a:tblGrid>
                <a:gridCol w="88331">
                  <a:extLst>
                    <a:ext uri="{9D8B030D-6E8A-4147-A177-3AD203B41FA5}">
                      <a16:colId xmlns:a16="http://schemas.microsoft.com/office/drawing/2014/main" val="3050290126"/>
                    </a:ext>
                  </a:extLst>
                </a:gridCol>
              </a:tblGrid>
              <a:tr h="162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tham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127900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825BF876-465C-D1C9-80CB-8E60DE787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032" y="4211796"/>
            <a:ext cx="2813452" cy="2110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E8EDA0-A1BE-EB2D-E720-09C7B3DBF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73438" y="1849803"/>
            <a:ext cx="3200394" cy="15858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CCAA2F-EDFE-F8DD-964A-64142B3C1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9898" y="1815169"/>
            <a:ext cx="3174702" cy="16061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37250F-B58B-C51E-855A-47F7B78EC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252" y="1813465"/>
            <a:ext cx="3174703" cy="16095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3B2D33-0B0E-F978-3AF7-4FFCB58D0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9578" y="4211796"/>
            <a:ext cx="3155390" cy="21100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B44174-8066-E42A-1295-8401916294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5800" y="4211796"/>
            <a:ext cx="3200399" cy="218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6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6A1C8-3A2C-F766-8F7E-4C01D9B4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F044F7-7887-B4B8-A1A0-B88CA815E828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1D463A-D005-EB5D-4593-20502397F4A7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لأعمال الطرق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B935D5-FB9F-4F4B-3CAB-7F64D62AE4FF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18BBDD5-6AB7-E779-9EEF-32BA7AAC3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00648"/>
              </p:ext>
            </p:extLst>
          </p:nvPr>
        </p:nvGraphicFramePr>
        <p:xfrm>
          <a:off x="361948" y="1545650"/>
          <a:ext cx="11635706" cy="3938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1663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81175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747120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266396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71081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47814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15-02-2026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Backfill Material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Subgrade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Aggregate Base Course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BC8F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Under Review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24-05-2026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Rashid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Bituminous base course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Sarif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Interlock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Sarif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Precast Concrete Curb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28-03-2026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AlRawaf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Pavement Markings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28-03-2026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Day sun industrial factory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Traffic Signage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Shawahid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Wheel Stoppers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BC8F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Code c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Shawahid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Riprap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35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71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DC954B-5808-6841-AAEC-F78D81DD9E6A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5AEE1-CD61-654C-897E-C41E21915E29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للشبكات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6AA68E-23C1-402A-8C42-A7A71EA02244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BC769DA-F986-4CC5-A5D0-E907804C5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39154"/>
              </p:ext>
            </p:extLst>
          </p:nvPr>
        </p:nvGraphicFramePr>
        <p:xfrm>
          <a:off x="361950" y="1091087"/>
          <a:ext cx="11635706" cy="497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1663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81175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911022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102494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40203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10551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noProof="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01-02-2026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15-02-2026</a:t>
                      </a: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طارق نقادي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GRP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02-02-2026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المنيف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HDPE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16-02-2026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28/1/2026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17-02-206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أنابيب الخليج</a:t>
                      </a: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المنيف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UPVC PIPES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Started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21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-0</a:t>
                      </a: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-2026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Completed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30/3/2026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26-03-2026</a:t>
                      </a: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EG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طارق نقادي</a:t>
                      </a:r>
                      <a:endParaRPr lang="ar-EG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البلاد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Manholes &amp; </a:t>
                      </a:r>
                      <a:r>
                        <a:rPr lang="en-GB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Catch basins</a:t>
                      </a:r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&amp; Chambers</a:t>
                      </a:r>
                      <a:endParaRPr lang="en-GB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SPS</a:t>
                      </a:r>
                    </a:p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AVK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Valves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17-01-2026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SPS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Fire Hydrant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20-04-2026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Rajhi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RFT Steel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2-05-2026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البابطين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Lighting Poles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284021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8-04-2026</a:t>
                      </a: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900" b="1" i="0" dirty="0">
                          <a:solidFill>
                            <a:srgbClr val="0A2C52"/>
                          </a:solidFill>
                          <a:effectLst/>
                          <a:latin typeface="Gotham"/>
                        </a:rPr>
                        <a:t>pan</a:t>
                      </a:r>
                      <a:r>
                        <a:rPr lang="en-US" sz="1800" b="0" i="0" dirty="0">
                          <a:solidFill>
                            <a:srgbClr val="0A2C52"/>
                          </a:solidFill>
                          <a:effectLst/>
                          <a:latin typeface="Gotham"/>
                        </a:rPr>
                        <a:t> 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Luminaire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6-03-2026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الوسائل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Duct Banks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29911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العجيمي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Pillars &amp; Distribution Panels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60790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العجيمي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الفنار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Substations &amp; RMUs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85315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البحر الأحمر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السويدي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MV Cables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322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2</a:t>
                      </a: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A2C52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6-03-2026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البحر الأحمر</a:t>
                      </a:r>
                    </a:p>
                    <a:p>
                      <a:pPr algn="ctr" fontAlgn="ctr"/>
                      <a:r>
                        <a:rPr lang="ar-EG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السويدي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LV Cables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42701"/>
                  </a:ext>
                </a:extLst>
              </a:tr>
              <a:tr h="28087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C8F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Al Alameya</a:t>
                      </a:r>
                      <a:r>
                        <a:rPr lang="en-US" sz="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​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CCTV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695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27861A-2B93-DF16-4803-784CF1C6BE65}"/>
              </a:ext>
            </a:extLst>
          </p:cNvPr>
          <p:cNvSpPr txBox="1"/>
          <p:nvPr/>
        </p:nvSpPr>
        <p:spPr>
          <a:xfrm>
            <a:off x="3986462" y="58774"/>
            <a:ext cx="391813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 التوريد لمواسير </a:t>
            </a:r>
            <a:r>
              <a:rPr lang="en-US" dirty="0"/>
              <a:t>GRP</a:t>
            </a:r>
            <a:r>
              <a:rPr lang="ar-EG" dirty="0"/>
              <a:t> بالموقع.</a:t>
            </a:r>
            <a:endParaRPr lang="ar-SA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</a:t>
            </a:r>
            <a:r>
              <a:rPr lang="ar-SA" dirty="0"/>
              <a:t> توريد مواسير </a:t>
            </a:r>
            <a:r>
              <a:rPr lang="en-US" dirty="0"/>
              <a:t>UPVC</a:t>
            </a:r>
            <a:r>
              <a:rPr lang="ar-SA" dirty="0"/>
              <a:t> بالموقع.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9AB1E-C292-B805-9E1D-9E7CC22C40DD}"/>
              </a:ext>
            </a:extLst>
          </p:cNvPr>
          <p:cNvSpPr txBox="1"/>
          <p:nvPr/>
        </p:nvSpPr>
        <p:spPr>
          <a:xfrm>
            <a:off x="194345" y="58773"/>
            <a:ext cx="391813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dirty="0"/>
              <a:t>جاري</a:t>
            </a:r>
            <a:r>
              <a:rPr lang="ar-SA" dirty="0"/>
              <a:t> توريد </a:t>
            </a:r>
            <a:r>
              <a:rPr lang="en-US" dirty="0"/>
              <a:t>Rings &amp; Covers</a:t>
            </a:r>
            <a:r>
              <a:rPr lang="ar-SA" dirty="0"/>
              <a:t> للمناهل بالموقع</a:t>
            </a:r>
            <a:r>
              <a:rPr lang="en-US" dirty="0"/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195314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6FB6-A220-E9AA-ADCB-DEBD2FDA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A92455-DAE0-A889-292F-3F621D9BBE6B}"/>
              </a:ext>
            </a:extLst>
          </p:cNvPr>
          <p:cNvSpPr/>
          <p:nvPr/>
        </p:nvSpPr>
        <p:spPr>
          <a:xfrm>
            <a:off x="11928476" y="226568"/>
            <a:ext cx="69178" cy="478537"/>
          </a:xfrm>
          <a:prstGeom prst="rect">
            <a:avLst/>
          </a:prstGeom>
          <a:solidFill>
            <a:schemeClr val="accent2"/>
          </a:solidFill>
          <a:ln>
            <a:solidFill>
              <a:srgbClr val="90C7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GB">
              <a:solidFill>
                <a:srgbClr val="90C7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C4464-67DE-8C1B-B7A5-5F4A3A333682}"/>
              </a:ext>
            </a:extLst>
          </p:cNvPr>
          <p:cNvSpPr/>
          <p:nvPr/>
        </p:nvSpPr>
        <p:spPr>
          <a:xfrm>
            <a:off x="1761424" y="213946"/>
            <a:ext cx="100744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3. حالة المشتريات الرئيسية</a:t>
            </a:r>
            <a:r>
              <a:rPr lang="en-US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 </a:t>
            </a:r>
            <a:r>
              <a:rPr lang="ar-EG" sz="2200" b="1" dirty="0">
                <a:solidFill>
                  <a:schemeClr val="bg2">
                    <a:lumMod val="10000"/>
                  </a:schemeClr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للمحطات</a:t>
            </a:r>
            <a:endParaRPr lang="ar-SA" sz="2200" b="1" dirty="0">
              <a:solidFill>
                <a:schemeClr val="bg2">
                  <a:lumMod val="10000"/>
                </a:schemeClr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4605DE-59F7-C1EE-6D56-3574D703B14F}"/>
              </a:ext>
            </a:extLst>
          </p:cNvPr>
          <p:cNvCxnSpPr>
            <a:cxnSpLocks/>
          </p:cNvCxnSpPr>
          <p:nvPr/>
        </p:nvCxnSpPr>
        <p:spPr>
          <a:xfrm flipH="1">
            <a:off x="361950" y="705105"/>
            <a:ext cx="11635705" cy="0"/>
          </a:xfrm>
          <a:prstGeom prst="line">
            <a:avLst/>
          </a:prstGeom>
          <a:ln w="12700">
            <a:solidFill>
              <a:srgbClr val="90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BB50BEF-22A8-1D1B-B4B5-967BF9CE4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528647"/>
              </p:ext>
            </p:extLst>
          </p:nvPr>
        </p:nvGraphicFramePr>
        <p:xfrm>
          <a:off x="361950" y="834413"/>
          <a:ext cx="11635706" cy="5392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197">
                  <a:extLst>
                    <a:ext uri="{9D8B030D-6E8A-4147-A177-3AD203B41FA5}">
                      <a16:colId xmlns:a16="http://schemas.microsoft.com/office/drawing/2014/main" val="2385126923"/>
                    </a:ext>
                  </a:extLst>
                </a:gridCol>
                <a:gridCol w="1198197">
                  <a:extLst>
                    <a:ext uri="{9D8B030D-6E8A-4147-A177-3AD203B41FA5}">
                      <a16:colId xmlns:a16="http://schemas.microsoft.com/office/drawing/2014/main" val="3092377093"/>
                    </a:ext>
                  </a:extLst>
                </a:gridCol>
                <a:gridCol w="919479">
                  <a:extLst>
                    <a:ext uri="{9D8B030D-6E8A-4147-A177-3AD203B41FA5}">
                      <a16:colId xmlns:a16="http://schemas.microsoft.com/office/drawing/2014/main" val="4077036096"/>
                    </a:ext>
                  </a:extLst>
                </a:gridCol>
                <a:gridCol w="967629">
                  <a:extLst>
                    <a:ext uri="{9D8B030D-6E8A-4147-A177-3AD203B41FA5}">
                      <a16:colId xmlns:a16="http://schemas.microsoft.com/office/drawing/2014/main" val="1195205209"/>
                    </a:ext>
                  </a:extLst>
                </a:gridCol>
                <a:gridCol w="807749">
                  <a:extLst>
                    <a:ext uri="{9D8B030D-6E8A-4147-A177-3AD203B41FA5}">
                      <a16:colId xmlns:a16="http://schemas.microsoft.com/office/drawing/2014/main" val="1333693437"/>
                    </a:ext>
                  </a:extLst>
                </a:gridCol>
                <a:gridCol w="969299">
                  <a:extLst>
                    <a:ext uri="{9D8B030D-6E8A-4147-A177-3AD203B41FA5}">
                      <a16:colId xmlns:a16="http://schemas.microsoft.com/office/drawing/2014/main" val="971064482"/>
                    </a:ext>
                  </a:extLst>
                </a:gridCol>
                <a:gridCol w="967345">
                  <a:extLst>
                    <a:ext uri="{9D8B030D-6E8A-4147-A177-3AD203B41FA5}">
                      <a16:colId xmlns:a16="http://schemas.microsoft.com/office/drawing/2014/main" val="1823116122"/>
                    </a:ext>
                  </a:extLst>
                </a:gridCol>
                <a:gridCol w="875493">
                  <a:extLst>
                    <a:ext uri="{9D8B030D-6E8A-4147-A177-3AD203B41FA5}">
                      <a16:colId xmlns:a16="http://schemas.microsoft.com/office/drawing/2014/main" val="985573772"/>
                    </a:ext>
                  </a:extLst>
                </a:gridCol>
                <a:gridCol w="916233">
                  <a:extLst>
                    <a:ext uri="{9D8B030D-6E8A-4147-A177-3AD203B41FA5}">
                      <a16:colId xmlns:a16="http://schemas.microsoft.com/office/drawing/2014/main" val="2333054391"/>
                    </a:ext>
                  </a:extLst>
                </a:gridCol>
                <a:gridCol w="802569">
                  <a:extLst>
                    <a:ext uri="{9D8B030D-6E8A-4147-A177-3AD203B41FA5}">
                      <a16:colId xmlns:a16="http://schemas.microsoft.com/office/drawing/2014/main" val="34964347"/>
                    </a:ext>
                  </a:extLst>
                </a:gridCol>
                <a:gridCol w="842011">
                  <a:extLst>
                    <a:ext uri="{9D8B030D-6E8A-4147-A177-3AD203B41FA5}">
                      <a16:colId xmlns:a16="http://schemas.microsoft.com/office/drawing/2014/main" val="178873683"/>
                    </a:ext>
                  </a:extLst>
                </a:gridCol>
                <a:gridCol w="1171505">
                  <a:extLst>
                    <a:ext uri="{9D8B030D-6E8A-4147-A177-3AD203B41FA5}">
                      <a16:colId xmlns:a16="http://schemas.microsoft.com/office/drawing/2014/main" val="3219969758"/>
                    </a:ext>
                  </a:extLst>
                </a:gridCol>
              </a:tblGrid>
              <a:tr h="391747">
                <a:tc gridSpan="4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التوريد 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امر الشراء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حالة </a:t>
                      </a:r>
                      <a:r>
                        <a:rPr lang="ar-EG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اعتماد</a:t>
                      </a:r>
                      <a:r>
                        <a:rPr lang="ar-SA" sz="1200" b="0" dirty="0">
                          <a:solidFill>
                            <a:schemeClr val="bg1"/>
                          </a:solidFill>
                          <a:latin typeface="Bahij TheSansArabic SemiBold" panose="02040503050201020203" pitchFamily="18" charset="-78"/>
                          <a:cs typeface="Bahij TheSansArabic SemiBold" panose="02040503050201020203" pitchFamily="18" charset="-78"/>
                        </a:rPr>
                        <a:t> المواد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Bahij TheSansArabic SemiBold" panose="02040503050201020203" pitchFamily="18" charset="-78"/>
                        <a:cs typeface="Bahij TheSansArabic SemiBold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cs typeface="Bahij TheSansArabic ExtraLight" panose="02040503050201020203" pitchFamily="18" charset="-78"/>
                      </a:endParaRPr>
                    </a:p>
                  </a:txBody>
                  <a:tcPr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13098"/>
                  </a:ext>
                </a:extLst>
              </a:tr>
              <a:tr h="472754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Contact Numbers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الفعلي</a:t>
                      </a:r>
                    </a:p>
                    <a:p>
                      <a:pPr marL="0" algn="ctr" defTabSz="914377" rtl="0" eaLnBrk="1" latinLnBrk="0" hangingPunct="1"/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التوريد حسب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  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الفعلي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الاصدار المخطط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الحالة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تاريخ التقديم</a:t>
                      </a:r>
                      <a:r>
                        <a:rPr lang="ar-SA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 الفعلي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التاريخ المخطط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Supplier</a:t>
                      </a: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ar-EG" sz="800" b="1" kern="1200" dirty="0">
                          <a:solidFill>
                            <a:schemeClr val="bg1"/>
                          </a:solidFill>
                          <a:latin typeface="Bahij TheSansArabic ExtraLight" panose="02040503050201020203" pitchFamily="18" charset="-78"/>
                          <a:ea typeface="+mn-ea"/>
                          <a:cs typeface="Bahij TheSansArabic ExtraLight" panose="02040503050201020203" pitchFamily="18" charset="-78"/>
                        </a:rPr>
                        <a:t>البند</a:t>
                      </a:r>
                      <a:endParaRPr lang="en-US" sz="800" b="1" kern="1200" dirty="0">
                        <a:solidFill>
                          <a:schemeClr val="bg1"/>
                        </a:solidFill>
                        <a:latin typeface="Bahij TheSansArabic ExtraLight" panose="02040503050201020203" pitchFamily="18" charset="-78"/>
                        <a:ea typeface="+mn-ea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2F81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4196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17-01-2026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إلكتروستيل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 Pipes</a:t>
                      </a:r>
                    </a:p>
                  </a:txBody>
                  <a:tcPr marL="7620" marR="7620" marT="762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28220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17-02-2026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SPS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AVK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Valves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8327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siemens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Magnetic type flowmeter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777879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Kuhaim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Screening Container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7322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15-Mar-26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الموسى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EG" sz="800" b="1" i="0" dirty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الجزيرة</a:t>
                      </a:r>
                      <a:r>
                        <a:rPr lang="ar-EG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EG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SUBMERSIBLE PUMPS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71828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Bahij TheSansArabic ExtraLight" panose="02040503050201020203" pitchFamily="18" charset="-78"/>
                          <a:ea typeface="Cambria" panose="02040503050406030204" pitchFamily="18" charset="0"/>
                          <a:cs typeface="Bahij TheSansArabic ExtraLight" panose="02040503050201020203" pitchFamily="18" charset="-78"/>
                        </a:rPr>
                        <a:t>Code c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1-Apr-26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EEC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Surge Tank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40229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B05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12-Mar-26</a:t>
                      </a: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Alkuhaim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Screens</a:t>
                      </a:r>
                    </a:p>
                  </a:txBody>
                  <a:tcPr marL="7620" marR="7620" marT="7620" marB="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1276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9-Apr-26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Alkuhaim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Isolation Penstock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89404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1-03-2026</a:t>
                      </a: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800" b="1" i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الميمنة </a:t>
                      </a:r>
                      <a:r>
                        <a:rPr lang="ar-SA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SA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Odors scrubbing system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98963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16/Mar/26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Etihad cranes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JIB Crane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3069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800" b="1" i="0">
                          <a:solidFill>
                            <a:srgbClr val="0A2C52"/>
                          </a:solidFill>
                          <a:effectLst/>
                          <a:cs typeface="Cambria" panose="02040503050406030204" pitchFamily="18" charset="0"/>
                        </a:rPr>
                        <a:t>الوسائل</a:t>
                      </a:r>
                      <a:r>
                        <a:rPr lang="ar-SA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ar-SA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Scupper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85315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sffeco</a:t>
                      </a:r>
                      <a:r>
                        <a:rPr lang="en-US" sz="800" b="0" i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Fire extinguishers</a:t>
                      </a:r>
                    </a:p>
                  </a:txBody>
                  <a:tcPr marL="7620" marR="7620" marT="762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322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en-US" sz="800" b="1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Al Zamil</a:t>
                      </a:r>
                      <a:r>
                        <a:rPr lang="en-US" sz="800" b="0" i="0" dirty="0">
                          <a:solidFill>
                            <a:srgbClr val="0A2C52"/>
                          </a:solidFill>
                          <a:effectLst/>
                          <a:latin typeface="Cambria" panose="020405030504060302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wall mounted Split/AC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42701"/>
                  </a:ext>
                </a:extLst>
              </a:tr>
              <a:tr h="323429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Bahij TheSansArabic ExtraLight" panose="02040503050201020203" pitchFamily="18" charset="-78"/>
                        <a:ea typeface="Cambria" panose="02040503050406030204" pitchFamily="18" charset="0"/>
                        <a:cs typeface="Bahij TheSansArabic ExtraLight" panose="02040503050201020203" pitchFamily="18" charset="-78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A2C52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noProof="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Approved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3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</a:rPr>
                        <a:t>/May/26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675"/>
                        </a:lnSpc>
                        <a:buNone/>
                      </a:pPr>
                      <a:r>
                        <a:rPr lang="ar-SA" sz="1200" b="0" i="0" dirty="0">
                          <a:solidFill>
                            <a:srgbClr val="0A2C52"/>
                          </a:solidFill>
                          <a:effectLst/>
                        </a:rPr>
                        <a:t>العالمية</a:t>
                      </a:r>
                      <a:endParaRPr lang="en-US" sz="1200" b="0" i="0" dirty="0">
                        <a:solidFill>
                          <a:srgbClr val="0A2C52"/>
                        </a:solidFill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Fire Alarm system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5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26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FBC5-C1AF-2490-FF29-33056E60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4BF9C8-0478-13B1-47B7-69F42CDAC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26310"/>
              </p:ext>
            </p:extLst>
          </p:nvPr>
        </p:nvGraphicFramePr>
        <p:xfrm>
          <a:off x="2959598" y="725696"/>
          <a:ext cx="5695117" cy="4832890"/>
        </p:xfrm>
        <a:graphic>
          <a:graphicData uri="http://schemas.openxmlformats.org/drawingml/2006/table">
            <a:tbl>
              <a:tblPr rtl="1"/>
              <a:tblGrid>
                <a:gridCol w="1624784">
                  <a:extLst>
                    <a:ext uri="{9D8B030D-6E8A-4147-A177-3AD203B41FA5}">
                      <a16:colId xmlns:a16="http://schemas.microsoft.com/office/drawing/2014/main" val="529105469"/>
                    </a:ext>
                  </a:extLst>
                </a:gridCol>
                <a:gridCol w="988270">
                  <a:extLst>
                    <a:ext uri="{9D8B030D-6E8A-4147-A177-3AD203B41FA5}">
                      <a16:colId xmlns:a16="http://schemas.microsoft.com/office/drawing/2014/main" val="1950322392"/>
                    </a:ext>
                  </a:extLst>
                </a:gridCol>
                <a:gridCol w="938019">
                  <a:extLst>
                    <a:ext uri="{9D8B030D-6E8A-4147-A177-3AD203B41FA5}">
                      <a16:colId xmlns:a16="http://schemas.microsoft.com/office/drawing/2014/main" val="2895414595"/>
                    </a:ext>
                  </a:extLst>
                </a:gridCol>
                <a:gridCol w="1122273">
                  <a:extLst>
                    <a:ext uri="{9D8B030D-6E8A-4147-A177-3AD203B41FA5}">
                      <a16:colId xmlns:a16="http://schemas.microsoft.com/office/drawing/2014/main" val="404251285"/>
                    </a:ext>
                  </a:extLst>
                </a:gridCol>
                <a:gridCol w="1021771">
                  <a:extLst>
                    <a:ext uri="{9D8B030D-6E8A-4147-A177-3AD203B41FA5}">
                      <a16:colId xmlns:a16="http://schemas.microsoft.com/office/drawing/2014/main" val="2935852438"/>
                    </a:ext>
                  </a:extLst>
                </a:gridCol>
              </a:tblGrid>
              <a:tr h="48328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البند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الكلية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المورده 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الكمية المتبقية</a:t>
                      </a:r>
                      <a:b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(م.ط)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نسبة التوريد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94317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تصريف مياة السيول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50,642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43,030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7,612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906922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الصرف الصحي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22,580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22,306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274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328959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المياة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31,687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31,000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687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992232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شبكة الري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35,747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34,944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803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678089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اعمال الجهد المتوسط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131,104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131,104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37039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أعمال انارة الطرق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67,945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67,945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645971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أعمال شبكة الاتصالات 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53,637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53,637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414643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البردورات مسبقة الصب - متر طولي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130,589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130,589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695726"/>
                  </a:ext>
                </a:extLst>
              </a:tr>
              <a:tr h="48328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انترلوك - متر مربع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42,347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   42,347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073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35B1AD-3D50-9EDD-9161-75149D3F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70008"/>
              </p:ext>
            </p:extLst>
          </p:nvPr>
        </p:nvGraphicFramePr>
        <p:xfrm>
          <a:off x="473074" y="150418"/>
          <a:ext cx="110299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2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Procurement 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41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7483F8-6F79-E7F4-CC90-221157F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51713"/>
              </p:ext>
            </p:extLst>
          </p:nvPr>
        </p:nvGraphicFramePr>
        <p:xfrm>
          <a:off x="267059" y="150418"/>
          <a:ext cx="112359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5967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BOQ Breakdown &amp; Work Status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35F95-3B78-B374-9070-DD8BEDF00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466992"/>
              </p:ext>
            </p:extLst>
          </p:nvPr>
        </p:nvGraphicFramePr>
        <p:xfrm>
          <a:off x="5366083" y="589339"/>
          <a:ext cx="6136942" cy="5274056"/>
        </p:xfrm>
        <a:graphic>
          <a:graphicData uri="http://schemas.openxmlformats.org/drawingml/2006/table">
            <a:tbl>
              <a:tblPr rtl="1"/>
              <a:tblGrid>
                <a:gridCol w="1455459">
                  <a:extLst>
                    <a:ext uri="{9D8B030D-6E8A-4147-A177-3AD203B41FA5}">
                      <a16:colId xmlns:a16="http://schemas.microsoft.com/office/drawing/2014/main" val="1846225010"/>
                    </a:ext>
                  </a:extLst>
                </a:gridCol>
                <a:gridCol w="885281">
                  <a:extLst>
                    <a:ext uri="{9D8B030D-6E8A-4147-A177-3AD203B41FA5}">
                      <a16:colId xmlns:a16="http://schemas.microsoft.com/office/drawing/2014/main" val="2902514429"/>
                    </a:ext>
                  </a:extLst>
                </a:gridCol>
                <a:gridCol w="840266">
                  <a:extLst>
                    <a:ext uri="{9D8B030D-6E8A-4147-A177-3AD203B41FA5}">
                      <a16:colId xmlns:a16="http://schemas.microsoft.com/office/drawing/2014/main" val="1353577028"/>
                    </a:ext>
                  </a:extLst>
                </a:gridCol>
                <a:gridCol w="1005318">
                  <a:extLst>
                    <a:ext uri="{9D8B030D-6E8A-4147-A177-3AD203B41FA5}">
                      <a16:colId xmlns:a16="http://schemas.microsoft.com/office/drawing/2014/main" val="1747857612"/>
                    </a:ext>
                  </a:extLst>
                </a:gridCol>
                <a:gridCol w="915291">
                  <a:extLst>
                    <a:ext uri="{9D8B030D-6E8A-4147-A177-3AD203B41FA5}">
                      <a16:colId xmlns:a16="http://schemas.microsoft.com/office/drawing/2014/main" val="3760190979"/>
                    </a:ext>
                  </a:extLst>
                </a:gridCol>
                <a:gridCol w="1035327">
                  <a:extLst>
                    <a:ext uri="{9D8B030D-6E8A-4147-A177-3AD203B41FA5}">
                      <a16:colId xmlns:a16="http://schemas.microsoft.com/office/drawing/2014/main" val="3042211142"/>
                    </a:ext>
                  </a:extLst>
                </a:gridCol>
              </a:tblGrid>
              <a:tr h="308167">
                <a:tc gridSpan="6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نطاق المشروع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17557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البند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وحدة القياس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الكلية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المنفذة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الكمية المتبقية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TheSansArabic Plain"/>
                        </a:rPr>
                        <a:t>النسبة المنفذة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447355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القطع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4,319,104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3,676,360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642,743.62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657183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الردم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3,811,986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3,426,403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385,583.00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89.88%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3643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القاعدة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232,143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119,143.00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48.68%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495671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الاساس الحصوية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145,809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112,809.00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22.63%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51242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طبقة الأسفلت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86,559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6,946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79,612.78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8.02%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495688"/>
                  </a:ext>
                </a:extLst>
              </a:tr>
              <a:tr h="270012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تصريف السيول والأمطار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50,642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30,786.00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19,856.00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24732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اعمال الجهد المتوسط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131,104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130,754.00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88408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اعمال الجهد المنخفض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24,579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24,259.00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329336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انارة الطرق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67,945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67,765.00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138078"/>
                  </a:ext>
                </a:extLst>
              </a:tr>
              <a:tr h="381539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أعمال شبكة الاتصالات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53,637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53,435.92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82017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مياه الشرب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31,687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3,500.00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28,186.79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14289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المياه المعالجة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35,746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3,000.00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32,746.00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8.39%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324268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شبكة الصرف الصحي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11,468.00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11,111.00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919440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البردورات مسبقة الصب - متر طولي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130,589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130,589.30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51345"/>
                  </a:ext>
                </a:extLst>
              </a:tr>
              <a:tr h="308167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انترلوك - متر مربع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م2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42,347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42,346.96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3953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EE193D-F443-B2DD-0573-7CF3D439C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22176"/>
              </p:ext>
            </p:extLst>
          </p:nvPr>
        </p:nvGraphicFramePr>
        <p:xfrm>
          <a:off x="267059" y="593141"/>
          <a:ext cx="4970687" cy="5274056"/>
        </p:xfrm>
        <a:graphic>
          <a:graphicData uri="http://schemas.openxmlformats.org/drawingml/2006/table">
            <a:tbl>
              <a:tblPr rtl="1"/>
              <a:tblGrid>
                <a:gridCol w="1488122">
                  <a:extLst>
                    <a:ext uri="{9D8B030D-6E8A-4147-A177-3AD203B41FA5}">
                      <a16:colId xmlns:a16="http://schemas.microsoft.com/office/drawing/2014/main" val="718562495"/>
                    </a:ext>
                  </a:extLst>
                </a:gridCol>
                <a:gridCol w="1028063">
                  <a:extLst>
                    <a:ext uri="{9D8B030D-6E8A-4147-A177-3AD203B41FA5}">
                      <a16:colId xmlns:a16="http://schemas.microsoft.com/office/drawing/2014/main" val="30570356"/>
                    </a:ext>
                  </a:extLst>
                </a:gridCol>
                <a:gridCol w="1002362">
                  <a:extLst>
                    <a:ext uri="{9D8B030D-6E8A-4147-A177-3AD203B41FA5}">
                      <a16:colId xmlns:a16="http://schemas.microsoft.com/office/drawing/2014/main" val="3737912566"/>
                    </a:ext>
                  </a:extLst>
                </a:gridCol>
                <a:gridCol w="745346">
                  <a:extLst>
                    <a:ext uri="{9D8B030D-6E8A-4147-A177-3AD203B41FA5}">
                      <a16:colId xmlns:a16="http://schemas.microsoft.com/office/drawing/2014/main" val="641629418"/>
                    </a:ext>
                  </a:extLst>
                </a:gridCol>
                <a:gridCol w="706794">
                  <a:extLst>
                    <a:ext uri="{9D8B030D-6E8A-4147-A177-3AD203B41FA5}">
                      <a16:colId xmlns:a16="http://schemas.microsoft.com/office/drawing/2014/main" val="2039427542"/>
                    </a:ext>
                  </a:extLst>
                </a:gridCol>
              </a:tblGrid>
              <a:tr h="53356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مكونات المشروع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التكلفة للعقد الاصلي</a:t>
                      </a:r>
                      <a:b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(غير شامل ضريبة القيمة المضافة)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التكلفة للجدول المعدل</a:t>
                      </a:r>
                      <a:b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(غير شامل ضريبة القيمة المضافة)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النسبة الاجمالية للعقد الاصلي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النسبة الاجمالية للجدول المعدل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329288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1: أعمال الطرق والموقع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214,146,361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178,679,223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47.76%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0728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2: شبكة الأعمال الكهربائية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56,351,312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43,566,842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535400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2.1: شبكة الاتصالات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7,193,516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6,752,613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0119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2.2: شبكة تكنولوجيا المعلومات والاتصال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4,961,839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4,618,743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10840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2.3: شبكة الحماية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14,177,664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13,843,241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35349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3: شبكة مياه الشرب ومكافحة الحريق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11,173,893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11,756,911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91989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4: شبكة مياه الري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10,509,815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10,684,344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75296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5: شبكة الصرف الصحي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16,705,088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11,843,173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84601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6: شبكة صرف مياه الأمطار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60,313,799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68,401,690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14445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الجدول رقم 7: المباني والخدمات  والانفاق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49,466,713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23,976,881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88252"/>
                  </a:ext>
                </a:extLst>
              </a:tr>
              <a:tr h="43095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r-S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الاجمالي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445,000,000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374,123,662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6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25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6766A8-FBC6-6B2A-A15C-157F560C5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0240"/>
              </p:ext>
            </p:extLst>
          </p:nvPr>
        </p:nvGraphicFramePr>
        <p:xfrm>
          <a:off x="473074" y="762794"/>
          <a:ext cx="11029952" cy="3182800"/>
        </p:xfrm>
        <a:graphic>
          <a:graphicData uri="http://schemas.openxmlformats.org/drawingml/2006/table">
            <a:tbl>
              <a:tblPr/>
              <a:tblGrid>
                <a:gridCol w="4889505">
                  <a:extLst>
                    <a:ext uri="{9D8B030D-6E8A-4147-A177-3AD203B41FA5}">
                      <a16:colId xmlns:a16="http://schemas.microsoft.com/office/drawing/2014/main" val="1556484377"/>
                    </a:ext>
                  </a:extLst>
                </a:gridCol>
                <a:gridCol w="2838679">
                  <a:extLst>
                    <a:ext uri="{9D8B030D-6E8A-4147-A177-3AD203B41FA5}">
                      <a16:colId xmlns:a16="http://schemas.microsoft.com/office/drawing/2014/main" val="1141745097"/>
                    </a:ext>
                  </a:extLst>
                </a:gridCol>
                <a:gridCol w="3301768">
                  <a:extLst>
                    <a:ext uri="{9D8B030D-6E8A-4147-A177-3AD203B41FA5}">
                      <a16:colId xmlns:a16="http://schemas.microsoft.com/office/drawing/2014/main" val="382221840"/>
                    </a:ext>
                  </a:extLst>
                </a:gridCol>
              </a:tblGrid>
              <a:tr h="288848">
                <a:tc gridSpan="3">
                  <a:txBody>
                    <a:bodyPr/>
                    <a:lstStyle/>
                    <a:p>
                      <a:pPr algn="ctr" rtl="1" fontAlgn="ctr"/>
                      <a:r>
                        <a:rPr lang="ar-SA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معالم البرنامج الزمني</a:t>
                      </a:r>
                    </a:p>
                  </a:txBody>
                  <a:tcPr marL="9418" marR="9418" marT="94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05163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البند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التاريخ حسب الجدول الزمني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ar-SA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ملاحظة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158480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Mobilization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29-Dec-2025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finished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82438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Submittal and Approval of Baseline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29-Dec-2025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Approved- Revision -06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00841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Submittal and approval of Shop Drawing and Materials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28-Jan-2026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Completion 30-June-2026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24341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Material Delivery on Site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28-Feb-2026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512468"/>
                  </a:ext>
                </a:extLst>
              </a:tr>
              <a:tr h="288849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MV and Road 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30-Sep-2026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Going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264602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Deep Networks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30-May-2027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29113"/>
                  </a:ext>
                </a:extLst>
              </a:tr>
              <a:tr h="288848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All Networks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30-Nov-2027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322372"/>
                  </a:ext>
                </a:extLst>
              </a:tr>
              <a:tr h="271793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all Works including Testing &amp; Commissioning, Cleanup, Closeout Documentation and Ready for Initial Handover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30-May-2028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92600"/>
                  </a:ext>
                </a:extLst>
              </a:tr>
              <a:tr h="299429"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Demobilization &amp; PAC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30-May-2028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Started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609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AF7C4A-3F03-40DA-DB74-604EEF374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123780"/>
              </p:ext>
            </p:extLst>
          </p:nvPr>
        </p:nvGraphicFramePr>
        <p:xfrm>
          <a:off x="473074" y="391953"/>
          <a:ext cx="110299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9952">
                  <a:extLst>
                    <a:ext uri="{9D8B030D-6E8A-4147-A177-3AD203B41FA5}">
                      <a16:colId xmlns:a16="http://schemas.microsoft.com/office/drawing/2014/main" val="3987264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Project Progress Overview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963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DFD9-7E5B-E75C-B32D-1FD84BFF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FC18E9-74A1-6286-8F1C-DFAAC82B82E0}"/>
              </a:ext>
            </a:extLst>
          </p:cNvPr>
          <p:cNvGraphicFramePr>
            <a:graphicFrameLocks noGrp="1"/>
          </p:cNvGraphicFramePr>
          <p:nvPr/>
        </p:nvGraphicFramePr>
        <p:xfrm>
          <a:off x="2477000" y="70472"/>
          <a:ext cx="6938211" cy="449580"/>
        </p:xfrm>
        <a:graphic>
          <a:graphicData uri="http://schemas.openxmlformats.org/drawingml/2006/table">
            <a:tbl>
              <a:tblPr/>
              <a:tblGrid>
                <a:gridCol w="6938211">
                  <a:extLst>
                    <a:ext uri="{9D8B030D-6E8A-4147-A177-3AD203B41FA5}">
                      <a16:colId xmlns:a16="http://schemas.microsoft.com/office/drawing/2014/main" val="36160044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Look Ahead Plan for May 2026-RHD4-02-002-</a:t>
                      </a:r>
                      <a:r>
                        <a:rPr lang="ar-SA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heSansArabic Plain"/>
                        </a:rPr>
                        <a:t>إنشاء شبكات البنية التحتية بالمدينة الصناعية الرابعة بالرياض</a:t>
                      </a:r>
                      <a:endParaRPr lang="ar-S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7656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213BE2-D266-D0E4-8A0C-C3767F2BF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321826"/>
              </p:ext>
            </p:extLst>
          </p:nvPr>
        </p:nvGraphicFramePr>
        <p:xfrm>
          <a:off x="0" y="520052"/>
          <a:ext cx="12101384" cy="4732824"/>
        </p:xfrm>
        <a:graphic>
          <a:graphicData uri="http://schemas.openxmlformats.org/drawingml/2006/table">
            <a:tbl>
              <a:tblPr/>
              <a:tblGrid>
                <a:gridCol w="2866768">
                  <a:extLst>
                    <a:ext uri="{9D8B030D-6E8A-4147-A177-3AD203B41FA5}">
                      <a16:colId xmlns:a16="http://schemas.microsoft.com/office/drawing/2014/main" val="4081184532"/>
                    </a:ext>
                  </a:extLst>
                </a:gridCol>
                <a:gridCol w="2974215">
                  <a:extLst>
                    <a:ext uri="{9D8B030D-6E8A-4147-A177-3AD203B41FA5}">
                      <a16:colId xmlns:a16="http://schemas.microsoft.com/office/drawing/2014/main" val="3111691662"/>
                    </a:ext>
                  </a:extLst>
                </a:gridCol>
                <a:gridCol w="3053102">
                  <a:extLst>
                    <a:ext uri="{9D8B030D-6E8A-4147-A177-3AD203B41FA5}">
                      <a16:colId xmlns:a16="http://schemas.microsoft.com/office/drawing/2014/main" val="1882102560"/>
                    </a:ext>
                  </a:extLst>
                </a:gridCol>
                <a:gridCol w="3207299">
                  <a:extLst>
                    <a:ext uri="{9D8B030D-6E8A-4147-A177-3AD203B41FA5}">
                      <a16:colId xmlns:a16="http://schemas.microsoft.com/office/drawing/2014/main" val="2024325625"/>
                    </a:ext>
                  </a:extLst>
                </a:gridCol>
              </a:tblGrid>
              <a:tr h="216487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 2026- Look Ahead plan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40776279"/>
                  </a:ext>
                </a:extLst>
              </a:tr>
              <a:tr h="5135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1 (0</a:t>
                      </a:r>
                      <a:r>
                        <a:rPr lang="ar-EG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26 - 0</a:t>
                      </a:r>
                      <a:r>
                        <a:rPr lang="ar-EG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2 (8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26 - 15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3 (16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26 - 23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 4 (24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26 - 30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August</a:t>
                      </a: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26)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50029"/>
                  </a:ext>
                </a:extLst>
              </a:tr>
              <a:tr h="411116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24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الاعمال الترابية واعمال الطرق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10640"/>
                  </a:ext>
                </a:extLst>
              </a:tr>
              <a:tr h="64188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Subgrade 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 &amp;6 ) 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القطع والردم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(Zone 4 &amp; E)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02529"/>
                  </a:ext>
                </a:extLst>
              </a:tr>
              <a:tr h="51934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أعمال إزالة المخلفات في منطقة 7 </a:t>
                      </a:r>
                    </a:p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ااعمال القطع والردم (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E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 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4) 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اعمال الدمك الميكانيكي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noProof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الدمك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(Zone 1 , 2,3)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234694"/>
                  </a:ext>
                </a:extLst>
              </a:tr>
              <a:tr h="386039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kumimoji="0" lang="ar-SA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اعمال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 </a:t>
                      </a:r>
                      <a:r>
                        <a:rPr kumimoji="0" lang="ar-SA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E7E6E6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TheSansArabic Plain"/>
                          <a:ea typeface="+mn-ea"/>
                        </a:rPr>
                        <a:t>الشبكات</a:t>
                      </a:r>
                      <a:endParaRPr lang="ar-SA" sz="24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36780155"/>
                  </a:ext>
                </a:extLst>
              </a:tr>
              <a:tr h="52045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حفر وتركيب الشبكات الصرف والسيول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5,6,4 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 حفر وتركيب شبكات المياه والرى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algn="ctr"/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  حفر وتركيب الشبكات </a:t>
                      </a: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الصرف والسيول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 </a:t>
                      </a: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Zone 5,6,4 </a:t>
                      </a: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حفر وتركيب شبكات المياه والرى </a:t>
                      </a:r>
                      <a: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Zone 5,6</a:t>
                      </a: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3207"/>
                  </a:ext>
                </a:extLst>
              </a:tr>
              <a:tr h="520455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SA" sz="24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الاعمال الانشائية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011000"/>
                  </a:ext>
                </a:extLst>
              </a:tr>
              <a:tr h="840131">
                <a:tc>
                  <a:txBody>
                    <a:bodyPr/>
                    <a:lstStyle/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   اعمال حدادة حوائط النفق جزء 1</a:t>
                      </a:r>
                      <a:b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1-4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377" rtl="1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algn="r" rtl="1" fontAlgn="ctr">
                        <a:buNone/>
                      </a:pP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3-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5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-6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  <a:t>اعمال صب حوائط النفق جزء 1</a:t>
                      </a:r>
                      <a:br>
                        <a:rPr lang="en-US" sz="10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النفق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b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رقم 2 </a:t>
                      </a:r>
                      <a:b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اعمال حدادة تسليح قاعدة والجدران للعبارات</a:t>
                      </a:r>
                      <a:r>
                        <a:rPr lang="en-US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 </a:t>
                      </a:r>
                      <a:endParaRPr lang="ar-SA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ar-SA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قاعدة النفق </a:t>
                      </a:r>
                      <a:b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صب خرسانة 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ا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لعبارات ( رقم7</a:t>
                      </a:r>
                      <a:r>
                        <a:rPr lang="ar-EG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-</a:t>
                      </a:r>
                      <a: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  <a:t> 9)</a:t>
                      </a:r>
                    </a:p>
                    <a:p>
                      <a:pPr algn="ctr" fontAlgn="ctr">
                        <a:buNone/>
                      </a:pPr>
                      <a:br>
                        <a:rPr lang="ar-SA" sz="1000" b="0" i="0" u="none" strike="noStrike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heSansArabic Plain"/>
                          <a:ea typeface="+mn-ea"/>
                          <a:cs typeface="+mn-cs"/>
                        </a:rPr>
                      </a:br>
                      <a:endParaRPr lang="en-US" sz="1000" b="0" i="0" u="none" strike="noStrike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23580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017496-B5CD-204D-91D3-B1BCE23EF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83030"/>
              </p:ext>
            </p:extLst>
          </p:nvPr>
        </p:nvGraphicFramePr>
        <p:xfrm>
          <a:off x="2319337" y="5384645"/>
          <a:ext cx="7553324" cy="1691640"/>
        </p:xfrm>
        <a:graphic>
          <a:graphicData uri="http://schemas.openxmlformats.org/drawingml/2006/table">
            <a:tbl>
              <a:tblPr/>
              <a:tblGrid>
                <a:gridCol w="2723088">
                  <a:extLst>
                    <a:ext uri="{9D8B030D-6E8A-4147-A177-3AD203B41FA5}">
                      <a16:colId xmlns:a16="http://schemas.microsoft.com/office/drawing/2014/main" val="2245194282"/>
                    </a:ext>
                  </a:extLst>
                </a:gridCol>
                <a:gridCol w="1718138">
                  <a:extLst>
                    <a:ext uri="{9D8B030D-6E8A-4147-A177-3AD203B41FA5}">
                      <a16:colId xmlns:a16="http://schemas.microsoft.com/office/drawing/2014/main" val="4216476854"/>
                    </a:ext>
                  </a:extLst>
                </a:gridCol>
                <a:gridCol w="1556049">
                  <a:extLst>
                    <a:ext uri="{9D8B030D-6E8A-4147-A177-3AD203B41FA5}">
                      <a16:colId xmlns:a16="http://schemas.microsoft.com/office/drawing/2014/main" val="616250044"/>
                    </a:ext>
                  </a:extLst>
                </a:gridCol>
                <a:gridCol w="1556049">
                  <a:extLst>
                    <a:ext uri="{9D8B030D-6E8A-4147-A177-3AD203B41FA5}">
                      <a16:colId xmlns:a16="http://schemas.microsoft.com/office/drawing/2014/main" val="3169514224"/>
                    </a:ext>
                  </a:extLst>
                </a:gridCol>
              </a:tblGrid>
              <a:tr h="350520">
                <a:tc gridSpan="4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June 2026- Look Ahead plan for Engineering &amp; Procurements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8799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10227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20548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>
                        <a:solidFill>
                          <a:srgbClr val="BC8F00"/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84106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r" rtl="1" fontAlgn="ctr">
                        <a:buNone/>
                      </a:pPr>
                      <a:endParaRPr lang="en-US" sz="1000" b="0" i="0" u="none" strike="noStrike" dirty="0">
                        <a:solidFill>
                          <a:srgbClr val="BC8F00"/>
                        </a:solidFill>
                        <a:effectLst/>
                        <a:latin typeface="TheSansArabic Plai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3029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764247"/>
                  </a:ext>
                </a:extLst>
              </a:tr>
            </a:tbl>
          </a:graphicData>
        </a:graphic>
      </p:graphicFrame>
      <p:sp>
        <p:nvSpPr>
          <p:cNvPr id="7" name="TextBox 1">
            <a:extLst>
              <a:ext uri="{FF2B5EF4-FFF2-40B4-BE49-F238E27FC236}">
                <a16:creationId xmlns:a16="http://schemas.microsoft.com/office/drawing/2014/main" id="{4030C4D4-D61D-8CFC-4B76-368B7D779E21}"/>
              </a:ext>
            </a:extLst>
          </p:cNvPr>
          <p:cNvSpPr txBox="1"/>
          <p:nvPr/>
        </p:nvSpPr>
        <p:spPr>
          <a:xfrm>
            <a:off x="5310188" y="26489025"/>
            <a:ext cx="2819400" cy="12763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9pPr>
          </a:lstStyle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تقديم جميع المخططات التنفيذية للشبكات ( صرف – سيول – مياه – ري ).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استكمال اعتماد باقي المواد الخاصة بالشبكات.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أعمال المستودع.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من أعمال المختبر.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EG" sz="1100" b="0" i="0" u="none" strike="noStrike" kern="1200" cap="none" spc="0" normalizeH="0" baseline="0" noProof="0">
                <a:ln>
                  <a:noFill/>
                </a:ln>
                <a:solidFill>
                  <a:srgbClr val="BC8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اختيار مقاول واستشاري لتنفيذ أعمال شبكة الجهد المتوسط.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4030C4D4-D61D-8CFC-4B76-368B7D779E21}"/>
              </a:ext>
            </a:extLst>
          </p:cNvPr>
          <p:cNvSpPr txBox="1"/>
          <p:nvPr/>
        </p:nvSpPr>
        <p:spPr>
          <a:xfrm>
            <a:off x="2908882" y="5907061"/>
            <a:ext cx="5464845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rgbClr val="0A2C52"/>
                </a:solidFill>
                <a:latin typeface="Gotham"/>
                <a:ea typeface="+mn-ea"/>
                <a:cs typeface="TheSansArabic Plain"/>
              </a:defRPr>
            </a:lvl9pPr>
          </a:lstStyle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) </a:t>
            </a:r>
            <a:r>
              <a:rPr kumimoji="0" lang="ar-EG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الانتهاء </a:t>
            </a:r>
            <a:r>
              <a:rPr kumimoji="0" lang="ar-EG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من تقديم جميع المخططات التنفيذية للشبكات ( صرف – سيول – مياه – ري ).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ar-SA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توريد مواد الشبكات ومناهل الصرف الصحي والسيول و مصائد الامطار ( 4 &amp;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t> (Zone 5 &amp;6</a:t>
            </a:r>
            <a:endParaRPr kumimoji="0" lang="ar-EG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3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C0260E6F-56C2-B54D-8B32-32D5088DBF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20665" y="5499600"/>
            <a:ext cx="9701299" cy="332399"/>
          </a:xfrm>
        </p:spPr>
        <p:txBody>
          <a:bodyPr>
            <a:noAutofit/>
          </a:bodyPr>
          <a:lstStyle/>
          <a:p>
            <a:pPr algn="r" rtl="1"/>
            <a:r>
              <a:rPr lang="ar-SA" sz="6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شكرًا</a:t>
            </a:r>
            <a:endParaRPr lang="en-US" sz="6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BJPseudoFooter">
            <a:extLst>
              <a:ext uri="{FF2B5EF4-FFF2-40B4-BE49-F238E27FC236}">
                <a16:creationId xmlns:a16="http://schemas.microsoft.com/office/drawing/2014/main" id="{4A4AD4C6-C33D-43E2-9B4F-994B8BC3F79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6611779"/>
            <a:ext cx="1281120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93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INTELLIGENT_ELEMENT" val="{Nam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heme/theme1.xml><?xml version="1.0" encoding="utf-8"?>
<a:theme xmlns:a="http://schemas.openxmlformats.org/drawingml/2006/main" name="MODON Theme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Custom 1">
      <a:majorFont>
        <a:latin typeface="Gotham"/>
        <a:ea typeface=""/>
        <a:cs typeface="TheSansArabic SemiBold"/>
      </a:majorFont>
      <a:minorFont>
        <a:latin typeface="Gotham"/>
        <a:ea typeface=""/>
        <a:cs typeface="TheSansArabic Pla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f6d1ab2-6913-4946-9b6b-06be7c1a9017" origin="userSelected">
  <element uid="64a78ead-36fc-4674-8581-d2b7639be2f4" value=""/>
</sisl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BBD6F290E85A4D89AFFB9565B2450B" ma:contentTypeVersion="11" ma:contentTypeDescription="Crée un document." ma:contentTypeScope="" ma:versionID="1e694cbeefe3277ac24fd970a9ac5204">
  <xsd:schema xmlns:xsd="http://www.w3.org/2001/XMLSchema" xmlns:xs="http://www.w3.org/2001/XMLSchema" xmlns:p="http://schemas.microsoft.com/office/2006/metadata/properties" xmlns:ns3="8a234c14-525a-4654-afa5-b8a39ba7425b" targetNamespace="http://schemas.microsoft.com/office/2006/metadata/properties" ma:root="true" ma:fieldsID="44d84b88a52b106245fddedfa868886f" ns3:_="">
    <xsd:import namespace="8a234c14-525a-4654-afa5-b8a39ba742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34c14-525a-4654-afa5-b8a39ba742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234c14-525a-4654-afa5-b8a39ba7425b" xsi:nil="true"/>
  </documentManagement>
</p:properties>
</file>

<file path=customXml/itemProps1.xml><?xml version="1.0" encoding="utf-8"?>
<ds:datastoreItem xmlns:ds="http://schemas.openxmlformats.org/officeDocument/2006/customXml" ds:itemID="{65027DFA-5207-44C2-8775-D21544C6767F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37DC311C-EF15-439F-8E19-A026BAFE16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234c14-525a-4654-afa5-b8a39ba742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66D4A5-A147-438A-AC91-E0A07B4B227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0ABB745-D132-4E46-87E5-8792908129D4}">
  <ds:schemaRefs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8a234c14-525a-4654-afa5-b8a39ba7425b"/>
    <ds:schemaRef ds:uri="http://purl.org/dc/dcmitype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Executives</Template>
  <TotalTime>79543</TotalTime>
  <Words>2574</Words>
  <Application>Microsoft Office PowerPoint</Application>
  <PresentationFormat>Widescreen</PresentationFormat>
  <Paragraphs>1125</Paragraphs>
  <Slides>16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Aptos</vt:lpstr>
      <vt:lpstr>Aptos Narrow</vt:lpstr>
      <vt:lpstr>Arial</vt:lpstr>
      <vt:lpstr>Bahij TheSansArabic ExtraLight</vt:lpstr>
      <vt:lpstr>Bahij TheSansArabic SemiBold</vt:lpstr>
      <vt:lpstr>Calibri</vt:lpstr>
      <vt:lpstr>Cambria</vt:lpstr>
      <vt:lpstr>Gotham</vt:lpstr>
      <vt:lpstr>Gotham Medium</vt:lpstr>
      <vt:lpstr>TheSansArab Plain</vt:lpstr>
      <vt:lpstr>TheSansArabic Plain</vt:lpstr>
      <vt:lpstr>TheSansArabic SemiLight</vt:lpstr>
      <vt:lpstr>MODON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شكرًا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Alhusaini, Khalid</dc:creator>
  <cp:keywords>Confidential | مقيّد</cp:keywords>
  <dc:description/>
  <cp:lastModifiedBy>Abdallah Galal Hosny Hafiz</cp:lastModifiedBy>
  <cp:revision>2418</cp:revision>
  <cp:lastPrinted>2025-05-13T12:24:02Z</cp:lastPrinted>
  <dcterms:created xsi:type="dcterms:W3CDTF">2019-08-25T08:30:33Z</dcterms:created>
  <dcterms:modified xsi:type="dcterms:W3CDTF">2026-10-21T08:32:07Z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0x01010018BBD6F290E85A4D89AFFB9565B2450B</vt:lpwstr>
  </property>
  <property fmtid="{D5CDD505-2E9C-101B-9397-08002B2CF9AE}" pid="3" name="MSIP_Label_5c1e7834-6be8-4780-ac5e-8408bbf8216f_Enabled">
    <vt:lpwstr>True</vt:lpwstr>
  </property>
  <property fmtid="{D5CDD505-2E9C-101B-9397-08002B2CF9AE}" pid="4" name="MSIP_Label_5c1e7834-6be8-4780-ac5e-8408bbf8216f_SiteId">
    <vt:lpwstr>8d088ff8-7e52-4d0f-8187-dcd9ca37815a</vt:lpwstr>
  </property>
  <property fmtid="{D5CDD505-2E9C-101B-9397-08002B2CF9AE}" pid="5" name="MSIP_Label_5c1e7834-6be8-4780-ac5e-8408bbf8216f_Owner">
    <vt:lpwstr>p002324B@parsons.com</vt:lpwstr>
  </property>
  <property fmtid="{D5CDD505-2E9C-101B-9397-08002B2CF9AE}" pid="6" name="MSIP_Label_5c1e7834-6be8-4780-ac5e-8408bbf8216f_SetDate">
    <vt:lpwstr>2020-01-29T11:09:43.4781720Z</vt:lpwstr>
  </property>
  <property fmtid="{D5CDD505-2E9C-101B-9397-08002B2CF9AE}" pid="7" name="MSIP_Label_5c1e7834-6be8-4780-ac5e-8408bbf8216f_Name">
    <vt:lpwstr>Sensitive</vt:lpwstr>
  </property>
  <property fmtid="{D5CDD505-2E9C-101B-9397-08002B2CF9AE}" pid="8" name="MSIP_Label_5c1e7834-6be8-4780-ac5e-8408bbf8216f_Application">
    <vt:lpwstr>Microsoft Azure Information Protection</vt:lpwstr>
  </property>
  <property fmtid="{D5CDD505-2E9C-101B-9397-08002B2CF9AE}" pid="9" name="MSIP_Label_5c1e7834-6be8-4780-ac5e-8408bbf8216f_ActionId">
    <vt:lpwstr>63d4ef41-e9be-4686-be5c-d5a3ce9a66cc</vt:lpwstr>
  </property>
  <property fmtid="{D5CDD505-2E9C-101B-9397-08002B2CF9AE}" pid="10" name="MSIP_Label_5c1e7834-6be8-4780-ac5e-8408bbf8216f_Extended_MSFT_Method">
    <vt:lpwstr>Manual</vt:lpwstr>
  </property>
  <property fmtid="{D5CDD505-2E9C-101B-9397-08002B2CF9AE}" pid="11" name="docIndexRef">
    <vt:lpwstr>c834c8bd-588c-45ce-8794-50dc764315c3</vt:lpwstr>
  </property>
  <property fmtid="{D5CDD505-2E9C-101B-9397-08002B2CF9AE}" pid="12" name="bjClsUserRVM">
    <vt:lpwstr>[]</vt:lpwstr>
  </property>
  <property fmtid="{D5CDD505-2E9C-101B-9397-08002B2CF9AE}" pid="13" name="bjSaver">
    <vt:lpwstr>SEbIZwI5TBIvbfGhSD3p6NyWkm66V7tw</vt:lpwstr>
  </property>
  <property fmtid="{D5CDD505-2E9C-101B-9397-08002B2CF9AE}" pid="14" name="bjDocumentLabelXML">
    <vt:lpwstr>&lt;?xml version="1.0" encoding="us-ascii"?&gt;&lt;sisl xmlns:xsd="http://www.w3.org/2001/XMLSchema" xmlns:xsi="http://www.w3.org/2001/XMLSchema-instance" sislVersion="0" policy="3f6d1ab2-6913-4946-9b6b-06be7c1a9017" origin="userSelected" xmlns="http://www.boldonj</vt:lpwstr>
  </property>
  <property fmtid="{D5CDD505-2E9C-101B-9397-08002B2CF9AE}" pid="15" name="bjDocumentLabelXML-0">
    <vt:lpwstr>ames.com/2008/01/sie/internal/label"&gt;&lt;element uid="64a78ead-36fc-4674-8581-d2b7639be2f4" value="" /&gt;&lt;/sisl&gt;</vt:lpwstr>
  </property>
  <property fmtid="{D5CDD505-2E9C-101B-9397-08002B2CF9AE}" pid="16" name="bjDocumentSecurityLabel">
    <vt:lpwstr>Confidential</vt:lpwstr>
  </property>
  <property fmtid="{D5CDD505-2E9C-101B-9397-08002B2CF9AE}" pid="17" name="bjSlideMasterFooterText">
    <vt:lpwstr> Confidential | مقيّد</vt:lpwstr>
  </property>
  <property fmtid="{D5CDD505-2E9C-101B-9397-08002B2CF9AE}" pid="18" name="MSIP_Label_577c4c39-156e-444c-a9cb-945159036090_Enabled">
    <vt:lpwstr>true</vt:lpwstr>
  </property>
  <property fmtid="{D5CDD505-2E9C-101B-9397-08002B2CF9AE}" pid="19" name="MSIP_Label_577c4c39-156e-444c-a9cb-945159036090_SetDate">
    <vt:lpwstr>2025-12-02T20:30:38Z</vt:lpwstr>
  </property>
  <property fmtid="{D5CDD505-2E9C-101B-9397-08002B2CF9AE}" pid="20" name="MSIP_Label_577c4c39-156e-444c-a9cb-945159036090_Method">
    <vt:lpwstr>Standard</vt:lpwstr>
  </property>
  <property fmtid="{D5CDD505-2E9C-101B-9397-08002B2CF9AE}" pid="21" name="MSIP_Label_577c4c39-156e-444c-a9cb-945159036090_Name">
    <vt:lpwstr>defa4170-0d19-0005-0004-bc88714345d2</vt:lpwstr>
  </property>
  <property fmtid="{D5CDD505-2E9C-101B-9397-08002B2CF9AE}" pid="22" name="MSIP_Label_577c4c39-156e-444c-a9cb-945159036090_SiteId">
    <vt:lpwstr>9affbb38-3096-4eb1-bcac-4b709bedc8af</vt:lpwstr>
  </property>
  <property fmtid="{D5CDD505-2E9C-101B-9397-08002B2CF9AE}" pid="23" name="MSIP_Label_577c4c39-156e-444c-a9cb-945159036090_ActionId">
    <vt:lpwstr>a0d3afd8-bc3d-46a8-b2c0-a4bfb2307010</vt:lpwstr>
  </property>
  <property fmtid="{D5CDD505-2E9C-101B-9397-08002B2CF9AE}" pid="24" name="MSIP_Label_577c4c39-156e-444c-a9cb-945159036090_ContentBits">
    <vt:lpwstr>0</vt:lpwstr>
  </property>
  <property fmtid="{D5CDD505-2E9C-101B-9397-08002B2CF9AE}" pid="25" name="MSIP_Label_577c4c39-156e-444c-a9cb-945159036090_Tag">
    <vt:lpwstr>10, 3, 0, 1</vt:lpwstr>
  </property>
  <property fmtid="{D5CDD505-2E9C-101B-9397-08002B2CF9AE}" pid="26" name="MSIP_Label_4a30d458-cd10-4a48-9232-50530e63d4a6_Enabled">
    <vt:lpwstr>true</vt:lpwstr>
  </property>
  <property fmtid="{D5CDD505-2E9C-101B-9397-08002B2CF9AE}" pid="27" name="MSIP_Label_4a30d458-cd10-4a48-9232-50530e63d4a6_SetDate">
    <vt:lpwstr>2026-01-06T21:28:31Z</vt:lpwstr>
  </property>
  <property fmtid="{D5CDD505-2E9C-101B-9397-08002B2CF9AE}" pid="28" name="MSIP_Label_4a30d458-cd10-4a48-9232-50530e63d4a6_Method">
    <vt:lpwstr>Privileged</vt:lpwstr>
  </property>
  <property fmtid="{D5CDD505-2E9C-101B-9397-08002B2CF9AE}" pid="29" name="MSIP_Label_4a30d458-cd10-4a48-9232-50530e63d4a6_Name">
    <vt:lpwstr>l0_public</vt:lpwstr>
  </property>
  <property fmtid="{D5CDD505-2E9C-101B-9397-08002B2CF9AE}" pid="30" name="MSIP_Label_4a30d458-cd10-4a48-9232-50530e63d4a6_SiteId">
    <vt:lpwstr>a5877034-8d6a-496a-8cf8-ceb5e3451109</vt:lpwstr>
  </property>
  <property fmtid="{D5CDD505-2E9C-101B-9397-08002B2CF9AE}" pid="31" name="MSIP_Label_4a30d458-cd10-4a48-9232-50530e63d4a6_ActionId">
    <vt:lpwstr>e00f2a04-173e-4bfb-8cd0-70786926c04c</vt:lpwstr>
  </property>
  <property fmtid="{D5CDD505-2E9C-101B-9397-08002B2CF9AE}" pid="32" name="MSIP_Label_4a30d458-cd10-4a48-9232-50530e63d4a6_ContentBits">
    <vt:lpwstr>2</vt:lpwstr>
  </property>
  <property fmtid="{D5CDD505-2E9C-101B-9397-08002B2CF9AE}" pid="33" name="MSIP_Label_4a30d458-cd10-4a48-9232-50530e63d4a6_Tag">
    <vt:lpwstr>10, 0, 1, 1</vt:lpwstr>
  </property>
  <property fmtid="{D5CDD505-2E9C-101B-9397-08002B2CF9AE}" pid="34" name="ClassificationContentMarkingFooterLocations">
    <vt:lpwstr>MODON Theme:8</vt:lpwstr>
  </property>
  <property fmtid="{D5CDD505-2E9C-101B-9397-08002B2CF9AE}" pid="35" name="ClassificationContentMarkingFooterText">
    <vt:lpwstr>Data sensitivity - Public</vt:lpwstr>
  </property>
  <property fmtid="{D5CDD505-2E9C-101B-9397-08002B2CF9AE}" pid="36" name="SecloreClassification">
    <vt:lpwstr>{"Modon Production PolicyServer":{"ClassificationDisplayName":"Confidential","ClassificationMode":"ClassificationMode_UserDriven","LabelId":"4","Version":"1"}}</vt:lpwstr>
  </property>
  <property fmtid="{D5CDD505-2E9C-101B-9397-08002B2CF9AE}" pid="37" name="SecloreClassificationDisplayName">
    <vt:lpwstr>Confidential</vt:lpwstr>
  </property>
  <property fmtid="{D5CDD505-2E9C-101B-9397-08002B2CF9AE}" pid="38" name="SecloreClassificationFooterTextValue">
    <vt:lpwstr>Confidential | مقيد</vt:lpwstr>
  </property>
  <property fmtid="{D5CDD505-2E9C-101B-9397-08002B2CF9AE}" pid="39" name="SecloreClassificationFooterColorHex">
    <vt:lpwstr>#f0c231</vt:lpwstr>
  </property>
  <property fmtid="{D5CDD505-2E9C-101B-9397-08002B2CF9AE}" pid="40" name="SecloreClassificationFooterFontSize">
    <vt:lpwstr>12</vt:lpwstr>
  </property>
  <property fmtid="{D5CDD505-2E9C-101B-9397-08002B2CF9AE}" pid="41" name="SecloreClassificationFooterAlignment">
    <vt:lpwstr>Left</vt:lpwstr>
  </property>
</Properties>
</file>