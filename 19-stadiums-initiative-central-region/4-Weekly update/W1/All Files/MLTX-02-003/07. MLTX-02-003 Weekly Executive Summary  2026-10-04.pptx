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2" r:id="rId2"/>
  </p:sldIdLst>
  <p:sldSz cx="9906000" cy="6858000" type="A4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120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3300"/>
    <a:srgbClr val="52B3DD"/>
    <a:srgbClr val="2C6782"/>
    <a:srgbClr val="99CC00"/>
    <a:srgbClr val="2C66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53" autoAdjust="0"/>
    <p:restoredTop sz="96374" autoAdjust="0"/>
  </p:normalViewPr>
  <p:slideViewPr>
    <p:cSldViewPr snapToGrid="0" showGuides="1">
      <p:cViewPr varScale="1">
        <p:scale>
          <a:sx n="111" d="100"/>
          <a:sy n="111" d="100"/>
        </p:scale>
        <p:origin x="1824" y="96"/>
      </p:cViewPr>
      <p:guideLst>
        <p:guide orient="horz" pos="2160"/>
        <p:guide pos="3840"/>
        <p:guide pos="312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2" d="100"/>
          <a:sy n="112" d="100"/>
        </p:scale>
        <p:origin x="4832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/>
          <a:lstStyle>
            <a:lvl1pPr algn="r">
              <a:defRPr sz="1100"/>
            </a:lvl1pPr>
          </a:lstStyle>
          <a:p>
            <a:fld id="{DE8EFBDC-07CF-4AB5-A7A8-8935FC7B56ED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8250" y="1162050"/>
            <a:ext cx="4533900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5990" tIns="42995" rIns="85990" bIns="4299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8"/>
          </a:xfrm>
          <a:prstGeom prst="rect">
            <a:avLst/>
          </a:prstGeom>
        </p:spPr>
        <p:txBody>
          <a:bodyPr vert="horz" lIns="85990" tIns="42995" rIns="85990" bIns="4299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 anchor="b"/>
          <a:lstStyle>
            <a:lvl1pPr algn="r">
              <a:defRPr sz="1100"/>
            </a:lvl1pPr>
          </a:lstStyle>
          <a:p>
            <a:fld id="{27885486-2A36-4153-9FE1-C7FA1A83A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45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883AAB-AD44-4167-9180-6281424626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825"/>
          <a:stretch/>
        </p:blipFill>
        <p:spPr>
          <a:xfrm>
            <a:off x="0" y="0"/>
            <a:ext cx="683740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4E71D-7A03-4469-B802-F68D9A844A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6" b="-3093"/>
          <a:stretch/>
        </p:blipFill>
        <p:spPr>
          <a:xfrm>
            <a:off x="5570625" y="1"/>
            <a:ext cx="4335375" cy="70701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ECDA4D-16C5-49E7-8EE1-7C5BDD9FF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4408" y="2912314"/>
            <a:ext cx="5636963" cy="1882420"/>
          </a:xfrm>
        </p:spPr>
        <p:txBody>
          <a:bodyPr anchor="b">
            <a:normAutofit/>
          </a:bodyPr>
          <a:lstStyle>
            <a:lvl1pPr algn="r" rtl="1">
              <a:lnSpc>
                <a:spcPct val="100000"/>
              </a:lnSpc>
              <a:defRPr sz="4800" b="1" i="0">
                <a:solidFill>
                  <a:srgbClr val="2C6682"/>
                </a:solidFill>
                <a:latin typeface="TheSansArabic" panose="020B0402050302020203" pitchFamily="34" charset="-78"/>
                <a:cs typeface="TheSansArabic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F6772-7435-48D6-9207-521B96066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4408" y="4917564"/>
            <a:ext cx="5636963" cy="1655762"/>
          </a:xfrm>
        </p:spPr>
        <p:txBody>
          <a:bodyPr/>
          <a:lstStyle>
            <a:lvl1pPr marL="0" indent="0" algn="r" rtl="1">
              <a:buNone/>
              <a:defRPr sz="2400">
                <a:solidFill>
                  <a:srgbClr val="52B3DD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63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side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3DD6BF-C69A-5049-BCEC-A7A815475F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2314"/>
          <a:stretch/>
        </p:blipFill>
        <p:spPr>
          <a:xfrm>
            <a:off x="0" y="0"/>
            <a:ext cx="2398437" cy="17288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6B692A-80EC-4132-B7FC-FD70AACB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656" y="543147"/>
            <a:ext cx="7361548" cy="733211"/>
          </a:xfrm>
        </p:spPr>
        <p:txBody>
          <a:bodyPr anchor="b">
            <a:noAutofit/>
          </a:bodyPr>
          <a:lstStyle>
            <a:lvl1pPr algn="r" rtl="1">
              <a:defRPr sz="3600" b="1">
                <a:solidFill>
                  <a:schemeClr val="tx2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E44B4-73A3-4C04-A775-64B61DA74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391" y="1534987"/>
            <a:ext cx="8572187" cy="4554664"/>
          </a:xfrm>
        </p:spPr>
        <p:txBody>
          <a:bodyPr>
            <a:normAutofit/>
          </a:bodyPr>
          <a:lstStyle>
            <a:lvl1pPr marL="0" indent="0" algn="r" rtl="1">
              <a:buNone/>
              <a:defRPr sz="2000">
                <a:solidFill>
                  <a:srgbClr val="000000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183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3D4B94-A2CB-7D42-9371-F16BE05AD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5213"/>
          <a:stretch/>
        </p:blipFill>
        <p:spPr>
          <a:xfrm>
            <a:off x="0" y="1"/>
            <a:ext cx="2236925" cy="170037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2A40821-AC68-4E90-868F-5B1F080F2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117" y="543147"/>
            <a:ext cx="7317087" cy="733211"/>
          </a:xfrm>
        </p:spPr>
        <p:txBody>
          <a:bodyPr anchor="b">
            <a:noAutofit/>
          </a:bodyPr>
          <a:lstStyle>
            <a:lvl1pPr algn="r" rtl="1">
              <a:defRPr sz="3600" b="1">
                <a:solidFill>
                  <a:schemeClr val="tx2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5688847-ACDE-4792-AC0E-E78BB043B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391" y="1541124"/>
            <a:ext cx="8572187" cy="4527979"/>
          </a:xfrm>
        </p:spPr>
        <p:txBody>
          <a:bodyPr>
            <a:normAutofit/>
          </a:bodyPr>
          <a:lstStyle>
            <a:lvl1pPr marL="0" indent="0" algn="r" rtl="1">
              <a:buNone/>
              <a:defRPr sz="2000">
                <a:solidFill>
                  <a:srgbClr val="000000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535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65639E-137C-4580-8B0E-A6A224A908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4" t="22538" r="1507" b="4109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9CAF25-2012-4B81-94E5-B53D7FC6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37" y="4549524"/>
            <a:ext cx="4364348" cy="1325563"/>
          </a:xfrm>
        </p:spPr>
        <p:txBody>
          <a:bodyPr/>
          <a:lstStyle>
            <a:lvl1pPr algn="r" rtl="1">
              <a:defRPr b="1">
                <a:solidFill>
                  <a:schemeClr val="bg1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651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E15A6D-2ADA-6C42-87C6-B043F0EF25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93505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9CAF25-2012-4B81-94E5-B53D7FC6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37" y="4549524"/>
            <a:ext cx="4364348" cy="1325563"/>
          </a:xfrm>
        </p:spPr>
        <p:txBody>
          <a:bodyPr/>
          <a:lstStyle>
            <a:lvl1pPr algn="r" rtl="1">
              <a:defRPr b="1">
                <a:solidFill>
                  <a:schemeClr val="bg1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87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843B07-B14D-8A46-909E-B041F327B7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975"/>
            <a:ext cx="9906000" cy="69659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9CAF25-2012-4B81-94E5-B53D7FC6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37" y="4549524"/>
            <a:ext cx="4364348" cy="1325563"/>
          </a:xfrm>
        </p:spPr>
        <p:txBody>
          <a:bodyPr/>
          <a:lstStyle>
            <a:lvl1pPr algn="r" rtl="1">
              <a:defRPr b="1">
                <a:solidFill>
                  <a:schemeClr val="bg1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9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91B6D6-473C-43DD-82C2-EE59EA1186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00" r="377"/>
          <a:stretch/>
        </p:blipFill>
        <p:spPr>
          <a:xfrm>
            <a:off x="-1" y="-1"/>
            <a:ext cx="9906001" cy="685800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0501B07-99EB-41FE-83D6-83B817500D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2951" y="3760186"/>
            <a:ext cx="5040787" cy="1325563"/>
          </a:xfrm>
        </p:spPr>
        <p:txBody>
          <a:bodyPr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>
                <a:solidFill>
                  <a:schemeClr val="bg1"/>
                </a:solidFill>
                <a:latin typeface="TheSansArabic" panose="020B0402050302020203" pitchFamily="34" charset="-78"/>
                <a:cs typeface="TheSansArabic" panose="020B0402050302020203" pitchFamily="34" charset="-78"/>
              </a:defRPr>
            </a:lvl1pPr>
          </a:lstStyle>
          <a:p>
            <a:r>
              <a:rPr lang="ar-SA" dirty="0"/>
              <a:t>شكراً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106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288E70-0C30-4596-B6E5-85B4901A2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5DE75-744A-42B0-9350-C9038C809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F208-610E-40F9-9908-D01521BDB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fld id="{0A475379-0658-406F-B73E-526C51D4D8EF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EF0CA-F64A-47C2-9EF0-044696570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121B-B1F6-4D9C-8552-3A255035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fld id="{16FBF5E7-3224-44C0-8979-05CA326FF4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60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  <p:sldLayoutId id="2147483653" r:id="rId4"/>
    <p:sldLayoutId id="2147483655" r:id="rId5"/>
    <p:sldLayoutId id="2147483656" r:id="rId6"/>
    <p:sldLayoutId id="214748365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heSansArabic SemiLight" panose="020B0402050302020203" pitchFamily="34" charset="-78"/>
          <a:ea typeface="+mj-ea"/>
          <a:cs typeface="TheSansArabic SemiLight" panose="020B0402050302020203" pitchFamily="34" charset="-7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AFD332-0A58-491A-B08D-FC9BF6D47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974" y="421498"/>
            <a:ext cx="7336330" cy="559272"/>
          </a:xfrm>
        </p:spPr>
        <p:txBody>
          <a:bodyPr/>
          <a:lstStyle/>
          <a:p>
            <a:pPr algn="ctr"/>
            <a:r>
              <a:rPr lang="en-US" sz="2800" dirty="0">
                <a:latin typeface="+mn-lt"/>
              </a:rPr>
              <a:t>Executive Summary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42E4ED-3C4D-4DA9-B29C-EDBEE66BA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847415"/>
              </p:ext>
            </p:extLst>
          </p:nvPr>
        </p:nvGraphicFramePr>
        <p:xfrm>
          <a:off x="196180" y="1386446"/>
          <a:ext cx="9513640" cy="3205644"/>
        </p:xfrm>
        <a:graphic>
          <a:graphicData uri="http://schemas.openxmlformats.org/drawingml/2006/table">
            <a:tbl>
              <a:tblPr/>
              <a:tblGrid>
                <a:gridCol w="5367858">
                  <a:extLst>
                    <a:ext uri="{9D8B030D-6E8A-4147-A177-3AD203B41FA5}">
                      <a16:colId xmlns:a16="http://schemas.microsoft.com/office/drawing/2014/main" val="740500422"/>
                    </a:ext>
                  </a:extLst>
                </a:gridCol>
                <a:gridCol w="4145782">
                  <a:extLst>
                    <a:ext uri="{9D8B030D-6E8A-4147-A177-3AD203B41FA5}">
                      <a16:colId xmlns:a16="http://schemas.microsoft.com/office/drawing/2014/main" val="2244806688"/>
                    </a:ext>
                  </a:extLst>
                </a:gridCol>
              </a:tblGrid>
              <a:tr h="717402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kern="14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Key Accomplishments This Week</a:t>
                      </a:r>
                      <a:endParaRPr lang="en-US" sz="1200" b="1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398" marR="20398" marT="20398" marB="20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kern="14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Key Focus Areas Next Week</a:t>
                      </a:r>
                      <a:endParaRPr lang="en-US" sz="1200" b="1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398" marR="20398" marT="20398" marB="2039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630253"/>
                  </a:ext>
                </a:extLst>
              </a:tr>
              <a:tr h="75183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sng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Engineering: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Shop Drawings : </a:t>
                      </a:r>
                    </a:p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Air Dome Power Single Line Drawings are Submitted</a:t>
                      </a:r>
                    </a:p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Curtain Wall Steel Structure Schedules, Sections &amp; Details are Submitted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Material Submittal : </a:t>
                      </a:r>
                    </a:p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Material submittal for Site Lighting Poles / Street Lights for all regions are Submitted</a:t>
                      </a:r>
                    </a:p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Material submittal for Membrane Water proofing for all regions are Submitted</a:t>
                      </a:r>
                    </a:p>
                  </a:txBody>
                  <a:tcPr marL="20398" marR="20398" marT="20398" marB="2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sng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Engineering: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Shop Drawing Preparation for Air Dome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Shop Drawing Preparation for Electrical Work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Shop Drawing Preparation for Mechanical Work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Shop Drawing Preparation for Architectural Work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000" b="0" i="0" u="none" strike="noStrike" kern="14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0" u="none" kern="140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802281"/>
                  </a:ext>
                </a:extLst>
              </a:tr>
              <a:tr h="668861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sng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Construction: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kern="14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Asphalt </a:t>
                      </a:r>
                      <a:r>
                        <a:rPr lang="en-US" sz="1000" b="0" u="none" kern="140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</a:t>
                      </a: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Lean Concrete for Irrigation Tank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Plastering Work in Toilet Area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Foundation Work for Septic Tank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kern="14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Concrete pouring works for the curbs</a:t>
                      </a:r>
                    </a:p>
                  </a:txBody>
                  <a:tcPr marL="20398" marR="20398" marT="20398" marB="2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sng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Construction: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kern="14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Irrigation Pipe installation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Asphalt Work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Curbstone &amp; Interlock Tiles installation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000" b="0" i="0" u="none" strike="noStrike" kern="14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Foundation work for Air Dome &amp; Curtain Wall</a:t>
                      </a: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309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374442"/>
      </p:ext>
    </p:extLst>
  </p:cSld>
  <p:clrMapOvr>
    <a:masterClrMapping/>
  </p:clrMapOvr>
</p:sld>
</file>

<file path=ppt/theme/theme1.xml><?xml version="1.0" encoding="utf-8"?>
<a:theme xmlns:a="http://schemas.openxmlformats.org/drawingml/2006/main" name="القالب">
  <a:themeElements>
    <a:clrScheme name="Custom 1">
      <a:dk1>
        <a:srgbClr val="0A2C52"/>
      </a:dk1>
      <a:lt1>
        <a:srgbClr val="FFFFFF"/>
      </a:lt1>
      <a:dk2>
        <a:srgbClr val="296A8E"/>
      </a:dk2>
      <a:lt2>
        <a:srgbClr val="E7E6E6"/>
      </a:lt2>
      <a:accent1>
        <a:srgbClr val="296A8E"/>
      </a:accent1>
      <a:accent2>
        <a:srgbClr val="94C64C"/>
      </a:accent2>
      <a:accent3>
        <a:srgbClr val="59B3D9"/>
      </a:accent3>
      <a:accent4>
        <a:srgbClr val="0A2C52"/>
      </a:accent4>
      <a:accent5>
        <a:srgbClr val="58B2D8"/>
      </a:accent5>
      <a:accent6>
        <a:srgbClr val="94C64C"/>
      </a:accent6>
      <a:hlink>
        <a:srgbClr val="1A4C71"/>
      </a:hlink>
      <a:folHlink>
        <a:srgbClr val="76AE3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القالب" id="{21383F53-8B68-A144-8F3C-61C365BDAE03}" vid="{D72FA2D9-7331-0D4A-8407-60EE0838F8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القالب</Template>
  <TotalTime>10847</TotalTime>
  <Words>134</Words>
  <Application>Microsoft Office PowerPoint</Application>
  <PresentationFormat>A4 Paper (210x297 mm)</PresentationFormat>
  <Paragraphs>26</Paragraphs>
  <Slides>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TheSansArabic</vt:lpstr>
      <vt:lpstr>TheSansArabic SemiLight</vt:lpstr>
      <vt:lpstr>القالب</vt:lpstr>
      <vt:lpstr>Executive Summary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Final Handover Presentation</dc:title>
  <dc:creator>ajmi-3</dc:creator>
  <cp:lastModifiedBy>Arib Ansari</cp:lastModifiedBy>
  <cp:revision>818</cp:revision>
  <cp:lastPrinted>2021-11-16T07:54:19Z</cp:lastPrinted>
  <dcterms:created xsi:type="dcterms:W3CDTF">2018-10-17T04:45:39Z</dcterms:created>
  <dcterms:modified xsi:type="dcterms:W3CDTF">2026-10-03T09:40:35Z</dcterms:modified>
</cp:coreProperties>
</file>

<file path=userCustomization/customUI.xml><?xml version="1.0" encoding="utf-8"?>
<mso:customUI xmlns:mso="http://schemas.microsoft.com/office/2006/01/customui">
  <mso:ribbon>
    <mso:qat>
      <mso:documentControls>
        <mso:control idQ="mso:PicturesCompress" visible="true"/>
      </mso:documentControls>
    </mso:qat>
  </mso:ribbon>
</mso:customUI>
</file>