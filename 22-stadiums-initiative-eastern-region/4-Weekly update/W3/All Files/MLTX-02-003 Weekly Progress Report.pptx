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7" r:id="rId2"/>
  </p:sldMasterIdLst>
  <p:notesMasterIdLst>
    <p:notesMasterId r:id="rId34"/>
  </p:notesMasterIdLst>
  <p:sldIdLst>
    <p:sldId id="266" r:id="rId3"/>
    <p:sldId id="261" r:id="rId4"/>
    <p:sldId id="279" r:id="rId5"/>
    <p:sldId id="280" r:id="rId6"/>
    <p:sldId id="1974" r:id="rId7"/>
    <p:sldId id="294" r:id="rId8"/>
    <p:sldId id="262" r:id="rId9"/>
    <p:sldId id="267" r:id="rId10"/>
    <p:sldId id="268" r:id="rId11"/>
    <p:sldId id="269" r:id="rId12"/>
    <p:sldId id="270" r:id="rId13"/>
    <p:sldId id="271" r:id="rId14"/>
    <p:sldId id="272" r:id="rId15"/>
    <p:sldId id="273" r:id="rId16"/>
    <p:sldId id="296" r:id="rId17"/>
    <p:sldId id="275" r:id="rId18"/>
    <p:sldId id="277" r:id="rId19"/>
    <p:sldId id="297" r:id="rId20"/>
    <p:sldId id="298" r:id="rId21"/>
    <p:sldId id="299" r:id="rId22"/>
    <p:sldId id="282" r:id="rId23"/>
    <p:sldId id="283" r:id="rId24"/>
    <p:sldId id="300" r:id="rId25"/>
    <p:sldId id="301" r:id="rId26"/>
    <p:sldId id="302" r:id="rId27"/>
    <p:sldId id="285" r:id="rId28"/>
    <p:sldId id="287" r:id="rId29"/>
    <p:sldId id="291" r:id="rId30"/>
    <p:sldId id="289" r:id="rId31"/>
    <p:sldId id="290" r:id="rId32"/>
    <p:sldId id="260" r:id="rId33"/>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B3DD"/>
    <a:srgbClr val="000000"/>
    <a:srgbClr val="2C6782"/>
    <a:srgbClr val="52B3DD"/>
    <a:srgbClr val="99CC00"/>
    <a:srgbClr val="2C66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376BCA-3B4A-462B-8F68-CDA42B76D267}" v="1" dt="2020-10-05T12:41:14.5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024" autoAdjust="0"/>
    <p:restoredTop sz="93705" autoAdjust="0"/>
  </p:normalViewPr>
  <p:slideViewPr>
    <p:cSldViewPr snapToGrid="0" showGuides="1">
      <p:cViewPr varScale="1">
        <p:scale>
          <a:sx n="104" d="100"/>
          <a:sy n="104" d="100"/>
        </p:scale>
        <p:origin x="1212" y="72"/>
      </p:cViewPr>
      <p:guideLst>
        <p:guide orient="horz" pos="2160"/>
        <p:guide pos="3840"/>
      </p:guideLst>
    </p:cSldViewPr>
  </p:slideViewPr>
  <p:notesTextViewPr>
    <p:cViewPr>
      <p:scale>
        <a:sx n="1" d="1"/>
        <a:sy n="1" d="1"/>
      </p:scale>
      <p:origin x="0" y="0"/>
    </p:cViewPr>
  </p:notesTextViewPr>
  <p:notesViewPr>
    <p:cSldViewPr snapToGrid="0">
      <p:cViewPr varScale="1">
        <p:scale>
          <a:sx n="112" d="100"/>
          <a:sy n="112" d="100"/>
        </p:scale>
        <p:origin x="4832" y="2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6/11/relationships/changesInfo" Target="changesInfos/changesInfo1.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arnous, Faisal" userId="eb45042a-974f-4a2b-b651-64e2c235be8e" providerId="ADAL" clId="{2F376BCA-3B4A-462B-8F68-CDA42B76D267}"/>
    <pc:docChg chg="undo modSld">
      <pc:chgData name="Alarnous, Faisal" userId="eb45042a-974f-4a2b-b651-64e2c235be8e" providerId="ADAL" clId="{2F376BCA-3B4A-462B-8F68-CDA42B76D267}" dt="2020-10-10T11:46:03.731" v="7" actId="13926"/>
      <pc:docMkLst>
        <pc:docMk/>
      </pc:docMkLst>
      <pc:sldChg chg="modSp">
        <pc:chgData name="Alarnous, Faisal" userId="eb45042a-974f-4a2b-b651-64e2c235be8e" providerId="ADAL" clId="{2F376BCA-3B4A-462B-8F68-CDA42B76D267}" dt="2020-10-05T12:18:56.563" v="2" actId="1076"/>
        <pc:sldMkLst>
          <pc:docMk/>
          <pc:sldMk cId="1538737544" sldId="280"/>
        </pc:sldMkLst>
        <pc:picChg chg="mod">
          <ac:chgData name="Alarnous, Faisal" userId="eb45042a-974f-4a2b-b651-64e2c235be8e" providerId="ADAL" clId="{2F376BCA-3B4A-462B-8F68-CDA42B76D267}" dt="2020-10-05T12:18:56.563" v="2" actId="1076"/>
          <ac:picMkLst>
            <pc:docMk/>
            <pc:sldMk cId="1538737544" sldId="280"/>
            <ac:picMk id="3" creationId="{53A61CFB-0811-4FA8-BE47-E8F70E718E00}"/>
          </ac:picMkLst>
        </pc:picChg>
      </pc:sldChg>
      <pc:sldChg chg="modSp">
        <pc:chgData name="Alarnous, Faisal" userId="eb45042a-974f-4a2b-b651-64e2c235be8e" providerId="ADAL" clId="{2F376BCA-3B4A-462B-8F68-CDA42B76D267}" dt="2020-10-10T11:46:03.731" v="7" actId="13926"/>
        <pc:sldMkLst>
          <pc:docMk/>
          <pc:sldMk cId="3853834290" sldId="294"/>
        </pc:sldMkLst>
        <pc:spChg chg="mod">
          <ac:chgData name="Alarnous, Faisal" userId="eb45042a-974f-4a2b-b651-64e2c235be8e" providerId="ADAL" clId="{2F376BCA-3B4A-462B-8F68-CDA42B76D267}" dt="2020-10-10T11:46:03.731" v="7" actId="13926"/>
          <ac:spMkLst>
            <pc:docMk/>
            <pc:sldMk cId="3853834290" sldId="294"/>
            <ac:spMk id="6" creationId="{A0CE9D78-42F7-470E-876B-55660DA3638C}"/>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time elapsed</c:v>
                </c:pt>
              </c:strCache>
            </c:strRef>
          </c:tx>
          <c:explosion val="2"/>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0E5-4201-9EFC-37DFD645071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80E5-4201-9EFC-37DFD6450716}"/>
              </c:ext>
            </c:extLst>
          </c:dPt>
          <c:cat>
            <c:strRef>
              <c:f>Sheet1!$A$2:$A$3</c:f>
              <c:strCache>
                <c:ptCount val="2"/>
                <c:pt idx="0">
                  <c:v>elapsed</c:v>
                </c:pt>
                <c:pt idx="1">
                  <c:v>remaining</c:v>
                </c:pt>
              </c:strCache>
            </c:strRef>
          </c:cat>
          <c:val>
            <c:numRef>
              <c:f>Sheet1!$B$2:$B$3</c:f>
              <c:numCache>
                <c:formatCode>General</c:formatCode>
                <c:ptCount val="2"/>
                <c:pt idx="0">
                  <c:v>243</c:v>
                </c:pt>
                <c:pt idx="1">
                  <c:v>59</c:v>
                </c:pt>
              </c:numCache>
            </c:numRef>
          </c:val>
          <c:extLst>
            <c:ext xmlns:c16="http://schemas.microsoft.com/office/drawing/2014/chart" uri="{C3380CC4-5D6E-409C-BE32-E72D297353CC}">
              <c16:uniqueId val="{00000004-80E5-4201-9EFC-37DFD6450716}"/>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DE8EFBDC-07CF-4AB5-A7A8-8935FC7B56ED}" type="datetimeFigureOut">
              <a:rPr lang="en-US" smtClean="0"/>
              <a:t>10/18/2026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27885486-2A36-4153-9FE1-C7FA1A83A1D9}" type="slidenum">
              <a:rPr lang="en-US" smtClean="0"/>
              <a:t>‹#›</a:t>
            </a:fld>
            <a:endParaRPr lang="en-US"/>
          </a:p>
        </p:txBody>
      </p:sp>
    </p:spTree>
    <p:extLst>
      <p:ext uri="{BB962C8B-B14F-4D97-AF65-F5344CB8AC3E}">
        <p14:creationId xmlns:p14="http://schemas.microsoft.com/office/powerpoint/2010/main" val="3650445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B04DF-D014-CD87-2062-887112858B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509D84-4E8B-926C-09D1-AA12DE91915F}"/>
              </a:ext>
            </a:extLst>
          </p:cNvPr>
          <p:cNvSpPr>
            <a:spLocks noGrp="1" noRot="1" noChangeAspect="1"/>
          </p:cNvSpPr>
          <p:nvPr>
            <p:ph type="sldImg"/>
          </p:nvPr>
        </p:nvSpPr>
        <p:spPr>
          <a:xfrm>
            <a:off x="120650" y="749300"/>
            <a:ext cx="6651625" cy="3741738"/>
          </a:xfrm>
        </p:spPr>
        <p:txBody>
          <a:bodyPr/>
          <a:lstStyle/>
          <a:p>
            <a:endParaRPr lang="en-US"/>
          </a:p>
        </p:txBody>
      </p:sp>
      <p:sp>
        <p:nvSpPr>
          <p:cNvPr id="3" name="Notes Placeholder 2">
            <a:extLst>
              <a:ext uri="{FF2B5EF4-FFF2-40B4-BE49-F238E27FC236}">
                <a16:creationId xmlns:a16="http://schemas.microsoft.com/office/drawing/2014/main" id="{B0F51FCD-845A-4FBC-626D-B07039EBD71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87669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885486-2A36-4153-9FE1-C7FA1A83A1D9}" type="slidenum">
              <a:rPr lang="en-US" smtClean="0"/>
              <a:t>10</a:t>
            </a:fld>
            <a:endParaRPr lang="en-US"/>
          </a:p>
        </p:txBody>
      </p:sp>
    </p:spTree>
    <p:extLst>
      <p:ext uri="{BB962C8B-B14F-4D97-AF65-F5344CB8AC3E}">
        <p14:creationId xmlns:p14="http://schemas.microsoft.com/office/powerpoint/2010/main" val="947743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885486-2A36-4153-9FE1-C7FA1A83A1D9}" type="slidenum">
              <a:rPr lang="en-US" smtClean="0"/>
              <a:t>21</a:t>
            </a:fld>
            <a:endParaRPr lang="en-US"/>
          </a:p>
        </p:txBody>
      </p:sp>
    </p:spTree>
    <p:extLst>
      <p:ext uri="{BB962C8B-B14F-4D97-AF65-F5344CB8AC3E}">
        <p14:creationId xmlns:p14="http://schemas.microsoft.com/office/powerpoint/2010/main" val="18575066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13818-FCBA-E6F1-5478-A487F3CA5B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B32DB8-F845-C585-0C19-C824C05FD1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06F74F-CBF5-AC3F-AFA1-38F0F9F2DD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127991-AC4A-3862-C800-40EC901D87E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885486-2A36-4153-9FE1-C7FA1A83A1D9}"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79005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4883AAB-AD44-4167-9180-62814246262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22825"/>
          <a:stretch/>
        </p:blipFill>
        <p:spPr>
          <a:xfrm>
            <a:off x="0" y="0"/>
            <a:ext cx="8415269" cy="6858000"/>
          </a:xfrm>
          <a:prstGeom prst="rect">
            <a:avLst/>
          </a:prstGeom>
        </p:spPr>
      </p:pic>
      <p:pic>
        <p:nvPicPr>
          <p:cNvPr id="5" name="Picture 4">
            <a:extLst>
              <a:ext uri="{FF2B5EF4-FFF2-40B4-BE49-F238E27FC236}">
                <a16:creationId xmlns:a16="http://schemas.microsoft.com/office/drawing/2014/main" id="{B8E4E71D-7A03-4469-B802-F68D9A844AC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51066" b="-3093"/>
          <a:stretch/>
        </p:blipFill>
        <p:spPr>
          <a:xfrm>
            <a:off x="6856154" y="0"/>
            <a:ext cx="5335846" cy="7070103"/>
          </a:xfrm>
          <a:prstGeom prst="rect">
            <a:avLst/>
          </a:prstGeom>
        </p:spPr>
      </p:pic>
      <p:sp>
        <p:nvSpPr>
          <p:cNvPr id="2" name="Title 1">
            <a:extLst>
              <a:ext uri="{FF2B5EF4-FFF2-40B4-BE49-F238E27FC236}">
                <a16:creationId xmlns:a16="http://schemas.microsoft.com/office/drawing/2014/main" id="{95ECDA4D-16C5-49E7-8EE1-7C5BDD9FF128}"/>
              </a:ext>
            </a:extLst>
          </p:cNvPr>
          <p:cNvSpPr>
            <a:spLocks noGrp="1"/>
          </p:cNvSpPr>
          <p:nvPr>
            <p:ph type="ctrTitle"/>
          </p:nvPr>
        </p:nvSpPr>
        <p:spPr>
          <a:xfrm>
            <a:off x="4263887" y="2912314"/>
            <a:ext cx="6937800" cy="1882420"/>
          </a:xfrm>
        </p:spPr>
        <p:txBody>
          <a:bodyPr anchor="b">
            <a:normAutofit/>
          </a:bodyPr>
          <a:lstStyle>
            <a:lvl1pPr algn="r" rtl="1">
              <a:lnSpc>
                <a:spcPct val="100000"/>
              </a:lnSpc>
              <a:defRPr sz="4800" b="1" i="0">
                <a:solidFill>
                  <a:srgbClr val="2C6682"/>
                </a:solidFill>
                <a:latin typeface="TheSansArabic" panose="020B0402050302020203" pitchFamily="34" charset="-78"/>
                <a:cs typeface="TheSansArabic" panose="020B0402050302020203" pitchFamily="34" charset="-78"/>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46F6772-7435-48D6-9207-521B96066329}"/>
              </a:ext>
            </a:extLst>
          </p:cNvPr>
          <p:cNvSpPr>
            <a:spLocks noGrp="1"/>
          </p:cNvSpPr>
          <p:nvPr>
            <p:ph type="subTitle" idx="1"/>
          </p:nvPr>
        </p:nvSpPr>
        <p:spPr>
          <a:xfrm>
            <a:off x="4263887" y="4917564"/>
            <a:ext cx="6937800" cy="1655762"/>
          </a:xfrm>
        </p:spPr>
        <p:txBody>
          <a:bodyPr/>
          <a:lstStyle>
            <a:lvl1pPr marL="0" indent="0" algn="r" rtl="1">
              <a:buNone/>
              <a:defRPr sz="2400">
                <a:solidFill>
                  <a:srgbClr val="52B3DD"/>
                </a:solidFill>
                <a:latin typeface="TheSansArabic SemiLight" panose="020B0402050302020203" pitchFamily="34" charset="-78"/>
                <a:cs typeface="TheSansArabic SemiLight" panose="020B0402050302020203" pitchFamily="34"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323633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Inside page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3DD6BF-C69A-5049-BCEC-A7A815475F78}"/>
              </a:ext>
            </a:extLst>
          </p:cNvPr>
          <p:cNvPicPr>
            <a:picLocks noChangeAspect="1"/>
          </p:cNvPicPr>
          <p:nvPr userDrawn="1"/>
        </p:nvPicPr>
        <p:blipFill rotWithShape="1">
          <a:blip r:embed="rId2"/>
          <a:srcRect t="32314"/>
          <a:stretch/>
        </p:blipFill>
        <p:spPr>
          <a:xfrm>
            <a:off x="0" y="0"/>
            <a:ext cx="2951922" cy="1728852"/>
          </a:xfrm>
          <a:prstGeom prst="rect">
            <a:avLst/>
          </a:prstGeom>
        </p:spPr>
      </p:pic>
      <p:sp>
        <p:nvSpPr>
          <p:cNvPr id="2" name="Title 1">
            <a:extLst>
              <a:ext uri="{FF2B5EF4-FFF2-40B4-BE49-F238E27FC236}">
                <a16:creationId xmlns:a16="http://schemas.microsoft.com/office/drawing/2014/main" id="{8B6B692A-80EC-4132-B7FC-FD70AACB252E}"/>
              </a:ext>
            </a:extLst>
          </p:cNvPr>
          <p:cNvSpPr>
            <a:spLocks noGrp="1"/>
          </p:cNvSpPr>
          <p:nvPr>
            <p:ph type="title"/>
          </p:nvPr>
        </p:nvSpPr>
        <p:spPr>
          <a:xfrm>
            <a:off x="1928191" y="543146"/>
            <a:ext cx="9060367" cy="733211"/>
          </a:xfrm>
        </p:spPr>
        <p:txBody>
          <a:bodyPr anchor="b">
            <a:noAutofit/>
          </a:bodyPr>
          <a:lstStyle>
            <a:lvl1pPr algn="r" rtl="1">
              <a:defRPr sz="3600" b="1">
                <a:solidFill>
                  <a:schemeClr val="tx2"/>
                </a:solidFill>
                <a:latin typeface="TheSansArabic SemiLight" panose="020B0402050302020203" pitchFamily="34" charset="-78"/>
                <a:cs typeface="TheSansArabic SemiLight" panose="020B0402050302020203" pitchFamily="34" charset="-78"/>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8CE44B4-73A3-4C04-A775-64B61DA7402A}"/>
              </a:ext>
            </a:extLst>
          </p:cNvPr>
          <p:cNvSpPr>
            <a:spLocks noGrp="1"/>
          </p:cNvSpPr>
          <p:nvPr>
            <p:ph type="body" idx="1"/>
          </p:nvPr>
        </p:nvSpPr>
        <p:spPr>
          <a:xfrm>
            <a:off x="449712" y="1534987"/>
            <a:ext cx="10550384" cy="4554664"/>
          </a:xfrm>
        </p:spPr>
        <p:txBody>
          <a:bodyPr>
            <a:normAutofit/>
          </a:bodyPr>
          <a:lstStyle>
            <a:lvl1pPr marL="0" indent="0" algn="r" rtl="1">
              <a:buNone/>
              <a:defRPr sz="2000">
                <a:solidFill>
                  <a:srgbClr val="000000"/>
                </a:solidFill>
                <a:latin typeface="TheSansArabic SemiLight" panose="020B0402050302020203" pitchFamily="34" charset="-78"/>
                <a:cs typeface="TheSansArabic SemiLight" panose="020B0402050302020203" pitchFamily="34" charset="-78"/>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951833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side page 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E3D4B94-A2CB-7D42-9371-F16BE05AD317}"/>
              </a:ext>
            </a:extLst>
          </p:cNvPr>
          <p:cNvPicPr>
            <a:picLocks noChangeAspect="1"/>
          </p:cNvPicPr>
          <p:nvPr userDrawn="1"/>
        </p:nvPicPr>
        <p:blipFill rotWithShape="1">
          <a:blip r:embed="rId2"/>
          <a:srcRect t="25213"/>
          <a:stretch/>
        </p:blipFill>
        <p:spPr>
          <a:xfrm>
            <a:off x="-1" y="0"/>
            <a:ext cx="2753139" cy="1700375"/>
          </a:xfrm>
          <a:prstGeom prst="rect">
            <a:avLst/>
          </a:prstGeom>
        </p:spPr>
      </p:pic>
      <p:sp>
        <p:nvSpPr>
          <p:cNvPr id="9" name="Title 1">
            <a:extLst>
              <a:ext uri="{FF2B5EF4-FFF2-40B4-BE49-F238E27FC236}">
                <a16:creationId xmlns:a16="http://schemas.microsoft.com/office/drawing/2014/main" id="{12A40821-AC68-4E90-868F-5B1F080F2CDE}"/>
              </a:ext>
            </a:extLst>
          </p:cNvPr>
          <p:cNvSpPr>
            <a:spLocks noGrp="1"/>
          </p:cNvSpPr>
          <p:nvPr>
            <p:ph type="title"/>
          </p:nvPr>
        </p:nvSpPr>
        <p:spPr>
          <a:xfrm>
            <a:off x="1982913" y="543146"/>
            <a:ext cx="9005646" cy="733211"/>
          </a:xfrm>
        </p:spPr>
        <p:txBody>
          <a:bodyPr anchor="b">
            <a:noAutofit/>
          </a:bodyPr>
          <a:lstStyle>
            <a:lvl1pPr algn="r" rtl="1">
              <a:defRPr sz="3600" b="1">
                <a:solidFill>
                  <a:schemeClr val="tx2"/>
                </a:solidFill>
                <a:latin typeface="TheSansArabic SemiLight" panose="020B0402050302020203" pitchFamily="34" charset="-78"/>
                <a:cs typeface="TheSansArabic SemiLight" panose="020B0402050302020203" pitchFamily="34" charset="-78"/>
              </a:defRPr>
            </a:lvl1pPr>
          </a:lstStyle>
          <a:p>
            <a:r>
              <a:rPr lang="en-US"/>
              <a:t>Click to edit Master title style</a:t>
            </a:r>
            <a:endParaRPr lang="en-US" dirty="0"/>
          </a:p>
        </p:txBody>
      </p:sp>
      <p:sp>
        <p:nvSpPr>
          <p:cNvPr id="10" name="Text Placeholder 2">
            <a:extLst>
              <a:ext uri="{FF2B5EF4-FFF2-40B4-BE49-F238E27FC236}">
                <a16:creationId xmlns:a16="http://schemas.microsoft.com/office/drawing/2014/main" id="{65688847-ACDE-4792-AC0E-E78BB043B809}"/>
              </a:ext>
            </a:extLst>
          </p:cNvPr>
          <p:cNvSpPr>
            <a:spLocks noGrp="1"/>
          </p:cNvSpPr>
          <p:nvPr>
            <p:ph type="body" idx="1"/>
          </p:nvPr>
        </p:nvSpPr>
        <p:spPr>
          <a:xfrm>
            <a:off x="449712" y="1541123"/>
            <a:ext cx="10550384" cy="4527979"/>
          </a:xfrm>
        </p:spPr>
        <p:txBody>
          <a:bodyPr>
            <a:normAutofit/>
          </a:bodyPr>
          <a:lstStyle>
            <a:lvl1pPr marL="0" indent="0" algn="r" rtl="1">
              <a:buNone/>
              <a:defRPr sz="2000">
                <a:solidFill>
                  <a:srgbClr val="000000"/>
                </a:solidFill>
                <a:latin typeface="TheSansArabic SemiLight" panose="020B0402050302020203" pitchFamily="34" charset="-78"/>
                <a:cs typeface="TheSansArabic SemiLight" panose="020B0402050302020203" pitchFamily="34" charset="-78"/>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405350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965639E-137C-4580-8B0E-A6A224A9085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6474" t="22538" r="1507" b="4109"/>
          <a:stretch/>
        </p:blipFill>
        <p:spPr>
          <a:xfrm>
            <a:off x="0" y="0"/>
            <a:ext cx="12192000" cy="6858000"/>
          </a:xfrm>
          <a:prstGeom prst="rect">
            <a:avLst/>
          </a:prstGeom>
        </p:spPr>
      </p:pic>
      <p:sp>
        <p:nvSpPr>
          <p:cNvPr id="8" name="Title 1">
            <a:extLst>
              <a:ext uri="{FF2B5EF4-FFF2-40B4-BE49-F238E27FC236}">
                <a16:creationId xmlns:a16="http://schemas.microsoft.com/office/drawing/2014/main" id="{B39CAF25-2012-4B81-94E5-B53D7FC67738}"/>
              </a:ext>
            </a:extLst>
          </p:cNvPr>
          <p:cNvSpPr>
            <a:spLocks noGrp="1"/>
          </p:cNvSpPr>
          <p:nvPr>
            <p:ph type="title"/>
          </p:nvPr>
        </p:nvSpPr>
        <p:spPr>
          <a:xfrm>
            <a:off x="6162261" y="4549523"/>
            <a:ext cx="5371505" cy="1325563"/>
          </a:xfrm>
        </p:spPr>
        <p:txBody>
          <a:bodyPr/>
          <a:lstStyle>
            <a:lvl1pPr algn="r" rtl="1">
              <a:defRPr b="1">
                <a:solidFill>
                  <a:schemeClr val="bg1"/>
                </a:solidFill>
                <a:latin typeface="TheSansArabic SemiLight" panose="020B0402050302020203" pitchFamily="34" charset="-78"/>
                <a:cs typeface="TheSansArabic SemiLight" panose="020B0402050302020203" pitchFamily="34" charset="-78"/>
              </a:defRPr>
            </a:lvl1pPr>
          </a:lstStyle>
          <a:p>
            <a:r>
              <a:rPr lang="en-US"/>
              <a:t>Click to edit Master title style</a:t>
            </a:r>
            <a:endParaRPr lang="en-US" dirty="0"/>
          </a:p>
        </p:txBody>
      </p:sp>
    </p:spTree>
    <p:extLst>
      <p:ext uri="{BB962C8B-B14F-4D97-AF65-F5344CB8AC3E}">
        <p14:creationId xmlns:p14="http://schemas.microsoft.com/office/powerpoint/2010/main" val="3631651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ivider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E15A6D-2ADA-6C42-87C6-B043F0EF25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935056"/>
          </a:xfrm>
          <a:prstGeom prst="rect">
            <a:avLst/>
          </a:prstGeom>
        </p:spPr>
      </p:pic>
      <p:sp>
        <p:nvSpPr>
          <p:cNvPr id="8" name="Title 1">
            <a:extLst>
              <a:ext uri="{FF2B5EF4-FFF2-40B4-BE49-F238E27FC236}">
                <a16:creationId xmlns:a16="http://schemas.microsoft.com/office/drawing/2014/main" id="{B39CAF25-2012-4B81-94E5-B53D7FC67738}"/>
              </a:ext>
            </a:extLst>
          </p:cNvPr>
          <p:cNvSpPr>
            <a:spLocks noGrp="1"/>
          </p:cNvSpPr>
          <p:nvPr>
            <p:ph type="title"/>
          </p:nvPr>
        </p:nvSpPr>
        <p:spPr>
          <a:xfrm>
            <a:off x="6162261" y="4549523"/>
            <a:ext cx="5371505" cy="1325563"/>
          </a:xfrm>
        </p:spPr>
        <p:txBody>
          <a:bodyPr/>
          <a:lstStyle>
            <a:lvl1pPr algn="r" rtl="1">
              <a:defRPr b="1">
                <a:solidFill>
                  <a:schemeClr val="bg1"/>
                </a:solidFill>
                <a:latin typeface="TheSansArabic SemiLight" panose="020B0402050302020203" pitchFamily="34" charset="-78"/>
                <a:cs typeface="TheSansArabic SemiLight" panose="020B0402050302020203" pitchFamily="34" charset="-78"/>
              </a:defRPr>
            </a:lvl1pPr>
          </a:lstStyle>
          <a:p>
            <a:r>
              <a:rPr lang="en-US"/>
              <a:t>Click to edit Master title style</a:t>
            </a:r>
            <a:endParaRPr lang="en-US" dirty="0"/>
          </a:p>
        </p:txBody>
      </p:sp>
    </p:spTree>
    <p:extLst>
      <p:ext uri="{BB962C8B-B14F-4D97-AF65-F5344CB8AC3E}">
        <p14:creationId xmlns:p14="http://schemas.microsoft.com/office/powerpoint/2010/main" val="4154875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Divider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843B07-B14D-8A46-909E-B041F327B72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3975"/>
            <a:ext cx="12192000" cy="6965950"/>
          </a:xfrm>
          <a:prstGeom prst="rect">
            <a:avLst/>
          </a:prstGeom>
        </p:spPr>
      </p:pic>
      <p:sp>
        <p:nvSpPr>
          <p:cNvPr id="8" name="Title 1">
            <a:extLst>
              <a:ext uri="{FF2B5EF4-FFF2-40B4-BE49-F238E27FC236}">
                <a16:creationId xmlns:a16="http://schemas.microsoft.com/office/drawing/2014/main" id="{B39CAF25-2012-4B81-94E5-B53D7FC67738}"/>
              </a:ext>
            </a:extLst>
          </p:cNvPr>
          <p:cNvSpPr>
            <a:spLocks noGrp="1"/>
          </p:cNvSpPr>
          <p:nvPr>
            <p:ph type="title"/>
          </p:nvPr>
        </p:nvSpPr>
        <p:spPr>
          <a:xfrm>
            <a:off x="6162261" y="4549523"/>
            <a:ext cx="5371505" cy="1325563"/>
          </a:xfrm>
        </p:spPr>
        <p:txBody>
          <a:bodyPr/>
          <a:lstStyle>
            <a:lvl1pPr algn="r" rtl="1">
              <a:defRPr b="1">
                <a:solidFill>
                  <a:schemeClr val="bg1"/>
                </a:solidFill>
                <a:latin typeface="TheSansArabic SemiLight" panose="020B0402050302020203" pitchFamily="34" charset="-78"/>
                <a:cs typeface="TheSansArabic SemiLight" panose="020B0402050302020203" pitchFamily="34" charset="-78"/>
              </a:defRPr>
            </a:lvl1pPr>
          </a:lstStyle>
          <a:p>
            <a:r>
              <a:rPr lang="en-US"/>
              <a:t>Click to edit Master title style</a:t>
            </a:r>
            <a:endParaRPr lang="en-US" dirty="0"/>
          </a:p>
        </p:txBody>
      </p:sp>
    </p:spTree>
    <p:extLst>
      <p:ext uri="{BB962C8B-B14F-4D97-AF65-F5344CB8AC3E}">
        <p14:creationId xmlns:p14="http://schemas.microsoft.com/office/powerpoint/2010/main" val="4233595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ank you Pa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91B6D6-473C-43DD-82C2-EE59EA1186D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0900" r="377"/>
          <a:stretch/>
        </p:blipFill>
        <p:spPr>
          <a:xfrm>
            <a:off x="-1" y="-1"/>
            <a:ext cx="12192001" cy="6858001"/>
          </a:xfrm>
          <a:prstGeom prst="rect">
            <a:avLst/>
          </a:prstGeom>
        </p:spPr>
      </p:pic>
      <p:sp>
        <p:nvSpPr>
          <p:cNvPr id="11" name="Title 1">
            <a:extLst>
              <a:ext uri="{FF2B5EF4-FFF2-40B4-BE49-F238E27FC236}">
                <a16:creationId xmlns:a16="http://schemas.microsoft.com/office/drawing/2014/main" id="{60501B07-99EB-41FE-83D6-83B817500DE0}"/>
              </a:ext>
            </a:extLst>
          </p:cNvPr>
          <p:cNvSpPr>
            <a:spLocks noGrp="1"/>
          </p:cNvSpPr>
          <p:nvPr>
            <p:ph type="title" hasCustomPrompt="1"/>
          </p:nvPr>
        </p:nvSpPr>
        <p:spPr>
          <a:xfrm>
            <a:off x="5332863" y="3760185"/>
            <a:ext cx="6204045" cy="1325563"/>
          </a:xfrm>
        </p:spPr>
        <p:txBody>
          <a:bodyPr>
            <a:noAutofit/>
          </a:bodyPr>
          <a:lstStyle>
            <a:lvl1pPr marL="0" marR="0" indent="0" algn="r" defTabSz="914400" rtl="1" eaLnBrk="1" fontAlgn="auto" latinLnBrk="0" hangingPunct="1">
              <a:lnSpc>
                <a:spcPct val="90000"/>
              </a:lnSpc>
              <a:spcBef>
                <a:spcPct val="0"/>
              </a:spcBef>
              <a:spcAft>
                <a:spcPts val="0"/>
              </a:spcAft>
              <a:buClrTx/>
              <a:buSzTx/>
              <a:buFontTx/>
              <a:buNone/>
              <a:tabLst/>
              <a:defRPr sz="4800" b="1" i="0">
                <a:solidFill>
                  <a:schemeClr val="bg1"/>
                </a:solidFill>
                <a:latin typeface="TheSansArabic" panose="020B0402050302020203" pitchFamily="34" charset="-78"/>
                <a:cs typeface="TheSansArabic" panose="020B0402050302020203" pitchFamily="34" charset="-78"/>
              </a:defRPr>
            </a:lvl1pPr>
          </a:lstStyle>
          <a:p>
            <a:r>
              <a:rPr lang="ar-SA" dirty="0"/>
              <a:t>شكراً</a:t>
            </a:r>
            <a:endParaRPr lang="en-US" dirty="0"/>
          </a:p>
        </p:txBody>
      </p:sp>
    </p:spTree>
    <p:extLst>
      <p:ext uri="{BB962C8B-B14F-4D97-AF65-F5344CB8AC3E}">
        <p14:creationId xmlns:p14="http://schemas.microsoft.com/office/powerpoint/2010/main" val="2747106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AE61C07-D432-BC4B-B21C-C1B0C477B4B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18001E71-BB2B-8645-B3FA-C91F05FD359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427" y="0"/>
            <a:ext cx="8769350" cy="6858000"/>
          </a:xfrm>
          <a:prstGeom prst="rect">
            <a:avLst/>
          </a:prstGeom>
        </p:spPr>
      </p:pic>
      <p:pic>
        <p:nvPicPr>
          <p:cNvPr id="5" name="Picture 4">
            <a:extLst>
              <a:ext uri="{FF2B5EF4-FFF2-40B4-BE49-F238E27FC236}">
                <a16:creationId xmlns:a16="http://schemas.microsoft.com/office/drawing/2014/main" id="{B9CD9B31-8D6C-0243-A657-0759B53A074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481913" y="587141"/>
            <a:ext cx="1289905" cy="2084103"/>
          </a:xfrm>
          <a:prstGeom prst="rect">
            <a:avLst/>
          </a:prstGeom>
        </p:spPr>
      </p:pic>
    </p:spTree>
    <p:extLst>
      <p:ext uri="{BB962C8B-B14F-4D97-AF65-F5344CB8AC3E}">
        <p14:creationId xmlns:p14="http://schemas.microsoft.com/office/powerpoint/2010/main" val="319143595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CE697F-F91C-5E4C-9D50-B261EBD8087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20244" y="5554282"/>
            <a:ext cx="4371756" cy="1329118"/>
          </a:xfrm>
          <a:prstGeom prst="rect">
            <a:avLst/>
          </a:prstGeom>
        </p:spPr>
      </p:pic>
    </p:spTree>
    <p:extLst>
      <p:ext uri="{BB962C8B-B14F-4D97-AF65-F5344CB8AC3E}">
        <p14:creationId xmlns:p14="http://schemas.microsoft.com/office/powerpoint/2010/main" val="4198086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Divider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2C7700-C68E-CE40-9DEF-E52AAB87D63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E3D1C7F6-BB81-FD41-A9FF-008837144D57}"/>
              </a:ext>
            </a:extLst>
          </p:cNvPr>
          <p:cNvSpPr>
            <a:spLocks noGrp="1"/>
          </p:cNvSpPr>
          <p:nvPr>
            <p:ph type="title" hasCustomPrompt="1"/>
          </p:nvPr>
        </p:nvSpPr>
        <p:spPr>
          <a:xfrm>
            <a:off x="4151376" y="4549525"/>
            <a:ext cx="6903721" cy="1325563"/>
          </a:xfrm>
        </p:spPr>
        <p:txBody>
          <a:bodyPr>
            <a:normAutofit/>
          </a:bodyPr>
          <a:lstStyle>
            <a:lvl1pPr algn="r" rtl="1">
              <a:defRPr sz="3600" b="0">
                <a:solidFill>
                  <a:schemeClr val="bg1"/>
                </a:solidFill>
                <a:latin typeface="TheSansArab Plain" panose="020B0502050302020203" pitchFamily="34" charset="-78"/>
                <a:cs typeface="TheSansArab Plain" panose="020B0502050302020203" pitchFamily="34" charset="-78"/>
              </a:defRPr>
            </a:lvl1pPr>
          </a:lstStyle>
          <a:p>
            <a:r>
              <a:rPr lang="ar-SA" dirty="0"/>
              <a:t>عنوان الفواصل بين المواضيع</a:t>
            </a:r>
            <a:endParaRPr lang="en-US" dirty="0"/>
          </a:p>
        </p:txBody>
      </p:sp>
    </p:spTree>
    <p:extLst>
      <p:ext uri="{BB962C8B-B14F-4D97-AF65-F5344CB8AC3E}">
        <p14:creationId xmlns:p14="http://schemas.microsoft.com/office/powerpoint/2010/main" val="634509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Divider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80EC15-7E0B-124A-8815-B3793421DFC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B54652C-FB10-1240-A9CE-5C69C06FA143}"/>
              </a:ext>
            </a:extLst>
          </p:cNvPr>
          <p:cNvSpPr>
            <a:spLocks noGrp="1"/>
          </p:cNvSpPr>
          <p:nvPr>
            <p:ph type="title" hasCustomPrompt="1"/>
          </p:nvPr>
        </p:nvSpPr>
        <p:spPr>
          <a:xfrm>
            <a:off x="4151376" y="4549525"/>
            <a:ext cx="6903721" cy="1325563"/>
          </a:xfrm>
        </p:spPr>
        <p:txBody>
          <a:bodyPr>
            <a:normAutofit/>
          </a:bodyPr>
          <a:lstStyle>
            <a:lvl1pPr algn="r" rtl="1">
              <a:defRPr sz="3600" b="0">
                <a:solidFill>
                  <a:schemeClr val="bg1"/>
                </a:solidFill>
                <a:latin typeface="TheSansArab Plain" panose="020B0502050302020203" pitchFamily="34" charset="-78"/>
                <a:cs typeface="TheSansArab Plain" panose="020B0502050302020203" pitchFamily="34" charset="-78"/>
              </a:defRPr>
            </a:lvl1pPr>
          </a:lstStyle>
          <a:p>
            <a:r>
              <a:rPr lang="ar-SA" dirty="0"/>
              <a:t>عنوان الفواصل بين المواضيع</a:t>
            </a:r>
            <a:endParaRPr lang="en-US" dirty="0"/>
          </a:p>
        </p:txBody>
      </p:sp>
    </p:spTree>
    <p:extLst>
      <p:ext uri="{BB962C8B-B14F-4D97-AF65-F5344CB8AC3E}">
        <p14:creationId xmlns:p14="http://schemas.microsoft.com/office/powerpoint/2010/main" val="33087669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Divider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7FDFCE-D557-B74B-B64E-E24C2482441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CEA4AB-B006-614B-9613-FA0ECAF481FB}"/>
              </a:ext>
            </a:extLst>
          </p:cNvPr>
          <p:cNvSpPr>
            <a:spLocks noGrp="1"/>
          </p:cNvSpPr>
          <p:nvPr>
            <p:ph type="title" hasCustomPrompt="1"/>
          </p:nvPr>
        </p:nvSpPr>
        <p:spPr>
          <a:xfrm>
            <a:off x="4151376" y="4549525"/>
            <a:ext cx="6903721" cy="1325563"/>
          </a:xfrm>
        </p:spPr>
        <p:txBody>
          <a:bodyPr>
            <a:normAutofit/>
          </a:bodyPr>
          <a:lstStyle>
            <a:lvl1pPr algn="r" rtl="1">
              <a:defRPr sz="3600" b="0">
                <a:solidFill>
                  <a:schemeClr val="bg1"/>
                </a:solidFill>
                <a:latin typeface="TheSansArab Plain" panose="020B0502050302020203" pitchFamily="34" charset="-78"/>
                <a:cs typeface="TheSansArab Plain" panose="020B0502050302020203" pitchFamily="34" charset="-78"/>
              </a:defRPr>
            </a:lvl1pPr>
          </a:lstStyle>
          <a:p>
            <a:r>
              <a:rPr lang="ar-SA" dirty="0"/>
              <a:t>عنوان الفواصل بين المواضيع</a:t>
            </a:r>
            <a:endParaRPr lang="en-US" dirty="0"/>
          </a:p>
        </p:txBody>
      </p:sp>
    </p:spTree>
    <p:extLst>
      <p:ext uri="{BB962C8B-B14F-4D97-AF65-F5344CB8AC3E}">
        <p14:creationId xmlns:p14="http://schemas.microsoft.com/office/powerpoint/2010/main" val="33205185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Divider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7F486F-CBF0-6446-ACCE-5278F2BA0E5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1">
            <a:extLst>
              <a:ext uri="{FF2B5EF4-FFF2-40B4-BE49-F238E27FC236}">
                <a16:creationId xmlns:a16="http://schemas.microsoft.com/office/drawing/2014/main" id="{6FD94701-9FCD-D24D-AEDF-57FB2A631C59}"/>
              </a:ext>
            </a:extLst>
          </p:cNvPr>
          <p:cNvSpPr>
            <a:spLocks noGrp="1"/>
          </p:cNvSpPr>
          <p:nvPr>
            <p:ph type="title" hasCustomPrompt="1"/>
          </p:nvPr>
        </p:nvSpPr>
        <p:spPr>
          <a:xfrm>
            <a:off x="4151376" y="4549525"/>
            <a:ext cx="6903721" cy="1325563"/>
          </a:xfrm>
        </p:spPr>
        <p:txBody>
          <a:bodyPr>
            <a:normAutofit/>
          </a:bodyPr>
          <a:lstStyle>
            <a:lvl1pPr algn="r" rtl="1">
              <a:defRPr sz="3600" b="0">
                <a:solidFill>
                  <a:schemeClr val="bg1"/>
                </a:solidFill>
                <a:latin typeface="TheSansArab Plain" panose="020B0502050302020203" pitchFamily="34" charset="-78"/>
                <a:cs typeface="TheSansArab Plain" panose="020B0502050302020203" pitchFamily="34" charset="-78"/>
              </a:defRPr>
            </a:lvl1pPr>
          </a:lstStyle>
          <a:p>
            <a:r>
              <a:rPr lang="ar-SA" dirty="0"/>
              <a:t>عنوان الفواصل بين المواضيع</a:t>
            </a:r>
            <a:endParaRPr lang="en-US" dirty="0"/>
          </a:p>
        </p:txBody>
      </p:sp>
    </p:spTree>
    <p:extLst>
      <p:ext uri="{BB962C8B-B14F-4D97-AF65-F5344CB8AC3E}">
        <p14:creationId xmlns:p14="http://schemas.microsoft.com/office/powerpoint/2010/main" val="3371879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Layout" Target="../slideLayouts/slideLayout10.xml"/><Relationship Id="rId7"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288E70-0C30-4596-B6E5-85B4901A22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0075DE75-744A-42B0-9350-C9038C8097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CE4F208-610E-40F9-9908-D01521BDB2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heSansArabic SemiLight" panose="020B0402050302020203" pitchFamily="34" charset="-78"/>
                <a:cs typeface="TheSansArabic SemiLight" panose="020B0402050302020203" pitchFamily="34" charset="-78"/>
              </a:defRPr>
            </a:lvl1pPr>
          </a:lstStyle>
          <a:p>
            <a:fld id="{0A475379-0658-406F-B73E-526C51D4D8EF}" type="datetimeFigureOut">
              <a:rPr lang="en-US" smtClean="0"/>
              <a:pPr/>
              <a:t>10/18/2026</a:t>
            </a:fld>
            <a:endParaRPr lang="en-US"/>
          </a:p>
        </p:txBody>
      </p:sp>
      <p:sp>
        <p:nvSpPr>
          <p:cNvPr id="5" name="Footer Placeholder 4">
            <a:extLst>
              <a:ext uri="{FF2B5EF4-FFF2-40B4-BE49-F238E27FC236}">
                <a16:creationId xmlns:a16="http://schemas.microsoft.com/office/drawing/2014/main" id="{494EF0CA-F64A-47C2-9EF0-0446965702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heSansArabic SemiLight" panose="020B0402050302020203" pitchFamily="34" charset="-78"/>
                <a:cs typeface="TheSansArabic SemiLight" panose="020B0402050302020203" pitchFamily="34" charset="-78"/>
              </a:defRPr>
            </a:lvl1pPr>
          </a:lstStyle>
          <a:p>
            <a:endParaRPr lang="en-US"/>
          </a:p>
        </p:txBody>
      </p:sp>
      <p:sp>
        <p:nvSpPr>
          <p:cNvPr id="6" name="Slide Number Placeholder 5">
            <a:extLst>
              <a:ext uri="{FF2B5EF4-FFF2-40B4-BE49-F238E27FC236}">
                <a16:creationId xmlns:a16="http://schemas.microsoft.com/office/drawing/2014/main" id="{BB75121B-B1F6-4D9C-8552-3A25503594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heSansArabic SemiLight" panose="020B0402050302020203" pitchFamily="34" charset="-78"/>
                <a:cs typeface="TheSansArabic SemiLight" panose="020B0402050302020203" pitchFamily="34" charset="-78"/>
              </a:defRPr>
            </a:lvl1pPr>
          </a:lstStyle>
          <a:p>
            <a:fld id="{16FBF5E7-3224-44C0-8979-05CA326FF4D2}" type="slidenum">
              <a:rPr lang="en-US" smtClean="0"/>
              <a:pPr/>
              <a:t>‹#›</a:t>
            </a:fld>
            <a:endParaRPr lang="en-US"/>
          </a:p>
        </p:txBody>
      </p:sp>
    </p:spTree>
    <p:extLst>
      <p:ext uri="{BB962C8B-B14F-4D97-AF65-F5344CB8AC3E}">
        <p14:creationId xmlns:p14="http://schemas.microsoft.com/office/powerpoint/2010/main" val="1262060313"/>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4" r:id="rId3"/>
    <p:sldLayoutId id="2147483653" r:id="rId4"/>
    <p:sldLayoutId id="2147483655" r:id="rId5"/>
    <p:sldLayoutId id="2147483656" r:id="rId6"/>
    <p:sldLayoutId id="2147483652" r:id="rId7"/>
  </p:sldLayoutIdLst>
  <p:txStyles>
    <p:titleStyle>
      <a:lvl1pPr algn="l" defTabSz="914400" rtl="0" eaLnBrk="1" latinLnBrk="0" hangingPunct="1">
        <a:lnSpc>
          <a:spcPct val="90000"/>
        </a:lnSpc>
        <a:spcBef>
          <a:spcPct val="0"/>
        </a:spcBef>
        <a:buNone/>
        <a:defRPr sz="4400" kern="1200">
          <a:solidFill>
            <a:schemeClr val="tx1"/>
          </a:solidFill>
          <a:latin typeface="TheSansArabic SemiLight" panose="020B0402050302020203" pitchFamily="34" charset="-78"/>
          <a:ea typeface="+mj-ea"/>
          <a:cs typeface="TheSansArabic SemiLight" panose="020B0402050302020203" pitchFamily="34" charset="-78"/>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heSansArabic SemiLight" panose="020B0402050302020203" pitchFamily="34" charset="-78"/>
          <a:ea typeface="+mn-ea"/>
          <a:cs typeface="TheSansArabic SemiLight" panose="020B0402050302020203" pitchFamily="34" charset="-7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heSansArabic SemiLight" panose="020B0402050302020203" pitchFamily="34" charset="-78"/>
          <a:ea typeface="+mn-ea"/>
          <a:cs typeface="TheSansArabic SemiLight" panose="020B0402050302020203" pitchFamily="34" charset="-78"/>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heSansArabic SemiLight" panose="020B0402050302020203" pitchFamily="34" charset="-78"/>
          <a:ea typeface="+mn-ea"/>
          <a:cs typeface="TheSansArabic SemiLight" panose="020B0402050302020203" pitchFamily="34" charset="-78"/>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heSansArabic SemiLight" panose="020B0402050302020203" pitchFamily="34" charset="-78"/>
          <a:ea typeface="+mn-ea"/>
          <a:cs typeface="TheSansArabic SemiLight" panose="020B0402050302020203" pitchFamily="34" charset="-78"/>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heSansArabic SemiLight" panose="020B0402050302020203" pitchFamily="34" charset="-78"/>
          <a:ea typeface="+mn-ea"/>
          <a:cs typeface="TheSansArabic SemiLight" panose="020B0402050302020203" pitchFamily="34"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288E70-0C30-4596-B6E5-85B4901A22CB}"/>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0075DE75-744A-42B0-9350-C9038C8097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CE4F208-610E-40F9-9908-D01521BDB246}"/>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latin typeface="TheSansArabic SemiLight" panose="020B0402050302020203" pitchFamily="34" charset="-78"/>
                <a:cs typeface="TheSansArabic SemiLight" panose="020B0402050302020203" pitchFamily="34" charset="-78"/>
              </a:defRPr>
            </a:lvl1pPr>
          </a:lstStyle>
          <a:p>
            <a:fld id="{0A475379-0658-406F-B73E-526C51D4D8EF}" type="datetimeFigureOut">
              <a:rPr lang="en-US" smtClean="0"/>
              <a:pPr/>
              <a:t>10/18/2026</a:t>
            </a:fld>
            <a:endParaRPr lang="en-US" dirty="0"/>
          </a:p>
        </p:txBody>
      </p:sp>
      <p:sp>
        <p:nvSpPr>
          <p:cNvPr id="5" name="Footer Placeholder 4">
            <a:extLst>
              <a:ext uri="{FF2B5EF4-FFF2-40B4-BE49-F238E27FC236}">
                <a16:creationId xmlns:a16="http://schemas.microsoft.com/office/drawing/2014/main" id="{494EF0CA-F64A-47C2-9EF0-044696570233}"/>
              </a:ext>
            </a:extLst>
          </p:cNvPr>
          <p:cNvSpPr>
            <a:spLocks noGrp="1"/>
          </p:cNvSpPr>
          <p:nvPr>
            <p:ph type="ftr" sz="quarter" idx="3"/>
            <p:custDataLst>
              <p:tags r:id="rId8"/>
            </p:custDataLst>
          </p:nvPr>
        </p:nvSpPr>
        <p:spPr>
          <a:xfrm>
            <a:off x="0" y="6356352"/>
            <a:ext cx="12192000" cy="365125"/>
          </a:xfrm>
          <a:prstGeom prst="rect">
            <a:avLst/>
          </a:prstGeom>
        </p:spPr>
        <p:txBody>
          <a:bodyPr vert="horz" lIns="91440" tIns="45720" rIns="91440" bIns="45720" rtlCol="0" anchor="ctr"/>
          <a:lstStyle>
            <a:lvl1pPr algn="l">
              <a:defRPr lang="ar-SA"/>
            </a:lvl1pPr>
          </a:lstStyle>
          <a:p>
            <a:r>
              <a:rPr lang="en-US" sz="1000" b="1">
                <a:solidFill>
                  <a:srgbClr val="000000"/>
                </a:solidFill>
                <a:latin typeface="Arial" panose="020B0604020202020204" pitchFamily="34" charset="0"/>
              </a:rPr>
              <a:t> </a:t>
            </a:r>
            <a:r>
              <a:rPr lang="en-US" sz="1000" b="1">
                <a:solidFill>
                  <a:srgbClr val="D4AC0D"/>
                </a:solidFill>
                <a:latin typeface="Arial" panose="020B0604020202020204" pitchFamily="34" charset="0"/>
              </a:rPr>
              <a:t>Confidential</a:t>
            </a:r>
            <a:r>
              <a:rPr lang="en-US" sz="1000" b="1">
                <a:solidFill>
                  <a:srgbClr val="000000"/>
                </a:solidFill>
                <a:latin typeface="Arial" panose="020B0604020202020204" pitchFamily="34" charset="0"/>
              </a:rPr>
              <a:t> | </a:t>
            </a:r>
            <a:r>
              <a:rPr lang="ar-SA" sz="1000" b="1">
                <a:solidFill>
                  <a:srgbClr val="D4AC0D"/>
                </a:solidFill>
                <a:latin typeface="Arial" panose="020B0604020202020204" pitchFamily="34" charset="0"/>
              </a:rPr>
              <a:t>مقيّد</a:t>
            </a:r>
          </a:p>
        </p:txBody>
      </p:sp>
      <p:sp>
        <p:nvSpPr>
          <p:cNvPr id="6" name="Slide Number Placeholder 5">
            <a:extLst>
              <a:ext uri="{FF2B5EF4-FFF2-40B4-BE49-F238E27FC236}">
                <a16:creationId xmlns:a16="http://schemas.microsoft.com/office/drawing/2014/main" id="{BB75121B-B1F6-4D9C-8552-3A25503594BE}"/>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latin typeface="TheSansArabic SemiLight" panose="020B0402050302020203" pitchFamily="34" charset="-78"/>
                <a:cs typeface="TheSansArabic SemiLight" panose="020B0402050302020203" pitchFamily="34" charset="-78"/>
              </a:defRPr>
            </a:lvl1pPr>
          </a:lstStyle>
          <a:p>
            <a:fld id="{16FBF5E7-3224-44C0-8979-05CA326FF4D2}" type="slidenum">
              <a:rPr lang="en-US" smtClean="0"/>
              <a:pPr/>
              <a:t>‹#›</a:t>
            </a:fld>
            <a:endParaRPr lang="en-US"/>
          </a:p>
        </p:txBody>
      </p:sp>
    </p:spTree>
    <p:extLst>
      <p:ext uri="{BB962C8B-B14F-4D97-AF65-F5344CB8AC3E}">
        <p14:creationId xmlns:p14="http://schemas.microsoft.com/office/powerpoint/2010/main" val="759682959"/>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TheSansArabic SemiLight" panose="020B0402050302020203" pitchFamily="34" charset="-78"/>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j-lt"/>
          <a:ea typeface="+mn-ea"/>
          <a:cs typeface="TheSansArabic SemiLight" panose="020B0402050302020203" pitchFamily="34" charset="-78"/>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j-lt"/>
          <a:ea typeface="+mn-ea"/>
          <a:cs typeface="TheSansArabic SemiLight" panose="020B0402050302020203" pitchFamily="34" charset="-78"/>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TheSansArabic SemiLight" panose="020B0402050302020203" pitchFamily="34" charset="-78"/>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TheSansArabic SemiLight" panose="020B0402050302020203" pitchFamily="34" charset="-78"/>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TheSansArabic SemiLight" panose="020B0402050302020203" pitchFamily="34" charset="-78"/>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hyperlink" Target="https://drive.google.com/file/d/1tGm1anFJdT1_tS9WMKMRP1Q4amLtM2Dh/view?usp=sharing"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1.emf"/></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3FEE0-951C-BB4E-A972-9A79AB7ECC62}"/>
              </a:ext>
            </a:extLst>
          </p:cNvPr>
          <p:cNvSpPr>
            <a:spLocks noGrp="1"/>
          </p:cNvSpPr>
          <p:nvPr>
            <p:ph type="ctrTitle"/>
          </p:nvPr>
        </p:nvSpPr>
        <p:spPr/>
        <p:txBody>
          <a:bodyPr>
            <a:normAutofit fontScale="90000"/>
          </a:bodyPr>
          <a:lstStyle/>
          <a:p>
            <a:pPr algn="l"/>
            <a:r>
              <a:rPr lang="en-US" altLang="en-US" dirty="0"/>
              <a:t>Weekly Progress Report – Construction Projects</a:t>
            </a:r>
            <a:endParaRPr lang="en-US" dirty="0"/>
          </a:p>
        </p:txBody>
      </p:sp>
      <p:sp>
        <p:nvSpPr>
          <p:cNvPr id="3" name="Subtitle 2">
            <a:extLst>
              <a:ext uri="{FF2B5EF4-FFF2-40B4-BE49-F238E27FC236}">
                <a16:creationId xmlns:a16="http://schemas.microsoft.com/office/drawing/2014/main" id="{276FC7AC-DA81-E44D-8A87-C51E415D9909}"/>
              </a:ext>
            </a:extLst>
          </p:cNvPr>
          <p:cNvSpPr>
            <a:spLocks noGrp="1"/>
          </p:cNvSpPr>
          <p:nvPr>
            <p:ph type="subTitle" idx="1"/>
          </p:nvPr>
        </p:nvSpPr>
        <p:spPr/>
        <p:txBody>
          <a:bodyPr/>
          <a:lstStyle/>
          <a:p>
            <a:pPr algn="l"/>
            <a:r>
              <a:rPr lang="en-US" dirty="0"/>
              <a:t>Projects Department</a:t>
            </a:r>
          </a:p>
        </p:txBody>
      </p:sp>
    </p:spTree>
    <p:extLst>
      <p:ext uri="{BB962C8B-B14F-4D97-AF65-F5344CB8AC3E}">
        <p14:creationId xmlns:p14="http://schemas.microsoft.com/office/powerpoint/2010/main" val="3835886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CBBF3-6CEA-E944-88C9-95C54617B849}"/>
              </a:ext>
            </a:extLst>
          </p:cNvPr>
          <p:cNvSpPr>
            <a:spLocks noGrp="1"/>
          </p:cNvSpPr>
          <p:nvPr>
            <p:ph type="title"/>
          </p:nvPr>
        </p:nvSpPr>
        <p:spPr/>
        <p:txBody>
          <a:bodyPr/>
          <a:lstStyle/>
          <a:p>
            <a:pPr algn="l"/>
            <a:r>
              <a:rPr lang="en-US" dirty="0"/>
              <a:t>Disclaimer</a:t>
            </a:r>
          </a:p>
        </p:txBody>
      </p:sp>
      <p:sp>
        <p:nvSpPr>
          <p:cNvPr id="3" name="Text Placeholder 2">
            <a:extLst>
              <a:ext uri="{FF2B5EF4-FFF2-40B4-BE49-F238E27FC236}">
                <a16:creationId xmlns:a16="http://schemas.microsoft.com/office/drawing/2014/main" id="{76BEE845-CFBB-EB4A-A813-7DF7CC74F3B7}"/>
              </a:ext>
            </a:extLst>
          </p:cNvPr>
          <p:cNvSpPr>
            <a:spLocks noGrp="1"/>
          </p:cNvSpPr>
          <p:nvPr>
            <p:ph type="body" idx="1"/>
          </p:nvPr>
        </p:nvSpPr>
        <p:spPr>
          <a:xfrm>
            <a:off x="438174" y="1928687"/>
            <a:ext cx="10550384" cy="4554664"/>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Low" rtl="0" eaLnBrk="0" fontAlgn="base" hangingPunct="0">
              <a:spcBef>
                <a:spcPts val="750"/>
              </a:spcBef>
              <a:spcAft>
                <a:spcPct val="0"/>
              </a:spcAft>
              <a:buClr>
                <a:srgbClr val="F48C20"/>
              </a:buClr>
              <a:buFont typeface="Wingdings" panose="05000000000000000000" pitchFamily="2" charset="2"/>
            </a:pPr>
            <a:r>
              <a:rPr lang="en-US" altLang="en-US" sz="1800" b="1" dirty="0">
                <a:solidFill>
                  <a:schemeClr val="tx1"/>
                </a:solidFill>
                <a:latin typeface="Century Gothic" panose="020B0502020202020204" pitchFamily="34" charset="0"/>
                <a:cs typeface="+mn-cs"/>
              </a:rPr>
              <a:t>This report is not all inclusive, nor it is intended to address the entirety of construction progress. It is concerned primarily with construction progress and is intended to provide near term management information. The report itself serves as the Agenda for the weekly/Biweekly/Monthly or as required progress meetings.</a:t>
            </a:r>
          </a:p>
          <a:p>
            <a:pPr algn="l" rtl="0" eaLnBrk="0" fontAlgn="base" hangingPunct="0">
              <a:spcBef>
                <a:spcPts val="750"/>
              </a:spcBef>
              <a:spcAft>
                <a:spcPct val="0"/>
              </a:spcAft>
              <a:buClr>
                <a:srgbClr val="F48C20"/>
              </a:buClr>
              <a:buFont typeface="Wingdings" panose="05000000000000000000" pitchFamily="2" charset="2"/>
            </a:pPr>
            <a:endParaRPr lang="en-US" sz="1800" b="1" dirty="0">
              <a:solidFill>
                <a:schemeClr val="tx1"/>
              </a:solidFill>
              <a:latin typeface="Century Gothic" panose="020B0502020202020204" pitchFamily="34" charset="0"/>
              <a:cs typeface="+mn-cs"/>
            </a:endParaRPr>
          </a:p>
        </p:txBody>
      </p:sp>
    </p:spTree>
    <p:extLst>
      <p:ext uri="{BB962C8B-B14F-4D97-AF65-F5344CB8AC3E}">
        <p14:creationId xmlns:p14="http://schemas.microsoft.com/office/powerpoint/2010/main" val="1612200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1490F-26A0-D04A-BEA7-2C4E9A8E1E7A}"/>
              </a:ext>
            </a:extLst>
          </p:cNvPr>
          <p:cNvSpPr>
            <a:spLocks noGrp="1"/>
          </p:cNvSpPr>
          <p:nvPr>
            <p:ph type="title"/>
          </p:nvPr>
        </p:nvSpPr>
        <p:spPr/>
        <p:txBody>
          <a:bodyPr/>
          <a:lstStyle/>
          <a:p>
            <a:pPr algn="l"/>
            <a:r>
              <a:rPr lang="en-US" dirty="0"/>
              <a:t>Introduction</a:t>
            </a:r>
          </a:p>
        </p:txBody>
      </p:sp>
    </p:spTree>
    <p:extLst>
      <p:ext uri="{BB962C8B-B14F-4D97-AF65-F5344CB8AC3E}">
        <p14:creationId xmlns:p14="http://schemas.microsoft.com/office/powerpoint/2010/main" val="4267245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2091755" y="95253"/>
            <a:ext cx="9005646" cy="560605"/>
          </a:xfrm>
        </p:spPr>
        <p:txBody>
          <a:bodyPr/>
          <a:lstStyle/>
          <a:p>
            <a:pPr algn="l"/>
            <a:r>
              <a:rPr lang="en-US"/>
              <a:t>Weekly Progress Report Dashboard</a:t>
            </a:r>
            <a:endParaRPr lang="en-US" dirty="0"/>
          </a:p>
        </p:txBody>
      </p:sp>
      <p:pic>
        <p:nvPicPr>
          <p:cNvPr id="176140" name="Chart 1">
            <a:extLst>
              <a:ext uri="{FF2B5EF4-FFF2-40B4-BE49-F238E27FC236}">
                <a16:creationId xmlns:a16="http://schemas.microsoft.com/office/drawing/2014/main" id="{2D5C0656-3C4F-771A-1767-756ABBE31E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60625" y="6762750"/>
            <a:ext cx="4524375" cy="287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8930D049-E981-05FA-4871-9D5AEC4272EA}"/>
              </a:ext>
            </a:extLst>
          </p:cNvPr>
          <p:cNvPicPr>
            <a:picLocks noChangeAspect="1"/>
          </p:cNvPicPr>
          <p:nvPr/>
        </p:nvPicPr>
        <p:blipFill>
          <a:blip r:embed="rId3"/>
          <a:stretch>
            <a:fillRect/>
          </a:stretch>
        </p:blipFill>
        <p:spPr>
          <a:xfrm>
            <a:off x="92954" y="758942"/>
            <a:ext cx="12006072" cy="6003800"/>
          </a:xfrm>
          <a:prstGeom prst="rect">
            <a:avLst/>
          </a:prstGeom>
          <a:ln w="12700">
            <a:solidFill>
              <a:schemeClr val="tx1"/>
            </a:solidFill>
          </a:ln>
        </p:spPr>
      </p:pic>
    </p:spTree>
    <p:extLst>
      <p:ext uri="{BB962C8B-B14F-4D97-AF65-F5344CB8AC3E}">
        <p14:creationId xmlns:p14="http://schemas.microsoft.com/office/powerpoint/2010/main" val="1538737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3EC6A-C15B-489E-A797-B5925709FB48}"/>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627C0DDF-4451-F0FE-5E22-29BA1CA9E4F4}"/>
              </a:ext>
            </a:extLst>
          </p:cNvPr>
          <p:cNvGraphicFramePr>
            <a:graphicFrameLocks noGrp="1"/>
          </p:cNvGraphicFramePr>
          <p:nvPr>
            <p:extLst>
              <p:ext uri="{D42A27DB-BD31-4B8C-83A1-F6EECF244321}">
                <p14:modId xmlns:p14="http://schemas.microsoft.com/office/powerpoint/2010/main" val="840399500"/>
              </p:ext>
            </p:extLst>
          </p:nvPr>
        </p:nvGraphicFramePr>
        <p:xfrm>
          <a:off x="394447" y="1120588"/>
          <a:ext cx="11602161" cy="1862415"/>
        </p:xfrm>
        <a:graphic>
          <a:graphicData uri="http://schemas.openxmlformats.org/drawingml/2006/table">
            <a:tbl>
              <a:tblPr/>
              <a:tblGrid>
                <a:gridCol w="2783705">
                  <a:extLst>
                    <a:ext uri="{9D8B030D-6E8A-4147-A177-3AD203B41FA5}">
                      <a16:colId xmlns:a16="http://schemas.microsoft.com/office/drawing/2014/main" val="578463572"/>
                    </a:ext>
                  </a:extLst>
                </a:gridCol>
                <a:gridCol w="2946259">
                  <a:extLst>
                    <a:ext uri="{9D8B030D-6E8A-4147-A177-3AD203B41FA5}">
                      <a16:colId xmlns:a16="http://schemas.microsoft.com/office/drawing/2014/main" val="992341587"/>
                    </a:ext>
                  </a:extLst>
                </a:gridCol>
                <a:gridCol w="2783705">
                  <a:extLst>
                    <a:ext uri="{9D8B030D-6E8A-4147-A177-3AD203B41FA5}">
                      <a16:colId xmlns:a16="http://schemas.microsoft.com/office/drawing/2014/main" val="1613545969"/>
                    </a:ext>
                  </a:extLst>
                </a:gridCol>
                <a:gridCol w="3088492">
                  <a:extLst>
                    <a:ext uri="{9D8B030D-6E8A-4147-A177-3AD203B41FA5}">
                      <a16:colId xmlns:a16="http://schemas.microsoft.com/office/drawing/2014/main" val="233435438"/>
                    </a:ext>
                  </a:extLst>
                </a:gridCol>
              </a:tblGrid>
              <a:tr h="620805">
                <a:tc>
                  <a:txBody>
                    <a:bodyPr/>
                    <a:lstStyle/>
                    <a:p>
                      <a:pPr algn="ctr" rtl="1" fontAlgn="ctr"/>
                      <a:r>
                        <a:rPr lang="ar-SA" sz="1600" b="1" i="0" u="none" strike="noStrike" dirty="0">
                          <a:solidFill>
                            <a:srgbClr val="141D66"/>
                          </a:solidFill>
                          <a:effectLst/>
                          <a:latin typeface="TheSansArab Light" panose="020B0302050302020203"/>
                        </a:rPr>
                        <a:t>مجموعة اﻳﺠﺲ لإدارة المشاريع</a:t>
                      </a:r>
                    </a:p>
                  </a:txBody>
                  <a:tcPr marL="7620" marR="7620" marT="7620" marB="0" anchor="ctr">
                    <a:lnL w="12700" cap="flat" cmpd="sng" algn="ctr">
                      <a:solidFill>
                        <a:schemeClr val="tx1"/>
                      </a:solidFill>
                      <a:prstDash val="solid"/>
                      <a:round/>
                      <a:headEnd type="none" w="med" len="med"/>
                      <a:tailEnd type="none" w="med" len="med"/>
                    </a:lnL>
                    <a:lnR w="25400" cap="flat" cmpd="dbl" algn="ctr">
                      <a:solidFill>
                        <a:srgbClr val="5B9BD5"/>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dbl" algn="ctr">
                      <a:solidFill>
                        <a:srgbClr val="5B9BD5"/>
                      </a:solidFill>
                      <a:prstDash val="solid"/>
                      <a:round/>
                      <a:headEnd type="none" w="med" len="med"/>
                      <a:tailEnd type="none" w="med" len="med"/>
                    </a:lnB>
                    <a:solidFill>
                      <a:schemeClr val="bg1"/>
                    </a:solidFill>
                  </a:tcPr>
                </a:tc>
                <a:tc>
                  <a:txBody>
                    <a:bodyPr/>
                    <a:lstStyle/>
                    <a:p>
                      <a:pPr algn="ctr" rtl="1" fontAlgn="ctr"/>
                      <a:r>
                        <a:rPr lang="ar-SA" sz="1400" b="0" i="0" u="none" strike="noStrike" dirty="0">
                          <a:solidFill>
                            <a:srgbClr val="22546D"/>
                          </a:solidFill>
                          <a:effectLst/>
                          <a:latin typeface="TheSansArab Light" panose="020B0302050302020203"/>
                        </a:rPr>
                        <a:t>إستشاري المشروع</a:t>
                      </a:r>
                    </a:p>
                  </a:txBody>
                  <a:tcPr marL="7620" marR="7620" marT="7620" marB="0" anchor="ctr">
                    <a:lnL w="25400" cap="flat" cmpd="dbl" algn="ctr">
                      <a:solidFill>
                        <a:srgbClr val="5B9BD5"/>
                      </a:solidFill>
                      <a:prstDash val="solid"/>
                      <a:round/>
                      <a:headEnd type="none" w="med" len="med"/>
                      <a:tailEnd type="none" w="med" len="med"/>
                    </a:lnL>
                    <a:lnR w="25400" cap="flat" cmpd="dbl" algn="ctr">
                      <a:solidFill>
                        <a:srgbClr val="5B9BD5"/>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dbl" algn="ctr">
                      <a:solidFill>
                        <a:srgbClr val="5B9BD5"/>
                      </a:solidFill>
                      <a:prstDash val="solid"/>
                      <a:round/>
                      <a:headEnd type="none" w="med" len="med"/>
                      <a:tailEnd type="none" w="med" len="med"/>
                    </a:lnB>
                    <a:solidFill>
                      <a:schemeClr val="accent2"/>
                    </a:solidFill>
                  </a:tcPr>
                </a:tc>
                <a:tc>
                  <a:txBody>
                    <a:bodyPr/>
                    <a:lstStyle/>
                    <a:p>
                      <a:pPr algn="ctr" rtl="1" fontAlgn="ctr"/>
                      <a:r>
                        <a:rPr lang="ar-SA" sz="1400" b="1" i="0" u="none" strike="noStrike" dirty="0">
                          <a:solidFill>
                            <a:srgbClr val="141D66"/>
                          </a:solidFill>
                          <a:effectLst/>
                          <a:latin typeface="TheSansArab Light" panose="020B0302050302020203"/>
                        </a:rPr>
                        <a:t>الانشاء المتقدم للمقاولات </a:t>
                      </a:r>
                    </a:p>
                  </a:txBody>
                  <a:tcPr marL="7620" marR="7620" marT="7620" marB="0" anchor="ctr">
                    <a:lnL w="25400" cap="flat" cmpd="dbl" algn="ctr">
                      <a:solidFill>
                        <a:srgbClr val="5B9BD5"/>
                      </a:solidFill>
                      <a:prstDash val="solid"/>
                      <a:round/>
                      <a:headEnd type="none" w="med" len="med"/>
                      <a:tailEnd type="none" w="med" len="med"/>
                    </a:lnL>
                    <a:lnR w="25400" cap="flat" cmpd="dbl" algn="ctr">
                      <a:solidFill>
                        <a:srgbClr val="5B9BD5"/>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dbl" algn="ctr">
                      <a:solidFill>
                        <a:srgbClr val="5B9BD5"/>
                      </a:solidFill>
                      <a:prstDash val="solid"/>
                      <a:round/>
                      <a:headEnd type="none" w="med" len="med"/>
                      <a:tailEnd type="none" w="med" len="med"/>
                    </a:lnB>
                    <a:solidFill>
                      <a:schemeClr val="bg1"/>
                    </a:solidFill>
                  </a:tcPr>
                </a:tc>
                <a:tc>
                  <a:txBody>
                    <a:bodyPr/>
                    <a:lstStyle/>
                    <a:p>
                      <a:pPr algn="ctr" rtl="1" fontAlgn="ctr"/>
                      <a:r>
                        <a:rPr lang="ar-SA" sz="1400" b="0" i="0" u="none" strike="noStrike" dirty="0">
                          <a:solidFill>
                            <a:srgbClr val="22546D"/>
                          </a:solidFill>
                          <a:effectLst/>
                          <a:latin typeface="TheSansArab Light" panose="020B0302050302020203"/>
                        </a:rPr>
                        <a:t>مقاول المشروع</a:t>
                      </a:r>
                    </a:p>
                  </a:txBody>
                  <a:tcPr marL="7620" marR="7620" marT="7620" marB="0" anchor="ctr">
                    <a:lnL w="25400" cap="flat" cmpd="dbl" algn="ctr">
                      <a:solidFill>
                        <a:srgbClr val="5B9BD5"/>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dbl" algn="ctr">
                      <a:solidFill>
                        <a:srgbClr val="5B9BD5"/>
                      </a:solidFill>
                      <a:prstDash val="solid"/>
                      <a:round/>
                      <a:headEnd type="none" w="med" len="med"/>
                      <a:tailEnd type="none" w="med" len="med"/>
                    </a:lnB>
                    <a:solidFill>
                      <a:schemeClr val="accent2"/>
                    </a:solidFill>
                  </a:tcPr>
                </a:tc>
                <a:extLst>
                  <a:ext uri="{0D108BD9-81ED-4DB2-BD59-A6C34878D82A}">
                    <a16:rowId xmlns:a16="http://schemas.microsoft.com/office/drawing/2014/main" val="2375845066"/>
                  </a:ext>
                </a:extLst>
              </a:tr>
              <a:tr h="620805">
                <a:tc>
                  <a:txBody>
                    <a:bodyPr/>
                    <a:lstStyle/>
                    <a:p>
                      <a:pPr algn="ctr" rtl="0" fontAlgn="ctr"/>
                      <a:r>
                        <a:rPr lang="en-US" sz="1400" b="1" i="0" u="none" strike="noStrike" dirty="0">
                          <a:solidFill>
                            <a:srgbClr val="297B9B"/>
                          </a:solidFill>
                          <a:effectLst/>
                          <a:latin typeface="TheSansArab Light" panose="020B0302050302020203"/>
                        </a:rPr>
                        <a:t>16-Dec-2026</a:t>
                      </a:r>
                    </a:p>
                  </a:txBody>
                  <a:tcPr marL="7620" marR="7620" marT="7620" marB="0" anchor="ctr">
                    <a:lnL w="12700" cap="flat" cmpd="sng" algn="ctr">
                      <a:solidFill>
                        <a:schemeClr val="tx1"/>
                      </a:solidFill>
                      <a:prstDash val="solid"/>
                      <a:round/>
                      <a:headEnd type="none" w="med" len="med"/>
                      <a:tailEnd type="none" w="med" len="med"/>
                    </a:lnL>
                    <a:lnR w="25400" cap="flat" cmpd="dbl" algn="ctr">
                      <a:solidFill>
                        <a:srgbClr val="5B9BD5"/>
                      </a:solidFill>
                      <a:prstDash val="solid"/>
                      <a:round/>
                      <a:headEnd type="none" w="med" len="med"/>
                      <a:tailEnd type="none" w="med" len="med"/>
                    </a:lnR>
                    <a:lnT w="25400" cap="flat" cmpd="dbl" algn="ctr">
                      <a:solidFill>
                        <a:srgbClr val="5B9BD5"/>
                      </a:solidFill>
                      <a:prstDash val="solid"/>
                      <a:round/>
                      <a:headEnd type="none" w="med" len="med"/>
                      <a:tailEnd type="none" w="med" len="med"/>
                    </a:lnT>
                    <a:lnB w="25400" cap="flat" cmpd="dbl" algn="ctr">
                      <a:solidFill>
                        <a:srgbClr val="5B9BD5"/>
                      </a:solidFill>
                      <a:prstDash val="solid"/>
                      <a:round/>
                      <a:headEnd type="none" w="med" len="med"/>
                      <a:tailEnd type="none" w="med" len="med"/>
                    </a:lnB>
                    <a:solidFill>
                      <a:schemeClr val="bg1"/>
                    </a:solidFill>
                  </a:tcPr>
                </a:tc>
                <a:tc>
                  <a:txBody>
                    <a:bodyPr/>
                    <a:lstStyle/>
                    <a:p>
                      <a:pPr algn="ctr" rtl="1" fontAlgn="ctr"/>
                      <a:r>
                        <a:rPr lang="ar-SA" sz="1400" b="0" i="0" u="none" strike="noStrike" dirty="0">
                          <a:solidFill>
                            <a:srgbClr val="22546D"/>
                          </a:solidFill>
                          <a:effectLst/>
                          <a:latin typeface="TheSansArab Light" panose="020B0302050302020203"/>
                        </a:rPr>
                        <a:t>تاريخ نهاية المشروع التعاقدية</a:t>
                      </a:r>
                    </a:p>
                  </a:txBody>
                  <a:tcPr marL="7620" marR="7620" marT="7620" marB="0" anchor="ctr">
                    <a:lnL w="25400" cap="flat" cmpd="dbl" algn="ctr">
                      <a:solidFill>
                        <a:srgbClr val="5B9BD5"/>
                      </a:solidFill>
                      <a:prstDash val="solid"/>
                      <a:round/>
                      <a:headEnd type="none" w="med" len="med"/>
                      <a:tailEnd type="none" w="med" len="med"/>
                    </a:lnL>
                    <a:lnR w="25400" cap="flat" cmpd="dbl" algn="ctr">
                      <a:solidFill>
                        <a:srgbClr val="5B9BD5"/>
                      </a:solidFill>
                      <a:prstDash val="solid"/>
                      <a:round/>
                      <a:headEnd type="none" w="med" len="med"/>
                      <a:tailEnd type="none" w="med" len="med"/>
                    </a:lnR>
                    <a:lnT w="25400" cap="flat" cmpd="dbl" algn="ctr">
                      <a:solidFill>
                        <a:srgbClr val="5B9BD5"/>
                      </a:solidFill>
                      <a:prstDash val="solid"/>
                      <a:round/>
                      <a:headEnd type="none" w="med" len="med"/>
                      <a:tailEnd type="none" w="med" len="med"/>
                    </a:lnT>
                    <a:lnB w="25400" cap="flat" cmpd="dbl" algn="ctr">
                      <a:solidFill>
                        <a:srgbClr val="5B9BD5"/>
                      </a:solidFill>
                      <a:prstDash val="solid"/>
                      <a:round/>
                      <a:headEnd type="none" w="med" len="med"/>
                      <a:tailEnd type="none" w="med" len="med"/>
                    </a:lnB>
                    <a:solidFill>
                      <a:schemeClr val="accent2"/>
                    </a:solidFill>
                  </a:tcPr>
                </a:tc>
                <a:tc>
                  <a:txBody>
                    <a:bodyPr/>
                    <a:lstStyle/>
                    <a:p>
                      <a:pPr algn="ctr" rtl="0" fontAlgn="ctr"/>
                      <a:r>
                        <a:rPr lang="en-US" sz="1400" b="1" i="0" u="none" strike="noStrike" dirty="0">
                          <a:solidFill>
                            <a:srgbClr val="297B9B"/>
                          </a:solidFill>
                          <a:effectLst/>
                          <a:latin typeface="TheSansArab Light" panose="020B0302050302020203"/>
                        </a:rPr>
                        <a:t>17-Feb-2026</a:t>
                      </a:r>
                    </a:p>
                  </a:txBody>
                  <a:tcPr marL="7620" marR="7620" marT="7620" marB="0" anchor="ctr">
                    <a:lnL w="25400" cap="flat" cmpd="dbl" algn="ctr">
                      <a:solidFill>
                        <a:srgbClr val="5B9BD5"/>
                      </a:solidFill>
                      <a:prstDash val="solid"/>
                      <a:round/>
                      <a:headEnd type="none" w="med" len="med"/>
                      <a:tailEnd type="none" w="med" len="med"/>
                    </a:lnL>
                    <a:lnR w="25400" cap="flat" cmpd="dbl" algn="ctr">
                      <a:solidFill>
                        <a:srgbClr val="5B9BD5"/>
                      </a:solidFill>
                      <a:prstDash val="solid"/>
                      <a:round/>
                      <a:headEnd type="none" w="med" len="med"/>
                      <a:tailEnd type="none" w="med" len="med"/>
                    </a:lnR>
                    <a:lnT w="25400" cap="flat" cmpd="dbl" algn="ctr">
                      <a:solidFill>
                        <a:srgbClr val="5B9BD5"/>
                      </a:solidFill>
                      <a:prstDash val="solid"/>
                      <a:round/>
                      <a:headEnd type="none" w="med" len="med"/>
                      <a:tailEnd type="none" w="med" len="med"/>
                    </a:lnT>
                    <a:lnB w="25400" cap="flat" cmpd="dbl" algn="ctr">
                      <a:solidFill>
                        <a:srgbClr val="5B9BD5"/>
                      </a:solidFill>
                      <a:prstDash val="solid"/>
                      <a:round/>
                      <a:headEnd type="none" w="med" len="med"/>
                      <a:tailEnd type="none" w="med" len="med"/>
                    </a:lnB>
                    <a:solidFill>
                      <a:schemeClr val="bg1"/>
                    </a:solidFill>
                  </a:tcPr>
                </a:tc>
                <a:tc>
                  <a:txBody>
                    <a:bodyPr/>
                    <a:lstStyle/>
                    <a:p>
                      <a:pPr algn="ctr" rtl="1" fontAlgn="ctr"/>
                      <a:r>
                        <a:rPr lang="ar-SA" sz="1400" b="0" i="0" u="none" strike="noStrike" dirty="0">
                          <a:solidFill>
                            <a:srgbClr val="22546D"/>
                          </a:solidFill>
                          <a:effectLst/>
                          <a:latin typeface="TheSansArab Light" panose="020B0302050302020203"/>
                        </a:rPr>
                        <a:t>تاريخ بداية المشروع </a:t>
                      </a:r>
                    </a:p>
                  </a:txBody>
                  <a:tcPr marL="7620" marR="7620" marT="7620" marB="0" anchor="ctr">
                    <a:lnL w="25400" cap="flat" cmpd="dbl" algn="ctr">
                      <a:solidFill>
                        <a:srgbClr val="5B9BD5"/>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dbl" algn="ctr">
                      <a:solidFill>
                        <a:srgbClr val="5B9BD5"/>
                      </a:solidFill>
                      <a:prstDash val="solid"/>
                      <a:round/>
                      <a:headEnd type="none" w="med" len="med"/>
                      <a:tailEnd type="none" w="med" len="med"/>
                    </a:lnT>
                    <a:lnB w="25400" cap="flat" cmpd="dbl" algn="ctr">
                      <a:solidFill>
                        <a:srgbClr val="5B9BD5"/>
                      </a:solidFill>
                      <a:prstDash val="solid"/>
                      <a:round/>
                      <a:headEnd type="none" w="med" len="med"/>
                      <a:tailEnd type="none" w="med" len="med"/>
                    </a:lnB>
                    <a:solidFill>
                      <a:schemeClr val="accent2"/>
                    </a:solidFill>
                  </a:tcPr>
                </a:tc>
                <a:extLst>
                  <a:ext uri="{0D108BD9-81ED-4DB2-BD59-A6C34878D82A}">
                    <a16:rowId xmlns:a16="http://schemas.microsoft.com/office/drawing/2014/main" val="1282674815"/>
                  </a:ext>
                </a:extLst>
              </a:tr>
              <a:tr h="620805">
                <a:tc>
                  <a:txBody>
                    <a:bodyPr/>
                    <a:lstStyle/>
                    <a:p>
                      <a:pPr algn="ctr" rtl="1" fontAlgn="ctr"/>
                      <a:r>
                        <a:rPr lang="en-US" sz="1400" b="1" i="0" u="none" strike="noStrike" dirty="0">
                          <a:solidFill>
                            <a:srgbClr val="297B9B"/>
                          </a:solidFill>
                          <a:effectLst/>
                          <a:latin typeface="TheSansArab Light" panose="020B0302050302020203"/>
                        </a:rPr>
                        <a:t>69.00%</a:t>
                      </a:r>
                    </a:p>
                  </a:txBody>
                  <a:tcPr marL="7620" marR="7620" marT="7620" marB="0" anchor="ctr">
                    <a:lnL w="12700" cap="flat" cmpd="sng" algn="ctr">
                      <a:solidFill>
                        <a:schemeClr val="tx1"/>
                      </a:solidFill>
                      <a:prstDash val="solid"/>
                      <a:round/>
                      <a:headEnd type="none" w="med" len="med"/>
                      <a:tailEnd type="none" w="med" len="med"/>
                    </a:lnL>
                    <a:lnR w="25400" cap="flat" cmpd="dbl" algn="ctr">
                      <a:solidFill>
                        <a:srgbClr val="5B9BD5"/>
                      </a:solidFill>
                      <a:prstDash val="solid"/>
                      <a:round/>
                      <a:headEnd type="none" w="med" len="med"/>
                      <a:tailEnd type="none" w="med" len="med"/>
                    </a:lnR>
                    <a:lnT w="25400" cap="flat" cmpd="dbl" algn="ctr">
                      <a:solidFill>
                        <a:srgbClr val="5B9BD5"/>
                      </a:solidFill>
                      <a:prstDash val="solid"/>
                      <a:round/>
                      <a:headEnd type="none" w="med" len="med"/>
                      <a:tailEnd type="none" w="med" len="med"/>
                    </a:lnT>
                    <a:lnB w="25400" cap="flat" cmpd="dbl" algn="ctr">
                      <a:solidFill>
                        <a:srgbClr val="5B9BD5"/>
                      </a:solidFill>
                      <a:prstDash val="solid"/>
                      <a:round/>
                      <a:headEnd type="none" w="med" len="med"/>
                      <a:tailEnd type="none" w="med" len="med"/>
                    </a:lnB>
                    <a:solidFill>
                      <a:schemeClr val="bg1"/>
                    </a:solidFill>
                  </a:tcPr>
                </a:tc>
                <a:tc>
                  <a:txBody>
                    <a:bodyPr/>
                    <a:lstStyle/>
                    <a:p>
                      <a:pPr algn="ctr" rtl="1" fontAlgn="ctr"/>
                      <a:r>
                        <a:rPr lang="ar-SA" sz="1400" b="0" i="0" u="none" strike="noStrike" dirty="0">
                          <a:solidFill>
                            <a:srgbClr val="22546D"/>
                          </a:solidFill>
                          <a:effectLst/>
                          <a:latin typeface="TheSansArab Light" panose="020B0302050302020203"/>
                        </a:rPr>
                        <a:t>نسبة الانجاز الفعلى بالمشروع </a:t>
                      </a:r>
                    </a:p>
                  </a:txBody>
                  <a:tcPr marL="7620" marR="7620" marT="7620" marB="0" anchor="ctr">
                    <a:lnL w="25400" cap="flat" cmpd="dbl" algn="ctr">
                      <a:solidFill>
                        <a:srgbClr val="5B9BD5"/>
                      </a:solidFill>
                      <a:prstDash val="solid"/>
                      <a:round/>
                      <a:headEnd type="none" w="med" len="med"/>
                      <a:tailEnd type="none" w="med" len="med"/>
                    </a:lnL>
                    <a:lnR w="25400" cap="flat" cmpd="dbl" algn="ctr">
                      <a:solidFill>
                        <a:srgbClr val="5B9BD5"/>
                      </a:solidFill>
                      <a:prstDash val="solid"/>
                      <a:round/>
                      <a:headEnd type="none" w="med" len="med"/>
                      <a:tailEnd type="none" w="med" len="med"/>
                    </a:lnR>
                    <a:lnT w="25400" cap="flat" cmpd="dbl" algn="ctr">
                      <a:solidFill>
                        <a:srgbClr val="5B9BD5"/>
                      </a:solidFill>
                      <a:prstDash val="solid"/>
                      <a:round/>
                      <a:headEnd type="none" w="med" len="med"/>
                      <a:tailEnd type="none" w="med" len="med"/>
                    </a:lnT>
                    <a:lnB w="25400" cap="flat" cmpd="dbl" algn="ctr">
                      <a:solidFill>
                        <a:srgbClr val="5B9BD5"/>
                      </a:solidFill>
                      <a:prstDash val="solid"/>
                      <a:round/>
                      <a:headEnd type="none" w="med" len="med"/>
                      <a:tailEnd type="none" w="med" len="med"/>
                    </a:lnB>
                    <a:solidFill>
                      <a:schemeClr val="accent2"/>
                    </a:solidFill>
                  </a:tcPr>
                </a:tc>
                <a:tc>
                  <a:txBody>
                    <a:bodyPr/>
                    <a:lstStyle/>
                    <a:p>
                      <a:pPr algn="ctr" rtl="1" fontAlgn="ctr"/>
                      <a:r>
                        <a:rPr lang="en-US" sz="1400" b="1" i="0" u="none" strike="noStrike" dirty="0">
                          <a:solidFill>
                            <a:srgbClr val="297B9B"/>
                          </a:solidFill>
                          <a:effectLst/>
                          <a:latin typeface="TheSansArab Light" panose="020B0302050302020203"/>
                        </a:rPr>
                        <a:t>80.32%</a:t>
                      </a:r>
                    </a:p>
                  </a:txBody>
                  <a:tcPr marL="7620" marR="7620" marT="7620" marB="0" anchor="ctr">
                    <a:lnL w="25400" cap="flat" cmpd="dbl" algn="ctr">
                      <a:solidFill>
                        <a:srgbClr val="5B9BD5"/>
                      </a:solidFill>
                      <a:prstDash val="solid"/>
                      <a:round/>
                      <a:headEnd type="none" w="med" len="med"/>
                      <a:tailEnd type="none" w="med" len="med"/>
                    </a:lnL>
                    <a:lnR w="25400" cap="flat" cmpd="dbl" algn="ctr">
                      <a:solidFill>
                        <a:srgbClr val="5B9BD5"/>
                      </a:solidFill>
                      <a:prstDash val="solid"/>
                      <a:round/>
                      <a:headEnd type="none" w="med" len="med"/>
                      <a:tailEnd type="none" w="med" len="med"/>
                    </a:lnR>
                    <a:lnT w="25400" cap="flat" cmpd="dbl" algn="ctr">
                      <a:solidFill>
                        <a:srgbClr val="5B9BD5"/>
                      </a:solidFill>
                      <a:prstDash val="solid"/>
                      <a:round/>
                      <a:headEnd type="none" w="med" len="med"/>
                      <a:tailEnd type="none" w="med" len="med"/>
                    </a:lnT>
                    <a:lnB w="25400" cap="flat" cmpd="dbl" algn="ctr">
                      <a:solidFill>
                        <a:srgbClr val="5B9BD5"/>
                      </a:solidFill>
                      <a:prstDash val="solid"/>
                      <a:round/>
                      <a:headEnd type="none" w="med" len="med"/>
                      <a:tailEnd type="none" w="med" len="med"/>
                    </a:lnB>
                    <a:solidFill>
                      <a:schemeClr val="bg1"/>
                    </a:solidFill>
                  </a:tcPr>
                </a:tc>
                <a:tc>
                  <a:txBody>
                    <a:bodyPr/>
                    <a:lstStyle/>
                    <a:p>
                      <a:pPr algn="ctr" rtl="1" fontAlgn="ctr"/>
                      <a:r>
                        <a:rPr lang="ar-SA" sz="1400" b="0" i="0" u="none" strike="noStrike" dirty="0">
                          <a:solidFill>
                            <a:srgbClr val="22546D"/>
                          </a:solidFill>
                          <a:effectLst/>
                          <a:latin typeface="TheSansArab Light" panose="020B0302050302020203"/>
                        </a:rPr>
                        <a:t>النسبة المستهدفة </a:t>
                      </a:r>
                      <a:br>
                        <a:rPr lang="ar-SA" sz="1400" b="0" i="0" u="none" strike="noStrike" dirty="0">
                          <a:solidFill>
                            <a:srgbClr val="22546D"/>
                          </a:solidFill>
                          <a:effectLst/>
                          <a:latin typeface="TheSansArab Light" panose="020B0302050302020203"/>
                        </a:rPr>
                      </a:br>
                      <a:r>
                        <a:rPr lang="ar-SA" sz="1400" b="0" i="0" u="none" strike="noStrike" dirty="0">
                          <a:solidFill>
                            <a:srgbClr val="22546D"/>
                          </a:solidFill>
                          <a:effectLst/>
                          <a:latin typeface="TheSansArab Light" panose="020B0302050302020203"/>
                        </a:rPr>
                        <a:t> (طبقا للبرنامج الزمنى التعاقدي)</a:t>
                      </a:r>
                    </a:p>
                  </a:txBody>
                  <a:tcPr marL="7620" marR="7620" marT="7620" marB="0" anchor="ctr">
                    <a:lnL w="25400" cap="flat" cmpd="dbl" algn="ctr">
                      <a:solidFill>
                        <a:srgbClr val="5B9BD5"/>
                      </a:solidFill>
                      <a:prstDash val="solid"/>
                      <a:round/>
                      <a:headEnd type="none" w="med" len="med"/>
                      <a:tailEnd type="none" w="med" len="med"/>
                    </a:lnL>
                    <a:lnR w="12700" cap="flat" cmpd="sng" algn="ctr">
                      <a:solidFill>
                        <a:schemeClr val="tx1"/>
                      </a:solidFill>
                      <a:prstDash val="solid"/>
                      <a:round/>
                      <a:headEnd type="none" w="med" len="med"/>
                      <a:tailEnd type="none" w="med" len="med"/>
                    </a:lnR>
                    <a:lnT w="25400" cap="flat" cmpd="dbl" algn="ctr">
                      <a:solidFill>
                        <a:srgbClr val="5B9BD5"/>
                      </a:solidFill>
                      <a:prstDash val="solid"/>
                      <a:round/>
                      <a:headEnd type="none" w="med" len="med"/>
                      <a:tailEnd type="none" w="med" len="med"/>
                    </a:lnT>
                    <a:lnB w="25400" cap="flat" cmpd="dbl" algn="ctr">
                      <a:solidFill>
                        <a:srgbClr val="5B9BD5"/>
                      </a:solidFill>
                      <a:prstDash val="solid"/>
                      <a:round/>
                      <a:headEnd type="none" w="med" len="med"/>
                      <a:tailEnd type="none" w="med" len="med"/>
                    </a:lnB>
                    <a:solidFill>
                      <a:schemeClr val="accent2"/>
                    </a:solidFill>
                  </a:tcPr>
                </a:tc>
                <a:extLst>
                  <a:ext uri="{0D108BD9-81ED-4DB2-BD59-A6C34878D82A}">
                    <a16:rowId xmlns:a16="http://schemas.microsoft.com/office/drawing/2014/main" val="1257132632"/>
                  </a:ext>
                </a:extLst>
              </a:tr>
            </a:tbl>
          </a:graphicData>
        </a:graphic>
      </p:graphicFrame>
      <p:sp>
        <p:nvSpPr>
          <p:cNvPr id="10" name="Rectangle 9">
            <a:extLst>
              <a:ext uri="{FF2B5EF4-FFF2-40B4-BE49-F238E27FC236}">
                <a16:creationId xmlns:a16="http://schemas.microsoft.com/office/drawing/2014/main" id="{7A62A0A1-321C-FFC5-FE1D-E681386DD730}"/>
              </a:ext>
            </a:extLst>
          </p:cNvPr>
          <p:cNvSpPr/>
          <p:nvPr/>
        </p:nvSpPr>
        <p:spPr>
          <a:xfrm>
            <a:off x="556778" y="317331"/>
            <a:ext cx="201510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C6782"/>
                </a:solidFill>
                <a:effectLst/>
                <a:uLnTx/>
                <a:uFillTx/>
                <a:latin typeface="Gotham" panose="02000504050000020004" pitchFamily="2" charset="0"/>
                <a:ea typeface="+mn-ea"/>
              </a:rPr>
              <a:t>Progress Overview </a:t>
            </a:r>
          </a:p>
        </p:txBody>
      </p:sp>
      <p:graphicFrame>
        <p:nvGraphicFramePr>
          <p:cNvPr id="6" name="Chart 5">
            <a:extLst>
              <a:ext uri="{FF2B5EF4-FFF2-40B4-BE49-F238E27FC236}">
                <a16:creationId xmlns:a16="http://schemas.microsoft.com/office/drawing/2014/main" id="{D750E8AB-B4FD-C6C7-64F9-F00B90AC6E8B}"/>
              </a:ext>
            </a:extLst>
          </p:cNvPr>
          <p:cNvGraphicFramePr/>
          <p:nvPr>
            <p:extLst>
              <p:ext uri="{D42A27DB-BD31-4B8C-83A1-F6EECF244321}">
                <p14:modId xmlns:p14="http://schemas.microsoft.com/office/powerpoint/2010/main" val="2565346756"/>
              </p:ext>
            </p:extLst>
          </p:nvPr>
        </p:nvGraphicFramePr>
        <p:xfrm>
          <a:off x="3830800" y="4462063"/>
          <a:ext cx="3483318" cy="2281518"/>
        </p:xfrm>
        <a:graphic>
          <a:graphicData uri="http://schemas.openxmlformats.org/drawingml/2006/chart">
            <c:chart xmlns:c="http://schemas.openxmlformats.org/drawingml/2006/chart" xmlns:r="http://schemas.openxmlformats.org/officeDocument/2006/relationships" r:id="rId3"/>
          </a:graphicData>
        </a:graphic>
      </p:graphicFrame>
      <p:cxnSp>
        <p:nvCxnSpPr>
          <p:cNvPr id="9" name="Straight Connector 8">
            <a:extLst>
              <a:ext uri="{FF2B5EF4-FFF2-40B4-BE49-F238E27FC236}">
                <a16:creationId xmlns:a16="http://schemas.microsoft.com/office/drawing/2014/main" id="{C25C25AA-A015-699D-3AD4-86DF3D2C78FB}"/>
              </a:ext>
            </a:extLst>
          </p:cNvPr>
          <p:cNvCxnSpPr>
            <a:cxnSpLocks/>
          </p:cNvCxnSpPr>
          <p:nvPr/>
        </p:nvCxnSpPr>
        <p:spPr>
          <a:xfrm>
            <a:off x="656013" y="786653"/>
            <a:ext cx="1800000" cy="0"/>
          </a:xfrm>
          <a:prstGeom prst="line">
            <a:avLst/>
          </a:prstGeom>
          <a:ln w="38100"/>
        </p:spPr>
        <p:style>
          <a:lnRef idx="1">
            <a:schemeClr val="accent1"/>
          </a:lnRef>
          <a:fillRef idx="0">
            <a:schemeClr val="accent1"/>
          </a:fillRef>
          <a:effectRef idx="0">
            <a:schemeClr val="accent1"/>
          </a:effectRef>
          <a:fontRef idx="minor">
            <a:schemeClr val="tx1"/>
          </a:fontRef>
        </p:style>
      </p:cxnSp>
      <p:graphicFrame>
        <p:nvGraphicFramePr>
          <p:cNvPr id="2" name="Table 1">
            <a:extLst>
              <a:ext uri="{FF2B5EF4-FFF2-40B4-BE49-F238E27FC236}">
                <a16:creationId xmlns:a16="http://schemas.microsoft.com/office/drawing/2014/main" id="{54D936AA-7F0B-7955-0443-9F32D9DFAEA8}"/>
              </a:ext>
            </a:extLst>
          </p:cNvPr>
          <p:cNvGraphicFramePr>
            <a:graphicFrameLocks noGrp="1"/>
          </p:cNvGraphicFramePr>
          <p:nvPr>
            <p:extLst>
              <p:ext uri="{D42A27DB-BD31-4B8C-83A1-F6EECF244321}">
                <p14:modId xmlns:p14="http://schemas.microsoft.com/office/powerpoint/2010/main" val="3997921711"/>
              </p:ext>
            </p:extLst>
          </p:nvPr>
        </p:nvGraphicFramePr>
        <p:xfrm>
          <a:off x="1564329" y="3318738"/>
          <a:ext cx="8508014" cy="741680"/>
        </p:xfrm>
        <a:graphic>
          <a:graphicData uri="http://schemas.openxmlformats.org/drawingml/2006/table">
            <a:tbl>
              <a:tblPr firstRow="1" bandRow="1">
                <a:tableStyleId>{7E9639D4-E3E2-4D34-9284-5A2195B3D0D7}</a:tableStyleId>
              </a:tblPr>
              <a:tblGrid>
                <a:gridCol w="2487718">
                  <a:extLst>
                    <a:ext uri="{9D8B030D-6E8A-4147-A177-3AD203B41FA5}">
                      <a16:colId xmlns:a16="http://schemas.microsoft.com/office/drawing/2014/main" val="84642906"/>
                    </a:ext>
                  </a:extLst>
                </a:gridCol>
                <a:gridCol w="3233963">
                  <a:extLst>
                    <a:ext uri="{9D8B030D-6E8A-4147-A177-3AD203B41FA5}">
                      <a16:colId xmlns:a16="http://schemas.microsoft.com/office/drawing/2014/main" val="349287195"/>
                    </a:ext>
                  </a:extLst>
                </a:gridCol>
                <a:gridCol w="2786333">
                  <a:extLst>
                    <a:ext uri="{9D8B030D-6E8A-4147-A177-3AD203B41FA5}">
                      <a16:colId xmlns:a16="http://schemas.microsoft.com/office/drawing/2014/main" val="315202445"/>
                    </a:ext>
                  </a:extLst>
                </a:gridCol>
              </a:tblGrid>
              <a:tr h="370840">
                <a:tc rowSpan="2">
                  <a:txBody>
                    <a:bodyPr/>
                    <a:lstStyle/>
                    <a:p>
                      <a:pPr algn="ctr"/>
                      <a:endParaRPr lang="en-US" dirty="0">
                        <a:solidFill>
                          <a:schemeClr val="tx1"/>
                        </a:solidFill>
                      </a:endParaRPr>
                    </a:p>
                    <a:p>
                      <a:pPr algn="ctr"/>
                      <a:r>
                        <a:rPr lang="en-US" dirty="0">
                          <a:solidFill>
                            <a:schemeClr val="tx1"/>
                          </a:solidFill>
                        </a:rPr>
                        <a:t>Project</a:t>
                      </a:r>
                      <a:r>
                        <a:rPr lang="ar-SA" dirty="0">
                          <a:solidFill>
                            <a:schemeClr val="tx1"/>
                          </a:solidFill>
                        </a:rPr>
                        <a:t> </a:t>
                      </a:r>
                      <a:r>
                        <a:rPr lang="en-US" dirty="0">
                          <a:solidFill>
                            <a:schemeClr val="tx1"/>
                          </a:solidFill>
                        </a:rPr>
                        <a:t>Progress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ctr"/>
                      <a:r>
                        <a:rPr kumimoji="0" lang="en-US" sz="1800" b="1" i="0" u="none" strike="noStrike" kern="1200" cap="none" spc="0" normalizeH="0" baseline="0" noProof="0" dirty="0">
                          <a:ln>
                            <a:noFill/>
                          </a:ln>
                          <a:solidFill>
                            <a:srgbClr val="0A2C52"/>
                          </a:solidFill>
                          <a:effectLst/>
                          <a:uLnTx/>
                          <a:uFillTx/>
                          <a:latin typeface="+mn-lt"/>
                          <a:ea typeface="+mn-ea"/>
                        </a:rPr>
                        <a:t>Planned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A2C52"/>
                          </a:solidFill>
                          <a:effectLst/>
                          <a:uLnTx/>
                          <a:uFillTx/>
                          <a:latin typeface="+mn-lt"/>
                          <a:ea typeface="+mn-ea"/>
                        </a:rPr>
                        <a:t>Actual %</a:t>
                      </a:r>
                      <a:endParaRPr kumimoji="0" lang="en-US" sz="1800" b="1" i="0" u="none" strike="noStrike" kern="1200" cap="none" spc="0" normalizeH="0" baseline="0" noProof="0" dirty="0">
                        <a:ln>
                          <a:noFill/>
                        </a:ln>
                        <a:solidFill>
                          <a:srgbClr val="FFFFFF"/>
                        </a:solidFill>
                        <a:effectLst/>
                        <a:uLnTx/>
                        <a:uFillTx/>
                        <a:latin typeface="+mn-lt"/>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3869589565"/>
                  </a:ext>
                </a:extLst>
              </a:tr>
              <a:tr h="370840">
                <a:tc v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US" sz="1800" b="1" i="0" u="none" strike="noStrike" kern="1200" cap="none" spc="0" normalizeH="0" baseline="0" noProof="0" dirty="0">
                          <a:ln>
                            <a:noFill/>
                          </a:ln>
                          <a:solidFill>
                            <a:srgbClr val="0A2C52"/>
                          </a:solidFill>
                          <a:effectLst/>
                          <a:uLnTx/>
                          <a:uFillTx/>
                          <a:latin typeface="+mn-lt"/>
                          <a:ea typeface="+mn-ea"/>
                        </a:rPr>
                        <a:t>80.32 %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US" sz="1800" b="1" i="0" u="none" strike="noStrike" kern="1200" cap="none" spc="0" normalizeH="0" baseline="0" noProof="0" dirty="0">
                          <a:ln>
                            <a:noFill/>
                          </a:ln>
                          <a:solidFill>
                            <a:srgbClr val="0A2C52"/>
                          </a:solidFill>
                          <a:effectLst/>
                          <a:uLnTx/>
                          <a:uFillTx/>
                          <a:latin typeface="+mn-lt"/>
                          <a:ea typeface="+mn-ea"/>
                        </a:rPr>
                        <a:t>69.00 %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74169"/>
                  </a:ext>
                </a:extLst>
              </a:tr>
            </a:tbl>
          </a:graphicData>
        </a:graphic>
      </p:graphicFrame>
    </p:spTree>
    <p:extLst>
      <p:ext uri="{BB962C8B-B14F-4D97-AF65-F5344CB8AC3E}">
        <p14:creationId xmlns:p14="http://schemas.microsoft.com/office/powerpoint/2010/main" val="4248585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p:txBody>
          <a:bodyPr/>
          <a:lstStyle/>
          <a:p>
            <a:pPr algn="l"/>
            <a:r>
              <a:rPr lang="en-US" dirty="0"/>
              <a:t>Weekly Progress Report Attachment</a:t>
            </a:r>
          </a:p>
        </p:txBody>
      </p:sp>
      <p:sp>
        <p:nvSpPr>
          <p:cNvPr id="6" name="Text Placeholder 2">
            <a:extLst>
              <a:ext uri="{FF2B5EF4-FFF2-40B4-BE49-F238E27FC236}">
                <a16:creationId xmlns:a16="http://schemas.microsoft.com/office/drawing/2014/main" id="{A0CE9D78-42F7-470E-876B-55660DA3638C}"/>
              </a:ext>
            </a:extLst>
          </p:cNvPr>
          <p:cNvSpPr>
            <a:spLocks noGrp="1"/>
          </p:cNvSpPr>
          <p:nvPr/>
        </p:nvSpPr>
        <p:spPr bwMode="auto">
          <a:xfrm>
            <a:off x="741268" y="1724876"/>
            <a:ext cx="10709464" cy="4715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1450" indent="-171450" algn="l" rtl="0" eaLnBrk="0" fontAlgn="base" hangingPunct="0">
              <a:lnSpc>
                <a:spcPct val="90000"/>
              </a:lnSpc>
              <a:spcBef>
                <a:spcPts val="750"/>
              </a:spcBef>
              <a:spcAft>
                <a:spcPct val="0"/>
              </a:spcAft>
              <a:buClr>
                <a:srgbClr val="F48C20"/>
              </a:buClr>
              <a:buFont typeface="Wingdings" panose="05000000000000000000" pitchFamily="2" charset="2"/>
              <a:buChar char="§"/>
              <a:defRPr sz="2100" kern="1200">
                <a:solidFill>
                  <a:schemeClr val="tx1"/>
                </a:solidFill>
                <a:latin typeface="Century Gothic" panose="020B0502020202020204" pitchFamily="34" charset="0"/>
                <a:ea typeface="+mn-ea"/>
                <a:cs typeface="+mn-cs"/>
              </a:defRPr>
            </a:lvl1pPr>
            <a:lvl2pPr marL="514350" indent="-171450" algn="l" rtl="0" eaLnBrk="0" fontAlgn="base" hangingPunct="0">
              <a:lnSpc>
                <a:spcPct val="90000"/>
              </a:lnSpc>
              <a:spcBef>
                <a:spcPts val="375"/>
              </a:spcBef>
              <a:spcAft>
                <a:spcPct val="0"/>
              </a:spcAft>
              <a:buFont typeface="Symbol" panose="05050102010706020507" pitchFamily="18" charset="2"/>
              <a:buChar char=""/>
              <a:defRPr kern="1200">
                <a:solidFill>
                  <a:schemeClr val="tx1"/>
                </a:solidFill>
                <a:latin typeface="Century Gothic" panose="020B0502020202020204" pitchFamily="34" charset="0"/>
                <a:ea typeface="+mn-ea"/>
                <a:cs typeface="+mn-cs"/>
              </a:defRPr>
            </a:lvl2pPr>
            <a:lvl3pPr marL="857250" indent="-171450" algn="l" rtl="0" eaLnBrk="0" fontAlgn="base" hangingPunct="0">
              <a:lnSpc>
                <a:spcPct val="90000"/>
              </a:lnSpc>
              <a:spcBef>
                <a:spcPts val="375"/>
              </a:spcBef>
              <a:spcAft>
                <a:spcPct val="0"/>
              </a:spcAft>
              <a:buClr>
                <a:srgbClr val="C1CC30"/>
              </a:buClr>
              <a:buFont typeface="Arial" panose="020B0604020202020204" pitchFamily="34" charset="0"/>
              <a:buChar char="•"/>
              <a:defRPr sz="1500" kern="1200">
                <a:solidFill>
                  <a:schemeClr val="tx1"/>
                </a:solidFill>
                <a:latin typeface="Century Gothic" panose="020B0502020202020204" pitchFamily="34" charset="0"/>
                <a:ea typeface="+mn-ea"/>
                <a:cs typeface="+mn-cs"/>
              </a:defRPr>
            </a:lvl3pPr>
            <a:lvl4pPr marL="1200150" indent="-171450" algn="l"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Century Gothic" panose="020B0502020202020204" pitchFamily="34" charset="0"/>
                <a:ea typeface="+mn-ea"/>
                <a:cs typeface="+mn-cs"/>
              </a:defRPr>
            </a:lvl4pPr>
            <a:lvl5pPr marL="1543050" indent="-171450" algn="l"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Century Gothic" panose="020B0502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Low">
              <a:buFont typeface="Wingdings" panose="05000000000000000000" pitchFamily="2" charset="2"/>
              <a:buNone/>
            </a:pPr>
            <a:r>
              <a:rPr lang="en-US" altLang="en-US" sz="1800" b="1" u="sng" dirty="0"/>
              <a:t>Weekly Progress Report </a:t>
            </a:r>
            <a:r>
              <a:rPr lang="en-US" altLang="en-US" sz="1800" b="1" u="sng" dirty="0" err="1"/>
              <a:t>Attachement</a:t>
            </a:r>
            <a:endParaRPr lang="en-US" altLang="en-US" sz="1800" b="1" u="sng" dirty="0"/>
          </a:p>
          <a:p>
            <a:pPr marL="0" indent="0" algn="justLow">
              <a:buNone/>
            </a:pPr>
            <a:r>
              <a:rPr lang="en-US" altLang="en-US" sz="1800" dirty="0"/>
              <a:t>Contractor/Consultant should ensure that the weekly progress report are supported with required attachment. </a:t>
            </a:r>
          </a:p>
          <a:p>
            <a:pPr marL="0" indent="0" algn="justLow">
              <a:buNone/>
            </a:pPr>
            <a:endParaRPr lang="en-US" altLang="en-US" sz="1800" dirty="0"/>
          </a:p>
          <a:p>
            <a:pPr marL="0" indent="0" algn="justLow">
              <a:buNone/>
            </a:pPr>
            <a:r>
              <a:rPr lang="en-US" altLang="en-US" sz="1800" dirty="0"/>
              <a:t>Those attachment should include the following as a minimum requirement:</a:t>
            </a:r>
          </a:p>
          <a:p>
            <a:pPr marL="0" indent="0" algn="justLow">
              <a:buNone/>
            </a:pPr>
            <a:endParaRPr lang="en-US" altLang="en-US" sz="1800" dirty="0"/>
          </a:p>
          <a:p>
            <a:pPr algn="justLow"/>
            <a:r>
              <a:rPr lang="en-US" altLang="en-US" sz="1800" dirty="0"/>
              <a:t>Approved Primavera P6 Schedule in .</a:t>
            </a:r>
            <a:r>
              <a:rPr lang="en-US" altLang="en-US" sz="1800" dirty="0" err="1"/>
              <a:t>xer</a:t>
            </a:r>
            <a:r>
              <a:rPr lang="en-US" altLang="en-US" sz="1800" dirty="0"/>
              <a:t> format.</a:t>
            </a:r>
          </a:p>
          <a:p>
            <a:pPr algn="justLow"/>
            <a:r>
              <a:rPr lang="en-US" altLang="en-US" sz="1800" dirty="0"/>
              <a:t>3-5 latest progress photographs in JPG format</a:t>
            </a:r>
          </a:p>
          <a:p>
            <a:pPr algn="justLow"/>
            <a:r>
              <a:rPr lang="en-US" altLang="en-US" sz="1800" dirty="0"/>
              <a:t>Updated Primavera P6 schedule in .</a:t>
            </a:r>
            <a:r>
              <a:rPr lang="en-US" altLang="en-US" sz="1800" dirty="0" err="1"/>
              <a:t>xer</a:t>
            </a:r>
            <a:r>
              <a:rPr lang="en-US" altLang="en-US" sz="1800" dirty="0"/>
              <a:t> format &amp; PDF Format Three weeks look ahead in PDF format. (as per </a:t>
            </a:r>
            <a:r>
              <a:rPr lang="en-US" altLang="en-US" sz="1800" dirty="0" err="1">
                <a:hlinkClick r:id="rId2"/>
              </a:rPr>
              <a:t>plf</a:t>
            </a:r>
            <a:r>
              <a:rPr lang="en-US" altLang="en-US" sz="1800" dirty="0">
                <a:hlinkClick r:id="rId2"/>
              </a:rPr>
              <a:t> link</a:t>
            </a:r>
            <a:r>
              <a:rPr lang="en-US" altLang="en-US" sz="1800" dirty="0"/>
              <a:t>)</a:t>
            </a:r>
          </a:p>
          <a:p>
            <a:pPr algn="justLow"/>
            <a:r>
              <a:rPr lang="en-US" altLang="en-US" sz="1800" dirty="0"/>
              <a:t>Remaining Works in PDF format.</a:t>
            </a:r>
          </a:p>
          <a:p>
            <a:pPr algn="justLow"/>
            <a:r>
              <a:rPr lang="en-US" altLang="en-US" sz="1800" dirty="0"/>
              <a:t>Any other supporting document required per the development of the project.</a:t>
            </a:r>
          </a:p>
          <a:p>
            <a:pPr algn="justLow"/>
            <a:endParaRPr lang="en-US" altLang="en-US" sz="1800" dirty="0"/>
          </a:p>
        </p:txBody>
      </p:sp>
    </p:spTree>
    <p:extLst>
      <p:ext uri="{BB962C8B-B14F-4D97-AF65-F5344CB8AC3E}">
        <p14:creationId xmlns:p14="http://schemas.microsoft.com/office/powerpoint/2010/main" val="3853834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1490F-26A0-D04A-BEA7-2C4E9A8E1E7A}"/>
              </a:ext>
            </a:extLst>
          </p:cNvPr>
          <p:cNvSpPr>
            <a:spLocks noGrp="1"/>
          </p:cNvSpPr>
          <p:nvPr>
            <p:ph type="title"/>
          </p:nvPr>
        </p:nvSpPr>
        <p:spPr/>
        <p:txBody>
          <a:bodyPr/>
          <a:lstStyle/>
          <a:p>
            <a:pPr algn="l"/>
            <a:r>
              <a:rPr lang="en-US" dirty="0"/>
              <a:t>Weekly Report Areas / Sections</a:t>
            </a:r>
          </a:p>
        </p:txBody>
      </p:sp>
    </p:spTree>
    <p:extLst>
      <p:ext uri="{BB962C8B-B14F-4D97-AF65-F5344CB8AC3E}">
        <p14:creationId xmlns:p14="http://schemas.microsoft.com/office/powerpoint/2010/main" val="3703513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Sections</a:t>
            </a:r>
          </a:p>
        </p:txBody>
      </p:sp>
      <p:sp>
        <p:nvSpPr>
          <p:cNvPr id="6" name="Rectangle 5">
            <a:extLst>
              <a:ext uri="{FF2B5EF4-FFF2-40B4-BE49-F238E27FC236}">
                <a16:creationId xmlns:a16="http://schemas.microsoft.com/office/drawing/2014/main" id="{ED98EE53-72BA-4151-A302-AD2BF3E9F60B}"/>
              </a:ext>
            </a:extLst>
          </p:cNvPr>
          <p:cNvSpPr/>
          <p:nvPr/>
        </p:nvSpPr>
        <p:spPr>
          <a:xfrm>
            <a:off x="725735" y="1948934"/>
            <a:ext cx="3817392"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Contract General Information</a:t>
            </a:r>
          </a:p>
        </p:txBody>
      </p:sp>
      <p:sp>
        <p:nvSpPr>
          <p:cNvPr id="8" name="Rectangle 7">
            <a:extLst>
              <a:ext uri="{FF2B5EF4-FFF2-40B4-BE49-F238E27FC236}">
                <a16:creationId xmlns:a16="http://schemas.microsoft.com/office/drawing/2014/main" id="{1F353926-0080-49FF-91C7-97E88602E0C8}"/>
              </a:ext>
            </a:extLst>
          </p:cNvPr>
          <p:cNvSpPr/>
          <p:nvPr/>
        </p:nvSpPr>
        <p:spPr>
          <a:xfrm>
            <a:off x="725735" y="2419350"/>
            <a:ext cx="1691810"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Key Dates </a:t>
            </a:r>
          </a:p>
        </p:txBody>
      </p:sp>
      <p:sp>
        <p:nvSpPr>
          <p:cNvPr id="12" name="Rectangle 11">
            <a:extLst>
              <a:ext uri="{FF2B5EF4-FFF2-40B4-BE49-F238E27FC236}">
                <a16:creationId xmlns:a16="http://schemas.microsoft.com/office/drawing/2014/main" id="{9117EB9E-CC16-470D-93A9-1FFA4FDEA7FC}"/>
              </a:ext>
            </a:extLst>
          </p:cNvPr>
          <p:cNvSpPr/>
          <p:nvPr/>
        </p:nvSpPr>
        <p:spPr>
          <a:xfrm>
            <a:off x="725735" y="2909325"/>
            <a:ext cx="2689069"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Progress Overview </a:t>
            </a:r>
          </a:p>
        </p:txBody>
      </p:sp>
      <p:sp>
        <p:nvSpPr>
          <p:cNvPr id="14" name="Rectangle 13">
            <a:extLst>
              <a:ext uri="{FF2B5EF4-FFF2-40B4-BE49-F238E27FC236}">
                <a16:creationId xmlns:a16="http://schemas.microsoft.com/office/drawing/2014/main" id="{9759D9B9-590C-4790-BFA5-1127427C3664}"/>
              </a:ext>
            </a:extLst>
          </p:cNvPr>
          <p:cNvSpPr/>
          <p:nvPr/>
        </p:nvSpPr>
        <p:spPr>
          <a:xfrm>
            <a:off x="725735" y="3370131"/>
            <a:ext cx="3293722"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Construction Milestones </a:t>
            </a:r>
          </a:p>
        </p:txBody>
      </p:sp>
      <p:sp>
        <p:nvSpPr>
          <p:cNvPr id="15" name="Rectangle 14">
            <a:extLst>
              <a:ext uri="{FF2B5EF4-FFF2-40B4-BE49-F238E27FC236}">
                <a16:creationId xmlns:a16="http://schemas.microsoft.com/office/drawing/2014/main" id="{0C1DAC87-0392-4D38-B0C1-DB39DBD94634}"/>
              </a:ext>
            </a:extLst>
          </p:cNvPr>
          <p:cNvSpPr/>
          <p:nvPr/>
        </p:nvSpPr>
        <p:spPr>
          <a:xfrm>
            <a:off x="748192" y="3840547"/>
            <a:ext cx="2553199"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Submittals Status </a:t>
            </a:r>
          </a:p>
        </p:txBody>
      </p:sp>
      <p:sp>
        <p:nvSpPr>
          <p:cNvPr id="17" name="Rectangle 16">
            <a:extLst>
              <a:ext uri="{FF2B5EF4-FFF2-40B4-BE49-F238E27FC236}">
                <a16:creationId xmlns:a16="http://schemas.microsoft.com/office/drawing/2014/main" id="{0A5A3146-84B8-4367-86BA-F42D42153B4A}"/>
              </a:ext>
            </a:extLst>
          </p:cNvPr>
          <p:cNvSpPr/>
          <p:nvPr/>
        </p:nvSpPr>
        <p:spPr>
          <a:xfrm>
            <a:off x="725735" y="4854418"/>
            <a:ext cx="3284232"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Material Approval Status</a:t>
            </a:r>
          </a:p>
        </p:txBody>
      </p:sp>
      <p:sp>
        <p:nvSpPr>
          <p:cNvPr id="18" name="Rectangle 17">
            <a:extLst>
              <a:ext uri="{FF2B5EF4-FFF2-40B4-BE49-F238E27FC236}">
                <a16:creationId xmlns:a16="http://schemas.microsoft.com/office/drawing/2014/main" id="{828D6351-DA5C-40EF-B47F-E0B247C24BB9}"/>
              </a:ext>
            </a:extLst>
          </p:cNvPr>
          <p:cNvSpPr/>
          <p:nvPr/>
        </p:nvSpPr>
        <p:spPr>
          <a:xfrm>
            <a:off x="7040541" y="1913699"/>
            <a:ext cx="949299"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HSE</a:t>
            </a:r>
          </a:p>
        </p:txBody>
      </p:sp>
      <p:sp>
        <p:nvSpPr>
          <p:cNvPr id="19" name="Rectangle 18">
            <a:extLst>
              <a:ext uri="{FF2B5EF4-FFF2-40B4-BE49-F238E27FC236}">
                <a16:creationId xmlns:a16="http://schemas.microsoft.com/office/drawing/2014/main" id="{057C8D06-032B-4E26-B9D8-B35C4F40C9E7}"/>
              </a:ext>
            </a:extLst>
          </p:cNvPr>
          <p:cNvSpPr/>
          <p:nvPr/>
        </p:nvSpPr>
        <p:spPr>
          <a:xfrm>
            <a:off x="7040541" y="2431874"/>
            <a:ext cx="1397562"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Invoices</a:t>
            </a:r>
          </a:p>
        </p:txBody>
      </p:sp>
      <p:sp>
        <p:nvSpPr>
          <p:cNvPr id="20" name="Rectangle 19">
            <a:extLst>
              <a:ext uri="{FF2B5EF4-FFF2-40B4-BE49-F238E27FC236}">
                <a16:creationId xmlns:a16="http://schemas.microsoft.com/office/drawing/2014/main" id="{BD7B75C2-83A3-4920-8364-699E7289ABB1}"/>
              </a:ext>
            </a:extLst>
          </p:cNvPr>
          <p:cNvSpPr/>
          <p:nvPr/>
        </p:nvSpPr>
        <p:spPr>
          <a:xfrm>
            <a:off x="725735" y="4325303"/>
            <a:ext cx="2879443"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Shop Drawing Status</a:t>
            </a:r>
          </a:p>
        </p:txBody>
      </p:sp>
      <p:sp>
        <p:nvSpPr>
          <p:cNvPr id="22" name="Rectangle 21">
            <a:extLst>
              <a:ext uri="{FF2B5EF4-FFF2-40B4-BE49-F238E27FC236}">
                <a16:creationId xmlns:a16="http://schemas.microsoft.com/office/drawing/2014/main" id="{4883D1DE-6619-4334-8EFE-2E843FFF7142}"/>
              </a:ext>
            </a:extLst>
          </p:cNvPr>
          <p:cNvSpPr/>
          <p:nvPr/>
        </p:nvSpPr>
        <p:spPr>
          <a:xfrm>
            <a:off x="7040541" y="3847667"/>
            <a:ext cx="2445478"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Resources at Site</a:t>
            </a:r>
          </a:p>
        </p:txBody>
      </p:sp>
      <p:sp>
        <p:nvSpPr>
          <p:cNvPr id="24" name="Rectangle 23">
            <a:extLst>
              <a:ext uri="{FF2B5EF4-FFF2-40B4-BE49-F238E27FC236}">
                <a16:creationId xmlns:a16="http://schemas.microsoft.com/office/drawing/2014/main" id="{E8856871-B435-4822-8562-7C0478D560FB}"/>
              </a:ext>
            </a:extLst>
          </p:cNvPr>
          <p:cNvSpPr/>
          <p:nvPr/>
        </p:nvSpPr>
        <p:spPr>
          <a:xfrm>
            <a:off x="7040541" y="4325303"/>
            <a:ext cx="3967368"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Primavera P6 Schedule Status </a:t>
            </a:r>
          </a:p>
        </p:txBody>
      </p:sp>
      <p:sp>
        <p:nvSpPr>
          <p:cNvPr id="26" name="Rectangle 25">
            <a:extLst>
              <a:ext uri="{FF2B5EF4-FFF2-40B4-BE49-F238E27FC236}">
                <a16:creationId xmlns:a16="http://schemas.microsoft.com/office/drawing/2014/main" id="{CA58F7D8-9A58-4ABB-957E-F1F6C6BBFC9D}"/>
              </a:ext>
            </a:extLst>
          </p:cNvPr>
          <p:cNvSpPr/>
          <p:nvPr/>
        </p:nvSpPr>
        <p:spPr>
          <a:xfrm>
            <a:off x="7040541" y="2902290"/>
            <a:ext cx="3665555"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Contract Change Order Log</a:t>
            </a:r>
          </a:p>
        </p:txBody>
      </p:sp>
      <p:sp>
        <p:nvSpPr>
          <p:cNvPr id="27" name="Rectangle 26">
            <a:extLst>
              <a:ext uri="{FF2B5EF4-FFF2-40B4-BE49-F238E27FC236}">
                <a16:creationId xmlns:a16="http://schemas.microsoft.com/office/drawing/2014/main" id="{D0D745F9-7027-4618-AC8F-9A414F025AB5}"/>
              </a:ext>
            </a:extLst>
          </p:cNvPr>
          <p:cNvSpPr/>
          <p:nvPr/>
        </p:nvSpPr>
        <p:spPr>
          <a:xfrm>
            <a:off x="7040541" y="3372706"/>
            <a:ext cx="3264035"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Major Quantity Trackers </a:t>
            </a:r>
          </a:p>
        </p:txBody>
      </p:sp>
      <p:sp>
        <p:nvSpPr>
          <p:cNvPr id="28" name="Rectangle 27">
            <a:extLst>
              <a:ext uri="{FF2B5EF4-FFF2-40B4-BE49-F238E27FC236}">
                <a16:creationId xmlns:a16="http://schemas.microsoft.com/office/drawing/2014/main" id="{CCBF3A41-9053-4FF5-BE15-80C02EA6C3B7}"/>
              </a:ext>
            </a:extLst>
          </p:cNvPr>
          <p:cNvSpPr/>
          <p:nvPr/>
        </p:nvSpPr>
        <p:spPr>
          <a:xfrm>
            <a:off x="7040541" y="4802939"/>
            <a:ext cx="3734356"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Testing And Commissioning </a:t>
            </a:r>
          </a:p>
        </p:txBody>
      </p:sp>
      <p:sp>
        <p:nvSpPr>
          <p:cNvPr id="29" name="Rectangle 28">
            <a:extLst>
              <a:ext uri="{FF2B5EF4-FFF2-40B4-BE49-F238E27FC236}">
                <a16:creationId xmlns:a16="http://schemas.microsoft.com/office/drawing/2014/main" id="{06515FD4-CA9C-4C9F-9CFE-6E161C71552F}"/>
              </a:ext>
            </a:extLst>
          </p:cNvPr>
          <p:cNvSpPr/>
          <p:nvPr/>
        </p:nvSpPr>
        <p:spPr>
          <a:xfrm>
            <a:off x="7040541" y="5270680"/>
            <a:ext cx="1723998"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Top Issues </a:t>
            </a:r>
          </a:p>
        </p:txBody>
      </p:sp>
      <p:sp>
        <p:nvSpPr>
          <p:cNvPr id="30" name="Rectangle 29">
            <a:extLst>
              <a:ext uri="{FF2B5EF4-FFF2-40B4-BE49-F238E27FC236}">
                <a16:creationId xmlns:a16="http://schemas.microsoft.com/office/drawing/2014/main" id="{55745146-0056-4C47-BBFA-112097FFEC7F}"/>
              </a:ext>
            </a:extLst>
          </p:cNvPr>
          <p:cNvSpPr/>
          <p:nvPr/>
        </p:nvSpPr>
        <p:spPr>
          <a:xfrm>
            <a:off x="729245" y="5383533"/>
            <a:ext cx="1295547"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Quality</a:t>
            </a:r>
          </a:p>
        </p:txBody>
      </p:sp>
    </p:spTree>
    <p:extLst>
      <p:ext uri="{BB962C8B-B14F-4D97-AF65-F5344CB8AC3E}">
        <p14:creationId xmlns:p14="http://schemas.microsoft.com/office/powerpoint/2010/main" val="2579139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928134" cy="733211"/>
          </a:xfrm>
        </p:spPr>
        <p:txBody>
          <a:bodyPr/>
          <a:lstStyle/>
          <a:p>
            <a:pPr algn="l"/>
            <a:r>
              <a:rPr lang="en-US" dirty="0"/>
              <a:t>Weekly Report Areas / General Information</a:t>
            </a:r>
          </a:p>
        </p:txBody>
      </p:sp>
      <p:sp>
        <p:nvSpPr>
          <p:cNvPr id="6" name="Rectangle 5">
            <a:extLst>
              <a:ext uri="{FF2B5EF4-FFF2-40B4-BE49-F238E27FC236}">
                <a16:creationId xmlns:a16="http://schemas.microsoft.com/office/drawing/2014/main" id="{ED98EE53-72BA-4151-A302-AD2BF3E9F60B}"/>
              </a:ext>
            </a:extLst>
          </p:cNvPr>
          <p:cNvSpPr/>
          <p:nvPr/>
        </p:nvSpPr>
        <p:spPr>
          <a:xfrm>
            <a:off x="764812" y="1590149"/>
            <a:ext cx="3905236"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Contract General Information</a:t>
            </a:r>
          </a:p>
        </p:txBody>
      </p:sp>
      <p:pic>
        <p:nvPicPr>
          <p:cNvPr id="4" name="Picture 3">
            <a:extLst>
              <a:ext uri="{FF2B5EF4-FFF2-40B4-BE49-F238E27FC236}">
                <a16:creationId xmlns:a16="http://schemas.microsoft.com/office/drawing/2014/main" id="{76F4E28A-84A0-A58C-3EF5-E83B3E058003}"/>
              </a:ext>
            </a:extLst>
          </p:cNvPr>
          <p:cNvPicPr>
            <a:picLocks noChangeAspect="1"/>
          </p:cNvPicPr>
          <p:nvPr/>
        </p:nvPicPr>
        <p:blipFill>
          <a:blip r:embed="rId2"/>
          <a:stretch>
            <a:fillRect/>
          </a:stretch>
        </p:blipFill>
        <p:spPr>
          <a:xfrm>
            <a:off x="381000" y="1959481"/>
            <a:ext cx="11430000" cy="4294668"/>
          </a:xfrm>
          <a:prstGeom prst="rect">
            <a:avLst/>
          </a:prstGeom>
          <a:ln w="12700">
            <a:solidFill>
              <a:schemeClr val="tx1"/>
            </a:solidFill>
          </a:ln>
        </p:spPr>
      </p:pic>
    </p:spTree>
    <p:extLst>
      <p:ext uri="{BB962C8B-B14F-4D97-AF65-F5344CB8AC3E}">
        <p14:creationId xmlns:p14="http://schemas.microsoft.com/office/powerpoint/2010/main" val="540359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Dates</a:t>
            </a:r>
          </a:p>
        </p:txBody>
      </p:sp>
      <p:sp>
        <p:nvSpPr>
          <p:cNvPr id="8" name="Rectangle 7">
            <a:extLst>
              <a:ext uri="{FF2B5EF4-FFF2-40B4-BE49-F238E27FC236}">
                <a16:creationId xmlns:a16="http://schemas.microsoft.com/office/drawing/2014/main" id="{1F353926-0080-49FF-91C7-97E88602E0C8}"/>
              </a:ext>
            </a:extLst>
          </p:cNvPr>
          <p:cNvSpPr/>
          <p:nvPr/>
        </p:nvSpPr>
        <p:spPr>
          <a:xfrm>
            <a:off x="736482" y="1637001"/>
            <a:ext cx="1721946"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Key Dates </a:t>
            </a:r>
          </a:p>
        </p:txBody>
      </p:sp>
      <p:pic>
        <p:nvPicPr>
          <p:cNvPr id="4" name="Picture 3">
            <a:extLst>
              <a:ext uri="{FF2B5EF4-FFF2-40B4-BE49-F238E27FC236}">
                <a16:creationId xmlns:a16="http://schemas.microsoft.com/office/drawing/2014/main" id="{3EFBBD35-6309-5521-D68B-34797ED336BD}"/>
              </a:ext>
            </a:extLst>
          </p:cNvPr>
          <p:cNvPicPr>
            <a:picLocks noChangeAspect="1"/>
          </p:cNvPicPr>
          <p:nvPr/>
        </p:nvPicPr>
        <p:blipFill>
          <a:blip r:embed="rId3"/>
          <a:stretch>
            <a:fillRect/>
          </a:stretch>
        </p:blipFill>
        <p:spPr>
          <a:xfrm>
            <a:off x="1640513" y="2364016"/>
            <a:ext cx="7690104" cy="3390993"/>
          </a:xfrm>
          <a:prstGeom prst="rect">
            <a:avLst/>
          </a:prstGeom>
          <a:ln w="9525">
            <a:solidFill>
              <a:schemeClr val="tx1"/>
            </a:solidFill>
          </a:ln>
        </p:spPr>
      </p:pic>
    </p:spTree>
    <p:extLst>
      <p:ext uri="{BB962C8B-B14F-4D97-AF65-F5344CB8AC3E}">
        <p14:creationId xmlns:p14="http://schemas.microsoft.com/office/powerpoint/2010/main" val="1162628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375170" y="556548"/>
            <a:ext cx="9005646" cy="733211"/>
          </a:xfrm>
        </p:spPr>
        <p:txBody>
          <a:bodyPr/>
          <a:lstStyle/>
          <a:p>
            <a:pPr algn="l"/>
            <a:r>
              <a:rPr lang="en-US" dirty="0"/>
              <a:t>Weekly Report Areas / Dates</a:t>
            </a:r>
          </a:p>
        </p:txBody>
      </p:sp>
      <p:sp>
        <p:nvSpPr>
          <p:cNvPr id="8" name="Rectangle 7">
            <a:extLst>
              <a:ext uri="{FF2B5EF4-FFF2-40B4-BE49-F238E27FC236}">
                <a16:creationId xmlns:a16="http://schemas.microsoft.com/office/drawing/2014/main" id="{1F353926-0080-49FF-91C7-97E88602E0C8}"/>
              </a:ext>
            </a:extLst>
          </p:cNvPr>
          <p:cNvSpPr/>
          <p:nvPr/>
        </p:nvSpPr>
        <p:spPr>
          <a:xfrm>
            <a:off x="1195635" y="1240178"/>
            <a:ext cx="1721946"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Key Dates </a:t>
            </a:r>
          </a:p>
        </p:txBody>
      </p:sp>
      <p:pic>
        <p:nvPicPr>
          <p:cNvPr id="4" name="Picture 3">
            <a:extLst>
              <a:ext uri="{FF2B5EF4-FFF2-40B4-BE49-F238E27FC236}">
                <a16:creationId xmlns:a16="http://schemas.microsoft.com/office/drawing/2014/main" id="{A481A90C-234F-D1D5-2539-B05566BCA338}"/>
              </a:ext>
            </a:extLst>
          </p:cNvPr>
          <p:cNvPicPr>
            <a:picLocks noChangeAspect="1"/>
          </p:cNvPicPr>
          <p:nvPr/>
        </p:nvPicPr>
        <p:blipFill>
          <a:blip r:embed="rId2"/>
          <a:stretch>
            <a:fillRect/>
          </a:stretch>
        </p:blipFill>
        <p:spPr>
          <a:xfrm>
            <a:off x="3373846" y="1424844"/>
            <a:ext cx="4572000" cy="5029200"/>
          </a:xfrm>
          <a:prstGeom prst="rect">
            <a:avLst/>
          </a:prstGeom>
          <a:ln w="12700">
            <a:solidFill>
              <a:srgbClr val="000000"/>
            </a:solidFill>
          </a:ln>
        </p:spPr>
      </p:pic>
    </p:spTree>
    <p:extLst>
      <p:ext uri="{BB962C8B-B14F-4D97-AF65-F5344CB8AC3E}">
        <p14:creationId xmlns:p14="http://schemas.microsoft.com/office/powerpoint/2010/main" val="1027507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Progress</a:t>
            </a:r>
          </a:p>
        </p:txBody>
      </p:sp>
      <p:sp>
        <p:nvSpPr>
          <p:cNvPr id="8" name="Rectangle 7">
            <a:extLst>
              <a:ext uri="{FF2B5EF4-FFF2-40B4-BE49-F238E27FC236}">
                <a16:creationId xmlns:a16="http://schemas.microsoft.com/office/drawing/2014/main" id="{1F353926-0080-49FF-91C7-97E88602E0C8}"/>
              </a:ext>
            </a:extLst>
          </p:cNvPr>
          <p:cNvSpPr/>
          <p:nvPr/>
        </p:nvSpPr>
        <p:spPr>
          <a:xfrm>
            <a:off x="611383" y="1365684"/>
            <a:ext cx="2743059"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Progress Overview </a:t>
            </a:r>
          </a:p>
        </p:txBody>
      </p:sp>
      <p:pic>
        <p:nvPicPr>
          <p:cNvPr id="4" name="Picture 3">
            <a:extLst>
              <a:ext uri="{FF2B5EF4-FFF2-40B4-BE49-F238E27FC236}">
                <a16:creationId xmlns:a16="http://schemas.microsoft.com/office/drawing/2014/main" id="{D74F7B89-9DCC-14BD-A4A2-0032174B2C4C}"/>
              </a:ext>
            </a:extLst>
          </p:cNvPr>
          <p:cNvPicPr>
            <a:picLocks noChangeAspect="1"/>
          </p:cNvPicPr>
          <p:nvPr/>
        </p:nvPicPr>
        <p:blipFill>
          <a:blip r:embed="rId2"/>
          <a:stretch>
            <a:fillRect/>
          </a:stretch>
        </p:blipFill>
        <p:spPr>
          <a:xfrm>
            <a:off x="2630367" y="1938211"/>
            <a:ext cx="5943600" cy="4754876"/>
          </a:xfrm>
          <a:prstGeom prst="rect">
            <a:avLst/>
          </a:prstGeom>
          <a:ln w="12700">
            <a:solidFill>
              <a:schemeClr val="tx1"/>
            </a:solidFill>
          </a:ln>
        </p:spPr>
      </p:pic>
    </p:spTree>
    <p:extLst>
      <p:ext uri="{BB962C8B-B14F-4D97-AF65-F5344CB8AC3E}">
        <p14:creationId xmlns:p14="http://schemas.microsoft.com/office/powerpoint/2010/main" val="231771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Progress</a:t>
            </a:r>
          </a:p>
        </p:txBody>
      </p:sp>
      <p:sp>
        <p:nvSpPr>
          <p:cNvPr id="8" name="Rectangle 7">
            <a:extLst>
              <a:ext uri="{FF2B5EF4-FFF2-40B4-BE49-F238E27FC236}">
                <a16:creationId xmlns:a16="http://schemas.microsoft.com/office/drawing/2014/main" id="{1F353926-0080-49FF-91C7-97E88602E0C8}"/>
              </a:ext>
            </a:extLst>
          </p:cNvPr>
          <p:cNvSpPr/>
          <p:nvPr/>
        </p:nvSpPr>
        <p:spPr>
          <a:xfrm>
            <a:off x="713035" y="1397575"/>
            <a:ext cx="2743059"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Progress Overview </a:t>
            </a:r>
          </a:p>
        </p:txBody>
      </p:sp>
      <p:pic>
        <p:nvPicPr>
          <p:cNvPr id="4" name="Picture 3">
            <a:extLst>
              <a:ext uri="{FF2B5EF4-FFF2-40B4-BE49-F238E27FC236}">
                <a16:creationId xmlns:a16="http://schemas.microsoft.com/office/drawing/2014/main" id="{96C8BE2C-E0CD-307B-E6C7-4C822B7E1245}"/>
              </a:ext>
            </a:extLst>
          </p:cNvPr>
          <p:cNvPicPr>
            <a:picLocks noChangeAspect="1"/>
          </p:cNvPicPr>
          <p:nvPr/>
        </p:nvPicPr>
        <p:blipFill>
          <a:blip r:embed="rId2"/>
          <a:stretch>
            <a:fillRect/>
          </a:stretch>
        </p:blipFill>
        <p:spPr>
          <a:xfrm>
            <a:off x="2898061" y="2047333"/>
            <a:ext cx="3200400" cy="4597961"/>
          </a:xfrm>
          <a:prstGeom prst="rect">
            <a:avLst/>
          </a:prstGeom>
          <a:ln w="12700">
            <a:solidFill>
              <a:schemeClr val="tx1"/>
            </a:solidFill>
          </a:ln>
        </p:spPr>
      </p:pic>
    </p:spTree>
    <p:extLst>
      <p:ext uri="{BB962C8B-B14F-4D97-AF65-F5344CB8AC3E}">
        <p14:creationId xmlns:p14="http://schemas.microsoft.com/office/powerpoint/2010/main" val="2357819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90533" y="540419"/>
            <a:ext cx="9005646" cy="733211"/>
          </a:xfrm>
        </p:spPr>
        <p:txBody>
          <a:bodyPr/>
          <a:lstStyle/>
          <a:p>
            <a:pPr algn="l"/>
            <a:r>
              <a:rPr lang="en-US" dirty="0"/>
              <a:t>Weekly Report Areas / Progress</a:t>
            </a:r>
          </a:p>
        </p:txBody>
      </p:sp>
      <p:sp>
        <p:nvSpPr>
          <p:cNvPr id="8" name="Rectangle 7">
            <a:extLst>
              <a:ext uri="{FF2B5EF4-FFF2-40B4-BE49-F238E27FC236}">
                <a16:creationId xmlns:a16="http://schemas.microsoft.com/office/drawing/2014/main" id="{1F353926-0080-49FF-91C7-97E88602E0C8}"/>
              </a:ext>
            </a:extLst>
          </p:cNvPr>
          <p:cNvSpPr/>
          <p:nvPr/>
        </p:nvSpPr>
        <p:spPr>
          <a:xfrm>
            <a:off x="1305490" y="1301234"/>
            <a:ext cx="2743059"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Progress Overview </a:t>
            </a:r>
          </a:p>
        </p:txBody>
      </p:sp>
      <p:pic>
        <p:nvPicPr>
          <p:cNvPr id="5" name="Picture 4">
            <a:extLst>
              <a:ext uri="{FF2B5EF4-FFF2-40B4-BE49-F238E27FC236}">
                <a16:creationId xmlns:a16="http://schemas.microsoft.com/office/drawing/2014/main" id="{B4C62C93-7DEB-3D22-08FB-B072282907BA}"/>
              </a:ext>
            </a:extLst>
          </p:cNvPr>
          <p:cNvPicPr>
            <a:picLocks noChangeAspect="1"/>
          </p:cNvPicPr>
          <p:nvPr/>
        </p:nvPicPr>
        <p:blipFill>
          <a:blip r:embed="rId2"/>
          <a:stretch>
            <a:fillRect/>
          </a:stretch>
        </p:blipFill>
        <p:spPr>
          <a:xfrm>
            <a:off x="264268" y="1698167"/>
            <a:ext cx="11430000" cy="5000792"/>
          </a:xfrm>
          <a:prstGeom prst="rect">
            <a:avLst/>
          </a:prstGeom>
          <a:ln w="12700">
            <a:solidFill>
              <a:schemeClr val="tx1"/>
            </a:solidFill>
          </a:ln>
        </p:spPr>
      </p:pic>
    </p:spTree>
    <p:extLst>
      <p:ext uri="{BB962C8B-B14F-4D97-AF65-F5344CB8AC3E}">
        <p14:creationId xmlns:p14="http://schemas.microsoft.com/office/powerpoint/2010/main" val="1319004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694A7-E7D9-F765-9891-F35636738D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063288-7DD8-9E1C-1636-716964BC247B}"/>
              </a:ext>
            </a:extLst>
          </p:cNvPr>
          <p:cNvSpPr>
            <a:spLocks noGrp="1"/>
          </p:cNvSpPr>
          <p:nvPr>
            <p:ph type="title"/>
          </p:nvPr>
        </p:nvSpPr>
        <p:spPr>
          <a:xfrm>
            <a:off x="1990533" y="540419"/>
            <a:ext cx="9005646" cy="733211"/>
          </a:xfrm>
        </p:spPr>
        <p:txBody>
          <a:bodyPr/>
          <a:lstStyle/>
          <a:p>
            <a:pPr algn="l"/>
            <a:r>
              <a:rPr lang="en-US" dirty="0"/>
              <a:t>Weekly Report Areas / Progress</a:t>
            </a:r>
          </a:p>
        </p:txBody>
      </p:sp>
      <p:sp>
        <p:nvSpPr>
          <p:cNvPr id="8" name="Rectangle 7">
            <a:extLst>
              <a:ext uri="{FF2B5EF4-FFF2-40B4-BE49-F238E27FC236}">
                <a16:creationId xmlns:a16="http://schemas.microsoft.com/office/drawing/2014/main" id="{A1C7A9E8-E958-E331-7131-1CCC8DA71C7C}"/>
              </a:ext>
            </a:extLst>
          </p:cNvPr>
          <p:cNvSpPr/>
          <p:nvPr/>
        </p:nvSpPr>
        <p:spPr>
          <a:xfrm>
            <a:off x="1305490" y="1301234"/>
            <a:ext cx="2743059" cy="369332"/>
          </a:xfrm>
          <a:prstGeom prst="rect">
            <a:avLst/>
          </a:prstGeom>
        </p:spPr>
        <p:txBody>
          <a:bodyPr wrap="non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2C6782"/>
                </a:solidFill>
                <a:effectLst/>
                <a:uLnTx/>
                <a:uFillTx/>
                <a:latin typeface="Gotham" panose="02000504050000020004" pitchFamily="2" charset="0"/>
                <a:ea typeface="+mn-ea"/>
                <a:cs typeface="+mn-cs"/>
              </a:rPr>
              <a:t>Progress Overview </a:t>
            </a:r>
          </a:p>
        </p:txBody>
      </p:sp>
      <p:pic>
        <p:nvPicPr>
          <p:cNvPr id="4" name="Picture 3">
            <a:extLst>
              <a:ext uri="{FF2B5EF4-FFF2-40B4-BE49-F238E27FC236}">
                <a16:creationId xmlns:a16="http://schemas.microsoft.com/office/drawing/2014/main" id="{957C7E66-321B-FD0A-CB50-F35D90EF04C9}"/>
              </a:ext>
            </a:extLst>
          </p:cNvPr>
          <p:cNvPicPr>
            <a:picLocks noChangeAspect="1"/>
          </p:cNvPicPr>
          <p:nvPr/>
        </p:nvPicPr>
        <p:blipFill>
          <a:blip r:embed="rId2"/>
          <a:stretch>
            <a:fillRect/>
          </a:stretch>
        </p:blipFill>
        <p:spPr>
          <a:xfrm>
            <a:off x="263408" y="1664872"/>
            <a:ext cx="11430000" cy="5094258"/>
          </a:xfrm>
          <a:prstGeom prst="rect">
            <a:avLst/>
          </a:prstGeom>
          <a:ln w="12700">
            <a:solidFill>
              <a:schemeClr val="tx1"/>
            </a:solidFill>
          </a:ln>
        </p:spPr>
      </p:pic>
    </p:spTree>
    <p:extLst>
      <p:ext uri="{BB962C8B-B14F-4D97-AF65-F5344CB8AC3E}">
        <p14:creationId xmlns:p14="http://schemas.microsoft.com/office/powerpoint/2010/main" val="33970528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Milestones</a:t>
            </a:r>
          </a:p>
        </p:txBody>
      </p:sp>
      <p:sp>
        <p:nvSpPr>
          <p:cNvPr id="14" name="Rectangle 13">
            <a:extLst>
              <a:ext uri="{FF2B5EF4-FFF2-40B4-BE49-F238E27FC236}">
                <a16:creationId xmlns:a16="http://schemas.microsoft.com/office/drawing/2014/main" id="{9759D9B9-590C-4790-BFA5-1127427C3664}"/>
              </a:ext>
            </a:extLst>
          </p:cNvPr>
          <p:cNvSpPr/>
          <p:nvPr/>
        </p:nvSpPr>
        <p:spPr>
          <a:xfrm>
            <a:off x="562449" y="1707907"/>
            <a:ext cx="3350597"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Construction Milestones </a:t>
            </a:r>
          </a:p>
        </p:txBody>
      </p:sp>
      <p:pic>
        <p:nvPicPr>
          <p:cNvPr id="4" name="Picture 3">
            <a:extLst>
              <a:ext uri="{FF2B5EF4-FFF2-40B4-BE49-F238E27FC236}">
                <a16:creationId xmlns:a16="http://schemas.microsoft.com/office/drawing/2014/main" id="{EB7FE70A-2297-E266-6071-707EC60DE574}"/>
              </a:ext>
            </a:extLst>
          </p:cNvPr>
          <p:cNvPicPr>
            <a:picLocks noChangeAspect="1"/>
          </p:cNvPicPr>
          <p:nvPr/>
        </p:nvPicPr>
        <p:blipFill>
          <a:blip r:embed="rId2"/>
          <a:stretch>
            <a:fillRect/>
          </a:stretch>
        </p:blipFill>
        <p:spPr>
          <a:xfrm>
            <a:off x="1979487" y="2307024"/>
            <a:ext cx="8229600" cy="4114796"/>
          </a:xfrm>
          <a:prstGeom prst="rect">
            <a:avLst/>
          </a:prstGeom>
          <a:ln>
            <a:solidFill>
              <a:schemeClr val="tx1"/>
            </a:solidFill>
          </a:ln>
        </p:spPr>
      </p:pic>
    </p:spTree>
    <p:extLst>
      <p:ext uri="{BB962C8B-B14F-4D97-AF65-F5344CB8AC3E}">
        <p14:creationId xmlns:p14="http://schemas.microsoft.com/office/powerpoint/2010/main" val="2328663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Shop Drawings</a:t>
            </a:r>
          </a:p>
        </p:txBody>
      </p:sp>
      <p:sp>
        <p:nvSpPr>
          <p:cNvPr id="15" name="Rectangle 14">
            <a:extLst>
              <a:ext uri="{FF2B5EF4-FFF2-40B4-BE49-F238E27FC236}">
                <a16:creationId xmlns:a16="http://schemas.microsoft.com/office/drawing/2014/main" id="{0C1DAC87-0392-4D38-B0C1-DB39DBD94634}"/>
              </a:ext>
            </a:extLst>
          </p:cNvPr>
          <p:cNvSpPr/>
          <p:nvPr/>
        </p:nvSpPr>
        <p:spPr>
          <a:xfrm>
            <a:off x="295889" y="1929021"/>
            <a:ext cx="2231701"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Shop Drawings</a:t>
            </a:r>
          </a:p>
        </p:txBody>
      </p:sp>
      <p:pic>
        <p:nvPicPr>
          <p:cNvPr id="5" name="Picture 4">
            <a:extLst>
              <a:ext uri="{FF2B5EF4-FFF2-40B4-BE49-F238E27FC236}">
                <a16:creationId xmlns:a16="http://schemas.microsoft.com/office/drawing/2014/main" id="{35A433DD-01C2-8939-E980-DEC8BA603B93}"/>
              </a:ext>
            </a:extLst>
          </p:cNvPr>
          <p:cNvPicPr>
            <a:picLocks noChangeAspect="1"/>
          </p:cNvPicPr>
          <p:nvPr/>
        </p:nvPicPr>
        <p:blipFill>
          <a:blip r:embed="rId2"/>
          <a:stretch>
            <a:fillRect/>
          </a:stretch>
        </p:blipFill>
        <p:spPr>
          <a:xfrm>
            <a:off x="159034" y="2402816"/>
            <a:ext cx="11887200" cy="2011668"/>
          </a:xfrm>
          <a:prstGeom prst="rect">
            <a:avLst/>
          </a:prstGeom>
          <a:ln w="12700">
            <a:solidFill>
              <a:srgbClr val="000000"/>
            </a:solidFill>
          </a:ln>
        </p:spPr>
      </p:pic>
    </p:spTree>
    <p:extLst>
      <p:ext uri="{BB962C8B-B14F-4D97-AF65-F5344CB8AC3E}">
        <p14:creationId xmlns:p14="http://schemas.microsoft.com/office/powerpoint/2010/main" val="39021175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6A4CE-0510-433C-2903-5091DA7A7C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6D7E36-DBF2-E672-3A42-5962E1B74D88}"/>
              </a:ext>
            </a:extLst>
          </p:cNvPr>
          <p:cNvSpPr>
            <a:spLocks noGrp="1"/>
          </p:cNvSpPr>
          <p:nvPr>
            <p:ph type="title"/>
          </p:nvPr>
        </p:nvSpPr>
        <p:spPr>
          <a:xfrm>
            <a:off x="1982913" y="543146"/>
            <a:ext cx="9005646" cy="733211"/>
          </a:xfrm>
        </p:spPr>
        <p:txBody>
          <a:bodyPr/>
          <a:lstStyle/>
          <a:p>
            <a:pPr algn="l"/>
            <a:r>
              <a:rPr lang="en-US" dirty="0"/>
              <a:t>Weekly Report Areas / Material Approval</a:t>
            </a:r>
          </a:p>
        </p:txBody>
      </p:sp>
      <p:sp>
        <p:nvSpPr>
          <p:cNvPr id="15" name="Rectangle 14">
            <a:extLst>
              <a:ext uri="{FF2B5EF4-FFF2-40B4-BE49-F238E27FC236}">
                <a16:creationId xmlns:a16="http://schemas.microsoft.com/office/drawing/2014/main" id="{F2AD3F5D-F6BA-5B72-8079-F9705291AA06}"/>
              </a:ext>
            </a:extLst>
          </p:cNvPr>
          <p:cNvSpPr/>
          <p:nvPr/>
        </p:nvSpPr>
        <p:spPr>
          <a:xfrm>
            <a:off x="295889" y="1929021"/>
            <a:ext cx="2231701" cy="369332"/>
          </a:xfrm>
          <a:prstGeom prst="rect">
            <a:avLst/>
          </a:prstGeom>
        </p:spPr>
        <p:txBody>
          <a:bodyPr wrap="non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2C6782"/>
                </a:solidFill>
                <a:effectLst/>
                <a:uLnTx/>
                <a:uFillTx/>
                <a:latin typeface="Gotham" panose="02000504050000020004" pitchFamily="2" charset="0"/>
                <a:ea typeface="+mn-ea"/>
                <a:cs typeface="+mn-cs"/>
              </a:rPr>
              <a:t>Material Approval</a:t>
            </a:r>
          </a:p>
        </p:txBody>
      </p:sp>
      <p:pic>
        <p:nvPicPr>
          <p:cNvPr id="4" name="Picture 3">
            <a:extLst>
              <a:ext uri="{FF2B5EF4-FFF2-40B4-BE49-F238E27FC236}">
                <a16:creationId xmlns:a16="http://schemas.microsoft.com/office/drawing/2014/main" id="{AF8B9511-F1CF-37B6-B294-723B3FE402C5}"/>
              </a:ext>
            </a:extLst>
          </p:cNvPr>
          <p:cNvPicPr>
            <a:picLocks noChangeAspect="1"/>
          </p:cNvPicPr>
          <p:nvPr/>
        </p:nvPicPr>
        <p:blipFill>
          <a:blip r:embed="rId2"/>
          <a:stretch>
            <a:fillRect/>
          </a:stretch>
        </p:blipFill>
        <p:spPr>
          <a:xfrm>
            <a:off x="152390" y="2372235"/>
            <a:ext cx="11887200" cy="2011671"/>
          </a:xfrm>
          <a:prstGeom prst="rect">
            <a:avLst/>
          </a:prstGeom>
          <a:ln w="12700">
            <a:solidFill>
              <a:srgbClr val="000000"/>
            </a:solidFill>
          </a:ln>
        </p:spPr>
      </p:pic>
    </p:spTree>
    <p:extLst>
      <p:ext uri="{BB962C8B-B14F-4D97-AF65-F5344CB8AC3E}">
        <p14:creationId xmlns:p14="http://schemas.microsoft.com/office/powerpoint/2010/main" val="38324954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63864-BE35-66E7-7618-687F715982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C56590-B058-32C4-CFFB-6A2CCA9327D2}"/>
              </a:ext>
            </a:extLst>
          </p:cNvPr>
          <p:cNvSpPr>
            <a:spLocks noGrp="1"/>
          </p:cNvSpPr>
          <p:nvPr>
            <p:ph type="title"/>
          </p:nvPr>
        </p:nvSpPr>
        <p:spPr>
          <a:xfrm>
            <a:off x="1982913" y="543146"/>
            <a:ext cx="9005646" cy="733211"/>
          </a:xfrm>
        </p:spPr>
        <p:txBody>
          <a:bodyPr/>
          <a:lstStyle/>
          <a:p>
            <a:pPr algn="l"/>
            <a:r>
              <a:rPr lang="en-US" dirty="0"/>
              <a:t>Weekly Report Areas / Quality Reports</a:t>
            </a:r>
          </a:p>
        </p:txBody>
      </p:sp>
      <p:sp>
        <p:nvSpPr>
          <p:cNvPr id="15" name="Rectangle 14">
            <a:extLst>
              <a:ext uri="{FF2B5EF4-FFF2-40B4-BE49-F238E27FC236}">
                <a16:creationId xmlns:a16="http://schemas.microsoft.com/office/drawing/2014/main" id="{080BF838-D37F-129F-EEB6-70FBD13A5127}"/>
              </a:ext>
            </a:extLst>
          </p:cNvPr>
          <p:cNvSpPr/>
          <p:nvPr/>
        </p:nvSpPr>
        <p:spPr>
          <a:xfrm>
            <a:off x="295889" y="1929021"/>
            <a:ext cx="1965410" cy="369332"/>
          </a:xfrm>
          <a:prstGeom prst="rect">
            <a:avLst/>
          </a:prstGeom>
        </p:spPr>
        <p:txBody>
          <a:bodyPr wrap="non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2C6782"/>
                </a:solidFill>
                <a:effectLst/>
                <a:uLnTx/>
                <a:uFillTx/>
                <a:latin typeface="Gotham" panose="02000504050000020004" pitchFamily="2" charset="0"/>
                <a:ea typeface="+mn-ea"/>
                <a:cs typeface="+mn-cs"/>
              </a:rPr>
              <a:t>Quality Reports</a:t>
            </a:r>
          </a:p>
        </p:txBody>
      </p:sp>
      <p:pic>
        <p:nvPicPr>
          <p:cNvPr id="4" name="Picture 3">
            <a:extLst>
              <a:ext uri="{FF2B5EF4-FFF2-40B4-BE49-F238E27FC236}">
                <a16:creationId xmlns:a16="http://schemas.microsoft.com/office/drawing/2014/main" id="{5D4E053D-9435-2902-6ABC-7B25C8F5495D}"/>
              </a:ext>
            </a:extLst>
          </p:cNvPr>
          <p:cNvPicPr>
            <a:picLocks noChangeAspect="1"/>
          </p:cNvPicPr>
          <p:nvPr/>
        </p:nvPicPr>
        <p:blipFill>
          <a:blip r:embed="rId2"/>
          <a:stretch>
            <a:fillRect/>
          </a:stretch>
        </p:blipFill>
        <p:spPr>
          <a:xfrm>
            <a:off x="152378" y="2399235"/>
            <a:ext cx="11887200" cy="2194558"/>
          </a:xfrm>
          <a:prstGeom prst="rect">
            <a:avLst/>
          </a:prstGeom>
          <a:ln w="12700">
            <a:solidFill>
              <a:srgbClr val="000000"/>
            </a:solidFill>
          </a:ln>
        </p:spPr>
      </p:pic>
    </p:spTree>
    <p:extLst>
      <p:ext uri="{BB962C8B-B14F-4D97-AF65-F5344CB8AC3E}">
        <p14:creationId xmlns:p14="http://schemas.microsoft.com/office/powerpoint/2010/main" val="563560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99E24-CD07-A384-B41D-9663B89E87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C17413-FDE1-78C0-60B0-C74DE36C9E86}"/>
              </a:ext>
            </a:extLst>
          </p:cNvPr>
          <p:cNvSpPr>
            <a:spLocks noGrp="1"/>
          </p:cNvSpPr>
          <p:nvPr>
            <p:ph type="title"/>
          </p:nvPr>
        </p:nvSpPr>
        <p:spPr>
          <a:xfrm>
            <a:off x="1982913" y="543146"/>
            <a:ext cx="9587046" cy="1173687"/>
          </a:xfrm>
        </p:spPr>
        <p:txBody>
          <a:bodyPr/>
          <a:lstStyle/>
          <a:p>
            <a:pPr algn="l"/>
            <a:r>
              <a:rPr lang="en-US" dirty="0"/>
              <a:t>Weekly Report Areas / Invoices Summary</a:t>
            </a:r>
            <a:br>
              <a:rPr lang="en-US" dirty="0"/>
            </a:br>
            <a:endParaRPr lang="en-US" dirty="0"/>
          </a:p>
        </p:txBody>
      </p:sp>
      <p:sp>
        <p:nvSpPr>
          <p:cNvPr id="15" name="Rectangle 14">
            <a:extLst>
              <a:ext uri="{FF2B5EF4-FFF2-40B4-BE49-F238E27FC236}">
                <a16:creationId xmlns:a16="http://schemas.microsoft.com/office/drawing/2014/main" id="{6F69D2AF-DA6D-491C-0425-788176A5D9F9}"/>
              </a:ext>
            </a:extLst>
          </p:cNvPr>
          <p:cNvSpPr/>
          <p:nvPr/>
        </p:nvSpPr>
        <p:spPr>
          <a:xfrm>
            <a:off x="295889" y="1929021"/>
            <a:ext cx="2209707" cy="369332"/>
          </a:xfrm>
          <a:prstGeom prst="rect">
            <a:avLst/>
          </a:prstGeom>
        </p:spPr>
        <p:txBody>
          <a:bodyPr wrap="non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2C6782"/>
                </a:solidFill>
                <a:effectLst/>
                <a:uLnTx/>
                <a:uFillTx/>
                <a:latin typeface="Gotham" panose="02000504050000020004" pitchFamily="2" charset="0"/>
                <a:ea typeface="+mn-ea"/>
                <a:cs typeface="+mn-cs"/>
              </a:rPr>
              <a:t>Invoices Summary</a:t>
            </a:r>
          </a:p>
        </p:txBody>
      </p:sp>
      <p:pic>
        <p:nvPicPr>
          <p:cNvPr id="7" name="Picture 6">
            <a:extLst>
              <a:ext uri="{FF2B5EF4-FFF2-40B4-BE49-F238E27FC236}">
                <a16:creationId xmlns:a16="http://schemas.microsoft.com/office/drawing/2014/main" id="{59FB12C2-F60C-7BD3-CB79-F2326EA472EB}"/>
              </a:ext>
            </a:extLst>
          </p:cNvPr>
          <p:cNvPicPr>
            <a:picLocks noChangeAspect="1"/>
          </p:cNvPicPr>
          <p:nvPr/>
        </p:nvPicPr>
        <p:blipFill>
          <a:blip r:embed="rId2"/>
          <a:stretch>
            <a:fillRect/>
          </a:stretch>
        </p:blipFill>
        <p:spPr>
          <a:xfrm>
            <a:off x="152392" y="2394822"/>
            <a:ext cx="11887200" cy="2011678"/>
          </a:xfrm>
          <a:prstGeom prst="rect">
            <a:avLst/>
          </a:prstGeom>
          <a:ln w="12700">
            <a:solidFill>
              <a:srgbClr val="000000"/>
            </a:solidFill>
          </a:ln>
        </p:spPr>
      </p:pic>
    </p:spTree>
    <p:extLst>
      <p:ext uri="{BB962C8B-B14F-4D97-AF65-F5344CB8AC3E}">
        <p14:creationId xmlns:p14="http://schemas.microsoft.com/office/powerpoint/2010/main" val="28799372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Quality</a:t>
            </a:r>
          </a:p>
        </p:txBody>
      </p:sp>
      <p:sp>
        <p:nvSpPr>
          <p:cNvPr id="15" name="Rectangle 14">
            <a:extLst>
              <a:ext uri="{FF2B5EF4-FFF2-40B4-BE49-F238E27FC236}">
                <a16:creationId xmlns:a16="http://schemas.microsoft.com/office/drawing/2014/main" id="{0C1DAC87-0392-4D38-B0C1-DB39DBD94634}"/>
              </a:ext>
            </a:extLst>
          </p:cNvPr>
          <p:cNvSpPr/>
          <p:nvPr/>
        </p:nvSpPr>
        <p:spPr>
          <a:xfrm>
            <a:off x="725735" y="1944652"/>
            <a:ext cx="2026517"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Quality Audit</a:t>
            </a:r>
          </a:p>
        </p:txBody>
      </p:sp>
      <p:pic>
        <p:nvPicPr>
          <p:cNvPr id="9" name="Picture 8">
            <a:extLst>
              <a:ext uri="{FF2B5EF4-FFF2-40B4-BE49-F238E27FC236}">
                <a16:creationId xmlns:a16="http://schemas.microsoft.com/office/drawing/2014/main" id="{CD0BABD0-C76E-371D-555B-D55F0AE82393}"/>
              </a:ext>
            </a:extLst>
          </p:cNvPr>
          <p:cNvPicPr>
            <a:picLocks noChangeAspect="1"/>
          </p:cNvPicPr>
          <p:nvPr/>
        </p:nvPicPr>
        <p:blipFill>
          <a:blip r:embed="rId3"/>
          <a:stretch>
            <a:fillRect/>
          </a:stretch>
        </p:blipFill>
        <p:spPr>
          <a:xfrm>
            <a:off x="152364" y="2382934"/>
            <a:ext cx="5641848" cy="3931920"/>
          </a:xfrm>
          <a:prstGeom prst="rect">
            <a:avLst/>
          </a:prstGeom>
          <a:ln w="12700">
            <a:solidFill>
              <a:schemeClr val="tx1"/>
            </a:solidFill>
          </a:ln>
        </p:spPr>
      </p:pic>
      <p:pic>
        <p:nvPicPr>
          <p:cNvPr id="5" name="Picture 4">
            <a:extLst>
              <a:ext uri="{FF2B5EF4-FFF2-40B4-BE49-F238E27FC236}">
                <a16:creationId xmlns:a16="http://schemas.microsoft.com/office/drawing/2014/main" id="{C833CC28-9C49-D2A6-0F66-A00BC4CD55CD}"/>
              </a:ext>
            </a:extLst>
          </p:cNvPr>
          <p:cNvPicPr>
            <a:picLocks noChangeAspect="1"/>
          </p:cNvPicPr>
          <p:nvPr/>
        </p:nvPicPr>
        <p:blipFill>
          <a:blip r:embed="rId4"/>
          <a:stretch>
            <a:fillRect/>
          </a:stretch>
        </p:blipFill>
        <p:spPr>
          <a:xfrm>
            <a:off x="5936043" y="1340138"/>
            <a:ext cx="5943600" cy="5469623"/>
          </a:xfrm>
          <a:prstGeom prst="rect">
            <a:avLst/>
          </a:prstGeom>
          <a:ln w="12700">
            <a:solidFill>
              <a:schemeClr val="tx1"/>
            </a:solidFill>
          </a:ln>
        </p:spPr>
      </p:pic>
    </p:spTree>
    <p:extLst>
      <p:ext uri="{BB962C8B-B14F-4D97-AF65-F5344CB8AC3E}">
        <p14:creationId xmlns:p14="http://schemas.microsoft.com/office/powerpoint/2010/main" val="30639323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HSE </a:t>
            </a:r>
          </a:p>
        </p:txBody>
      </p:sp>
      <p:sp>
        <p:nvSpPr>
          <p:cNvPr id="15" name="Rectangle 14">
            <a:extLst>
              <a:ext uri="{FF2B5EF4-FFF2-40B4-BE49-F238E27FC236}">
                <a16:creationId xmlns:a16="http://schemas.microsoft.com/office/drawing/2014/main" id="{0C1DAC87-0392-4D38-B0C1-DB39DBD94634}"/>
              </a:ext>
            </a:extLst>
          </p:cNvPr>
          <p:cNvSpPr/>
          <p:nvPr/>
        </p:nvSpPr>
        <p:spPr>
          <a:xfrm>
            <a:off x="725735" y="1944652"/>
            <a:ext cx="4868640" cy="369332"/>
          </a:xfrm>
          <a:prstGeom prst="rect">
            <a:avLst/>
          </a:prstGeom>
        </p:spPr>
        <p:txBody>
          <a:bodyPr wrap="non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2C6782"/>
                </a:solidFill>
                <a:effectLst/>
                <a:uLnTx/>
                <a:uFillTx/>
                <a:latin typeface="Gotham" panose="02000504050000020004" pitchFamily="2" charset="0"/>
                <a:ea typeface="+mn-ea"/>
                <a:cs typeface="+mn-cs"/>
              </a:rPr>
              <a:t>Health, Safety &amp; Environmental (HSE)</a:t>
            </a:r>
          </a:p>
        </p:txBody>
      </p:sp>
      <p:pic>
        <p:nvPicPr>
          <p:cNvPr id="5" name="Picture 4">
            <a:extLst>
              <a:ext uri="{FF2B5EF4-FFF2-40B4-BE49-F238E27FC236}">
                <a16:creationId xmlns:a16="http://schemas.microsoft.com/office/drawing/2014/main" id="{F50C124A-39CE-E1CF-3C3D-950003AF6FB9}"/>
              </a:ext>
            </a:extLst>
          </p:cNvPr>
          <p:cNvPicPr>
            <a:picLocks noChangeAspect="1"/>
          </p:cNvPicPr>
          <p:nvPr/>
        </p:nvPicPr>
        <p:blipFill>
          <a:blip r:embed="rId2"/>
          <a:stretch>
            <a:fillRect/>
          </a:stretch>
        </p:blipFill>
        <p:spPr>
          <a:xfrm>
            <a:off x="787318" y="2313984"/>
            <a:ext cx="7315200" cy="4114796"/>
          </a:xfrm>
          <a:prstGeom prst="rect">
            <a:avLst/>
          </a:prstGeom>
          <a:ln w="12700">
            <a:solidFill>
              <a:schemeClr val="tx1"/>
            </a:solidFill>
          </a:ln>
        </p:spPr>
      </p:pic>
    </p:spTree>
    <p:extLst>
      <p:ext uri="{BB962C8B-B14F-4D97-AF65-F5344CB8AC3E}">
        <p14:creationId xmlns:p14="http://schemas.microsoft.com/office/powerpoint/2010/main" val="9738636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DCBEF-6F4D-5786-8DB2-55651A7687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5A9665-075B-A860-61A0-3CB3207F614B}"/>
              </a:ext>
            </a:extLst>
          </p:cNvPr>
          <p:cNvSpPr>
            <a:spLocks noGrp="1"/>
          </p:cNvSpPr>
          <p:nvPr>
            <p:ph type="title"/>
          </p:nvPr>
        </p:nvSpPr>
        <p:spPr>
          <a:xfrm>
            <a:off x="1954338" y="543146"/>
            <a:ext cx="9005646" cy="733211"/>
          </a:xfrm>
        </p:spPr>
        <p:txBody>
          <a:bodyPr/>
          <a:lstStyle/>
          <a:p>
            <a:pPr algn="l"/>
            <a:r>
              <a:rPr lang="en-US" dirty="0"/>
              <a:t>Weekly Report Areas / HSE</a:t>
            </a:r>
          </a:p>
        </p:txBody>
      </p:sp>
      <p:sp>
        <p:nvSpPr>
          <p:cNvPr id="15" name="Rectangle 14">
            <a:extLst>
              <a:ext uri="{FF2B5EF4-FFF2-40B4-BE49-F238E27FC236}">
                <a16:creationId xmlns:a16="http://schemas.microsoft.com/office/drawing/2014/main" id="{E6AF564D-8A52-9765-7A87-4AA532B537B9}"/>
              </a:ext>
            </a:extLst>
          </p:cNvPr>
          <p:cNvSpPr/>
          <p:nvPr/>
        </p:nvSpPr>
        <p:spPr>
          <a:xfrm>
            <a:off x="725735" y="1944652"/>
            <a:ext cx="4708661" cy="369332"/>
          </a:xfrm>
          <a:prstGeom prst="rect">
            <a:avLst/>
          </a:prstGeom>
        </p:spPr>
        <p:txBody>
          <a:bodyPr wrap="non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2C6782"/>
                </a:solidFill>
                <a:effectLst/>
                <a:uLnTx/>
                <a:uFillTx/>
                <a:latin typeface="Gotham" panose="02000504050000020004" pitchFamily="2" charset="0"/>
                <a:ea typeface="+mn-ea"/>
                <a:cs typeface="+mn-cs"/>
              </a:rPr>
              <a:t>Health, Safety &amp; Environmental (HSE) Audits</a:t>
            </a:r>
          </a:p>
        </p:txBody>
      </p:sp>
      <p:pic>
        <p:nvPicPr>
          <p:cNvPr id="8" name="Picture 7">
            <a:extLst>
              <a:ext uri="{FF2B5EF4-FFF2-40B4-BE49-F238E27FC236}">
                <a16:creationId xmlns:a16="http://schemas.microsoft.com/office/drawing/2014/main" id="{33E58BD3-A42C-F4F6-B827-BF0F4D9DD4A8}"/>
              </a:ext>
            </a:extLst>
          </p:cNvPr>
          <p:cNvPicPr>
            <a:picLocks noChangeAspect="1"/>
          </p:cNvPicPr>
          <p:nvPr/>
        </p:nvPicPr>
        <p:blipFill>
          <a:blip r:embed="rId3"/>
          <a:stretch>
            <a:fillRect/>
          </a:stretch>
        </p:blipFill>
        <p:spPr>
          <a:xfrm>
            <a:off x="6155522" y="1276353"/>
            <a:ext cx="5943600" cy="5486400"/>
          </a:xfrm>
          <a:prstGeom prst="rect">
            <a:avLst/>
          </a:prstGeom>
        </p:spPr>
      </p:pic>
      <p:pic>
        <p:nvPicPr>
          <p:cNvPr id="5" name="Picture 4">
            <a:extLst>
              <a:ext uri="{FF2B5EF4-FFF2-40B4-BE49-F238E27FC236}">
                <a16:creationId xmlns:a16="http://schemas.microsoft.com/office/drawing/2014/main" id="{8B95D081-F548-3626-4C9D-63DE96961EA4}"/>
              </a:ext>
            </a:extLst>
          </p:cNvPr>
          <p:cNvPicPr>
            <a:picLocks noChangeAspect="1"/>
          </p:cNvPicPr>
          <p:nvPr/>
        </p:nvPicPr>
        <p:blipFill>
          <a:blip r:embed="rId4"/>
          <a:stretch>
            <a:fillRect/>
          </a:stretch>
        </p:blipFill>
        <p:spPr>
          <a:xfrm>
            <a:off x="82154" y="2311005"/>
            <a:ext cx="5943600" cy="4451748"/>
          </a:xfrm>
          <a:prstGeom prst="rect">
            <a:avLst/>
          </a:prstGeom>
          <a:ln w="12700">
            <a:solidFill>
              <a:schemeClr val="tx1"/>
            </a:solidFill>
          </a:ln>
        </p:spPr>
      </p:pic>
    </p:spTree>
    <p:extLst>
      <p:ext uri="{BB962C8B-B14F-4D97-AF65-F5344CB8AC3E}">
        <p14:creationId xmlns:p14="http://schemas.microsoft.com/office/powerpoint/2010/main" val="24715169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E8F39-7281-5AA3-7027-FDD1501601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57B6D-0398-9692-7CE0-784FA24C9154}"/>
              </a:ext>
            </a:extLst>
          </p:cNvPr>
          <p:cNvSpPr>
            <a:spLocks noGrp="1"/>
          </p:cNvSpPr>
          <p:nvPr>
            <p:ph type="title"/>
          </p:nvPr>
        </p:nvSpPr>
        <p:spPr>
          <a:xfrm>
            <a:off x="1982913" y="543146"/>
            <a:ext cx="9587046" cy="1173687"/>
          </a:xfrm>
        </p:spPr>
        <p:txBody>
          <a:bodyPr/>
          <a:lstStyle/>
          <a:p>
            <a:pPr algn="l"/>
            <a:r>
              <a:rPr lang="en-US" dirty="0"/>
              <a:t>Weekly Report Areas / Invoices</a:t>
            </a:r>
            <a:br>
              <a:rPr lang="en-US" dirty="0"/>
            </a:br>
            <a:endParaRPr lang="en-US" dirty="0"/>
          </a:p>
        </p:txBody>
      </p:sp>
      <p:sp>
        <p:nvSpPr>
          <p:cNvPr id="15" name="Rectangle 14">
            <a:extLst>
              <a:ext uri="{FF2B5EF4-FFF2-40B4-BE49-F238E27FC236}">
                <a16:creationId xmlns:a16="http://schemas.microsoft.com/office/drawing/2014/main" id="{BD3E9836-3582-B57C-2511-97026E390104}"/>
              </a:ext>
            </a:extLst>
          </p:cNvPr>
          <p:cNvSpPr/>
          <p:nvPr/>
        </p:nvSpPr>
        <p:spPr>
          <a:xfrm>
            <a:off x="295889" y="1929021"/>
            <a:ext cx="1535420" cy="369332"/>
          </a:xfrm>
          <a:prstGeom prst="rect">
            <a:avLst/>
          </a:prstGeom>
        </p:spPr>
        <p:txBody>
          <a:bodyPr wrap="non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2C6782"/>
                </a:solidFill>
                <a:effectLst/>
                <a:uLnTx/>
                <a:uFillTx/>
                <a:latin typeface="Gotham" panose="02000504050000020004" pitchFamily="2" charset="0"/>
                <a:ea typeface="+mn-ea"/>
                <a:cs typeface="+mn-cs"/>
              </a:rPr>
              <a:t>Invoice Log</a:t>
            </a:r>
          </a:p>
        </p:txBody>
      </p:sp>
      <p:pic>
        <p:nvPicPr>
          <p:cNvPr id="7" name="Picture 6">
            <a:extLst>
              <a:ext uri="{FF2B5EF4-FFF2-40B4-BE49-F238E27FC236}">
                <a16:creationId xmlns:a16="http://schemas.microsoft.com/office/drawing/2014/main" id="{0572093F-CB39-D52E-1EC9-71E9E905D2A7}"/>
              </a:ext>
            </a:extLst>
          </p:cNvPr>
          <p:cNvPicPr preferRelativeResize="0">
            <a:picLocks/>
          </p:cNvPicPr>
          <p:nvPr/>
        </p:nvPicPr>
        <p:blipFill>
          <a:blip r:embed="rId2">
            <a:extLst>
              <a:ext uri="{28A0092B-C50C-407E-A947-70E740481C1C}">
                <a14:useLocalDpi xmlns:a14="http://schemas.microsoft.com/office/drawing/2010/main" val="0"/>
              </a:ext>
            </a:extLst>
          </a:blip>
          <a:stretch>
            <a:fillRect/>
          </a:stretch>
        </p:blipFill>
        <p:spPr>
          <a:xfrm>
            <a:off x="152400" y="3129643"/>
            <a:ext cx="11887200" cy="1097280"/>
          </a:xfrm>
          <a:prstGeom prst="rect">
            <a:avLst/>
          </a:prstGeom>
          <a:ln w="9525">
            <a:solidFill>
              <a:schemeClr val="tx1"/>
            </a:solidFill>
          </a:ln>
        </p:spPr>
      </p:pic>
    </p:spTree>
    <p:extLst>
      <p:ext uri="{BB962C8B-B14F-4D97-AF65-F5344CB8AC3E}">
        <p14:creationId xmlns:p14="http://schemas.microsoft.com/office/powerpoint/2010/main" val="2015060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8B531-9972-B449-3930-259A10DC28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D884FA-8D34-A4EA-A463-4F39865B953D}"/>
              </a:ext>
            </a:extLst>
          </p:cNvPr>
          <p:cNvSpPr>
            <a:spLocks noGrp="1"/>
          </p:cNvSpPr>
          <p:nvPr>
            <p:ph type="title"/>
          </p:nvPr>
        </p:nvSpPr>
        <p:spPr>
          <a:xfrm>
            <a:off x="1982913" y="543146"/>
            <a:ext cx="9587046" cy="1173687"/>
          </a:xfrm>
        </p:spPr>
        <p:txBody>
          <a:bodyPr/>
          <a:lstStyle/>
          <a:p>
            <a:pPr algn="l"/>
            <a:r>
              <a:rPr lang="en-US" dirty="0"/>
              <a:t>Weekly Report Areas / Invoices</a:t>
            </a:r>
            <a:br>
              <a:rPr lang="en-US" dirty="0"/>
            </a:br>
            <a:endParaRPr lang="en-US" dirty="0"/>
          </a:p>
        </p:txBody>
      </p:sp>
      <p:sp>
        <p:nvSpPr>
          <p:cNvPr id="15" name="Rectangle 14">
            <a:extLst>
              <a:ext uri="{FF2B5EF4-FFF2-40B4-BE49-F238E27FC236}">
                <a16:creationId xmlns:a16="http://schemas.microsoft.com/office/drawing/2014/main" id="{A1C0EACE-0018-9DCC-4879-D62448814BB0}"/>
              </a:ext>
            </a:extLst>
          </p:cNvPr>
          <p:cNvSpPr/>
          <p:nvPr/>
        </p:nvSpPr>
        <p:spPr>
          <a:xfrm>
            <a:off x="295889" y="1929021"/>
            <a:ext cx="2118337" cy="369332"/>
          </a:xfrm>
          <a:prstGeom prst="rect">
            <a:avLst/>
          </a:prstGeom>
        </p:spPr>
        <p:txBody>
          <a:bodyPr wrap="non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2C6782"/>
                </a:solidFill>
                <a:effectLst/>
                <a:uLnTx/>
                <a:uFillTx/>
                <a:latin typeface="Gotham" panose="02000504050000020004" pitchFamily="2" charset="0"/>
                <a:ea typeface="+mn-ea"/>
                <a:cs typeface="+mn-cs"/>
              </a:rPr>
              <a:t>Invoice Summary</a:t>
            </a:r>
          </a:p>
        </p:txBody>
      </p:sp>
      <p:pic>
        <p:nvPicPr>
          <p:cNvPr id="4" name="Picture 3">
            <a:extLst>
              <a:ext uri="{FF2B5EF4-FFF2-40B4-BE49-F238E27FC236}">
                <a16:creationId xmlns:a16="http://schemas.microsoft.com/office/drawing/2014/main" id="{3550F67E-0683-C319-30D6-8A2FB2DBECCF}"/>
              </a:ext>
            </a:extLst>
          </p:cNvPr>
          <p:cNvPicPr>
            <a:picLocks noChangeAspect="1"/>
          </p:cNvPicPr>
          <p:nvPr/>
        </p:nvPicPr>
        <p:blipFill>
          <a:blip r:embed="rId2"/>
          <a:stretch>
            <a:fillRect/>
          </a:stretch>
        </p:blipFill>
        <p:spPr>
          <a:xfrm>
            <a:off x="152399" y="2510540"/>
            <a:ext cx="11887200" cy="1188719"/>
          </a:xfrm>
          <a:prstGeom prst="rect">
            <a:avLst/>
          </a:prstGeom>
        </p:spPr>
      </p:pic>
    </p:spTree>
    <p:extLst>
      <p:ext uri="{BB962C8B-B14F-4D97-AF65-F5344CB8AC3E}">
        <p14:creationId xmlns:p14="http://schemas.microsoft.com/office/powerpoint/2010/main" val="856860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CCOs</a:t>
            </a:r>
          </a:p>
        </p:txBody>
      </p:sp>
      <p:sp>
        <p:nvSpPr>
          <p:cNvPr id="15" name="Rectangle 14">
            <a:extLst>
              <a:ext uri="{FF2B5EF4-FFF2-40B4-BE49-F238E27FC236}">
                <a16:creationId xmlns:a16="http://schemas.microsoft.com/office/drawing/2014/main" id="{0C1DAC87-0392-4D38-B0C1-DB39DBD94634}"/>
              </a:ext>
            </a:extLst>
          </p:cNvPr>
          <p:cNvSpPr/>
          <p:nvPr/>
        </p:nvSpPr>
        <p:spPr>
          <a:xfrm>
            <a:off x="725735" y="1944652"/>
            <a:ext cx="4227439"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Contract Change Orders (CCOs)</a:t>
            </a:r>
          </a:p>
        </p:txBody>
      </p:sp>
      <p:pic>
        <p:nvPicPr>
          <p:cNvPr id="4" name="Picture 3">
            <a:extLst>
              <a:ext uri="{FF2B5EF4-FFF2-40B4-BE49-F238E27FC236}">
                <a16:creationId xmlns:a16="http://schemas.microsoft.com/office/drawing/2014/main" id="{50E18E24-4C0B-65AA-6175-6D3E8AD64688}"/>
              </a:ext>
            </a:extLst>
          </p:cNvPr>
          <p:cNvPicPr/>
          <p:nvPr/>
        </p:nvPicPr>
        <p:blipFill>
          <a:blip r:embed="rId2"/>
          <a:stretch>
            <a:fillRect/>
          </a:stretch>
        </p:blipFill>
        <p:spPr>
          <a:xfrm>
            <a:off x="214679" y="2952750"/>
            <a:ext cx="11762642" cy="952500"/>
          </a:xfrm>
          <a:prstGeom prst="rect">
            <a:avLst/>
          </a:prstGeom>
          <a:ln w="12700">
            <a:solidFill>
              <a:schemeClr val="tx1"/>
            </a:solidFill>
          </a:ln>
        </p:spPr>
      </p:pic>
    </p:spTree>
    <p:extLst>
      <p:ext uri="{BB962C8B-B14F-4D97-AF65-F5344CB8AC3E}">
        <p14:creationId xmlns:p14="http://schemas.microsoft.com/office/powerpoint/2010/main" val="34512852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Resources</a:t>
            </a:r>
          </a:p>
        </p:txBody>
      </p:sp>
      <p:sp>
        <p:nvSpPr>
          <p:cNvPr id="15" name="Rectangle 14">
            <a:extLst>
              <a:ext uri="{FF2B5EF4-FFF2-40B4-BE49-F238E27FC236}">
                <a16:creationId xmlns:a16="http://schemas.microsoft.com/office/drawing/2014/main" id="{0C1DAC87-0392-4D38-B0C1-DB39DBD94634}"/>
              </a:ext>
            </a:extLst>
          </p:cNvPr>
          <p:cNvSpPr/>
          <p:nvPr/>
        </p:nvSpPr>
        <p:spPr>
          <a:xfrm>
            <a:off x="725735" y="1944652"/>
            <a:ext cx="1672253"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Resources</a:t>
            </a:r>
          </a:p>
        </p:txBody>
      </p:sp>
      <p:pic>
        <p:nvPicPr>
          <p:cNvPr id="4" name="Picture 3">
            <a:extLst>
              <a:ext uri="{FF2B5EF4-FFF2-40B4-BE49-F238E27FC236}">
                <a16:creationId xmlns:a16="http://schemas.microsoft.com/office/drawing/2014/main" id="{99ED736E-EE69-0CC5-9A42-E783D3866F89}"/>
              </a:ext>
            </a:extLst>
          </p:cNvPr>
          <p:cNvPicPr>
            <a:picLocks noChangeAspect="1"/>
          </p:cNvPicPr>
          <p:nvPr/>
        </p:nvPicPr>
        <p:blipFill>
          <a:blip r:embed="rId2"/>
          <a:stretch>
            <a:fillRect/>
          </a:stretch>
        </p:blipFill>
        <p:spPr>
          <a:xfrm>
            <a:off x="154142" y="2476150"/>
            <a:ext cx="5715000" cy="3904485"/>
          </a:xfrm>
          <a:prstGeom prst="rect">
            <a:avLst/>
          </a:prstGeom>
          <a:ln w="12700">
            <a:solidFill>
              <a:srgbClr val="000000"/>
            </a:solidFill>
          </a:ln>
        </p:spPr>
      </p:pic>
      <p:pic>
        <p:nvPicPr>
          <p:cNvPr id="7" name="Picture 6">
            <a:extLst>
              <a:ext uri="{FF2B5EF4-FFF2-40B4-BE49-F238E27FC236}">
                <a16:creationId xmlns:a16="http://schemas.microsoft.com/office/drawing/2014/main" id="{04EA6B69-FECF-1B90-1E85-0DD6EF93C1E5}"/>
              </a:ext>
            </a:extLst>
          </p:cNvPr>
          <p:cNvPicPr>
            <a:picLocks noChangeAspect="1"/>
          </p:cNvPicPr>
          <p:nvPr/>
        </p:nvPicPr>
        <p:blipFill>
          <a:blip r:embed="rId3"/>
          <a:stretch>
            <a:fillRect/>
          </a:stretch>
        </p:blipFill>
        <p:spPr>
          <a:xfrm>
            <a:off x="6322857" y="2476149"/>
            <a:ext cx="5715000" cy="3904485"/>
          </a:xfrm>
          <a:prstGeom prst="rect">
            <a:avLst/>
          </a:prstGeom>
          <a:ln w="12700">
            <a:solidFill>
              <a:srgbClr val="000000"/>
            </a:solidFill>
          </a:ln>
        </p:spPr>
      </p:pic>
    </p:spTree>
    <p:extLst>
      <p:ext uri="{BB962C8B-B14F-4D97-AF65-F5344CB8AC3E}">
        <p14:creationId xmlns:p14="http://schemas.microsoft.com/office/powerpoint/2010/main" val="30919021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Schedule Status</a:t>
            </a:r>
          </a:p>
        </p:txBody>
      </p:sp>
      <p:sp>
        <p:nvSpPr>
          <p:cNvPr id="15" name="Rectangle 14">
            <a:extLst>
              <a:ext uri="{FF2B5EF4-FFF2-40B4-BE49-F238E27FC236}">
                <a16:creationId xmlns:a16="http://schemas.microsoft.com/office/drawing/2014/main" id="{0C1DAC87-0392-4D38-B0C1-DB39DBD94634}"/>
              </a:ext>
            </a:extLst>
          </p:cNvPr>
          <p:cNvSpPr/>
          <p:nvPr/>
        </p:nvSpPr>
        <p:spPr>
          <a:xfrm>
            <a:off x="1177635" y="1526670"/>
            <a:ext cx="3977371"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Primavera P6 Schedule Status</a:t>
            </a:r>
          </a:p>
        </p:txBody>
      </p:sp>
      <p:pic>
        <p:nvPicPr>
          <p:cNvPr id="4" name="Picture 3">
            <a:extLst>
              <a:ext uri="{FF2B5EF4-FFF2-40B4-BE49-F238E27FC236}">
                <a16:creationId xmlns:a16="http://schemas.microsoft.com/office/drawing/2014/main" id="{23461620-6573-2FFC-84BE-4BE1F1BBA008}"/>
              </a:ext>
            </a:extLst>
          </p:cNvPr>
          <p:cNvPicPr>
            <a:picLocks noChangeAspect="1"/>
          </p:cNvPicPr>
          <p:nvPr/>
        </p:nvPicPr>
        <p:blipFill>
          <a:blip r:embed="rId2"/>
          <a:stretch>
            <a:fillRect/>
          </a:stretch>
        </p:blipFill>
        <p:spPr>
          <a:xfrm>
            <a:off x="365533" y="2465069"/>
            <a:ext cx="11430000" cy="2194555"/>
          </a:xfrm>
          <a:prstGeom prst="rect">
            <a:avLst/>
          </a:prstGeom>
          <a:ln w="12700">
            <a:solidFill>
              <a:schemeClr val="tx1"/>
            </a:solidFill>
          </a:ln>
        </p:spPr>
      </p:pic>
    </p:spTree>
    <p:extLst>
      <p:ext uri="{BB962C8B-B14F-4D97-AF65-F5344CB8AC3E}">
        <p14:creationId xmlns:p14="http://schemas.microsoft.com/office/powerpoint/2010/main" val="40697293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2" y="543146"/>
            <a:ext cx="9770937" cy="733211"/>
          </a:xfrm>
        </p:spPr>
        <p:txBody>
          <a:bodyPr/>
          <a:lstStyle/>
          <a:p>
            <a:pPr algn="l"/>
            <a:r>
              <a:rPr lang="en-US" dirty="0"/>
              <a:t>Weekly Report Areas / Testing and Commissioning</a:t>
            </a:r>
          </a:p>
        </p:txBody>
      </p:sp>
      <p:sp>
        <p:nvSpPr>
          <p:cNvPr id="15" name="Rectangle 14">
            <a:extLst>
              <a:ext uri="{FF2B5EF4-FFF2-40B4-BE49-F238E27FC236}">
                <a16:creationId xmlns:a16="http://schemas.microsoft.com/office/drawing/2014/main" id="{0C1DAC87-0392-4D38-B0C1-DB39DBD94634}"/>
              </a:ext>
            </a:extLst>
          </p:cNvPr>
          <p:cNvSpPr/>
          <p:nvPr/>
        </p:nvSpPr>
        <p:spPr>
          <a:xfrm>
            <a:off x="1036128" y="1276357"/>
            <a:ext cx="3733714"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Testing And Commissioning</a:t>
            </a:r>
          </a:p>
        </p:txBody>
      </p:sp>
      <p:pic>
        <p:nvPicPr>
          <p:cNvPr id="5" name="Picture 4">
            <a:extLst>
              <a:ext uri="{FF2B5EF4-FFF2-40B4-BE49-F238E27FC236}">
                <a16:creationId xmlns:a16="http://schemas.microsoft.com/office/drawing/2014/main" id="{6B3C1C7D-8DAF-0845-089E-7EEF9A9BA8C4}"/>
              </a:ext>
            </a:extLst>
          </p:cNvPr>
          <p:cNvPicPr>
            <a:picLocks noChangeAspect="1"/>
          </p:cNvPicPr>
          <p:nvPr/>
        </p:nvPicPr>
        <p:blipFill>
          <a:blip r:embed="rId2"/>
          <a:stretch>
            <a:fillRect/>
          </a:stretch>
        </p:blipFill>
        <p:spPr>
          <a:xfrm>
            <a:off x="189821" y="2009078"/>
            <a:ext cx="11430000" cy="1554478"/>
          </a:xfrm>
          <a:prstGeom prst="rect">
            <a:avLst/>
          </a:prstGeom>
        </p:spPr>
      </p:pic>
    </p:spTree>
    <p:extLst>
      <p:ext uri="{BB962C8B-B14F-4D97-AF65-F5344CB8AC3E}">
        <p14:creationId xmlns:p14="http://schemas.microsoft.com/office/powerpoint/2010/main" val="22959671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Issues</a:t>
            </a:r>
          </a:p>
        </p:txBody>
      </p:sp>
      <p:sp>
        <p:nvSpPr>
          <p:cNvPr id="15" name="Rectangle 14">
            <a:extLst>
              <a:ext uri="{FF2B5EF4-FFF2-40B4-BE49-F238E27FC236}">
                <a16:creationId xmlns:a16="http://schemas.microsoft.com/office/drawing/2014/main" id="{0C1DAC87-0392-4D38-B0C1-DB39DBD94634}"/>
              </a:ext>
            </a:extLst>
          </p:cNvPr>
          <p:cNvSpPr/>
          <p:nvPr/>
        </p:nvSpPr>
        <p:spPr>
          <a:xfrm>
            <a:off x="725735" y="1944652"/>
            <a:ext cx="1996059"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Active Issues</a:t>
            </a:r>
          </a:p>
        </p:txBody>
      </p:sp>
      <p:pic>
        <p:nvPicPr>
          <p:cNvPr id="5" name="Picture 4">
            <a:extLst>
              <a:ext uri="{FF2B5EF4-FFF2-40B4-BE49-F238E27FC236}">
                <a16:creationId xmlns:a16="http://schemas.microsoft.com/office/drawing/2014/main" id="{F959C9F6-902D-34AD-F5EC-35514B7E5988}"/>
              </a:ext>
            </a:extLst>
          </p:cNvPr>
          <p:cNvPicPr>
            <a:picLocks noChangeAspect="1"/>
          </p:cNvPicPr>
          <p:nvPr/>
        </p:nvPicPr>
        <p:blipFill>
          <a:blip r:embed="rId2"/>
          <a:stretch>
            <a:fillRect/>
          </a:stretch>
        </p:blipFill>
        <p:spPr>
          <a:xfrm>
            <a:off x="381000" y="2854683"/>
            <a:ext cx="11430000" cy="1569535"/>
          </a:xfrm>
          <a:prstGeom prst="rect">
            <a:avLst/>
          </a:prstGeom>
        </p:spPr>
      </p:pic>
    </p:spTree>
    <p:extLst>
      <p:ext uri="{BB962C8B-B14F-4D97-AF65-F5344CB8AC3E}">
        <p14:creationId xmlns:p14="http://schemas.microsoft.com/office/powerpoint/2010/main" val="21287927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B38D37-9DF4-4047-9C05-08E6A14282AA}"/>
              </a:ext>
            </a:extLst>
          </p:cNvPr>
          <p:cNvSpPr>
            <a:spLocks noGrp="1"/>
          </p:cNvSpPr>
          <p:nvPr>
            <p:ph type="title"/>
          </p:nvPr>
        </p:nvSpPr>
        <p:spPr>
          <a:xfrm>
            <a:off x="5339562" y="4173842"/>
            <a:ext cx="6204045" cy="1325563"/>
          </a:xfrm>
        </p:spPr>
        <p:txBody>
          <a:bodyPr/>
          <a:lstStyle/>
          <a:p>
            <a:r>
              <a:rPr lang="ar-SA" dirty="0">
                <a:solidFill>
                  <a:schemeClr val="bg1"/>
                </a:solidFill>
              </a:rPr>
              <a:t>شكراً</a:t>
            </a:r>
            <a:endParaRPr lang="en-US" dirty="0">
              <a:solidFill>
                <a:schemeClr val="bg1"/>
              </a:solidFill>
            </a:endParaRPr>
          </a:p>
        </p:txBody>
      </p:sp>
    </p:spTree>
    <p:extLst>
      <p:ext uri="{BB962C8B-B14F-4D97-AF65-F5344CB8AC3E}">
        <p14:creationId xmlns:p14="http://schemas.microsoft.com/office/powerpoint/2010/main" val="23061402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 Confidential | مقيّد"/>
  <p:tag name="BJHEADERFOOTERTEXTMARKING" val=" Confidential | مقيّد"/>
</p:tagLst>
</file>

<file path=ppt/theme/theme1.xml><?xml version="1.0" encoding="utf-8"?>
<a:theme xmlns:a="http://schemas.openxmlformats.org/drawingml/2006/main" name="MODON Theme">
  <a:themeElements>
    <a:clrScheme name="Custom 1">
      <a:dk1>
        <a:srgbClr val="0A2C52"/>
      </a:dk1>
      <a:lt1>
        <a:srgbClr val="FFFFFF"/>
      </a:lt1>
      <a:dk2>
        <a:srgbClr val="296A8E"/>
      </a:dk2>
      <a:lt2>
        <a:srgbClr val="E7E6E6"/>
      </a:lt2>
      <a:accent1>
        <a:srgbClr val="296A8E"/>
      </a:accent1>
      <a:accent2>
        <a:srgbClr val="94C64C"/>
      </a:accent2>
      <a:accent3>
        <a:srgbClr val="59B3D9"/>
      </a:accent3>
      <a:accent4>
        <a:srgbClr val="0A2C52"/>
      </a:accent4>
      <a:accent5>
        <a:srgbClr val="58B2D8"/>
      </a:accent5>
      <a:accent6>
        <a:srgbClr val="94C64C"/>
      </a:accent6>
      <a:hlink>
        <a:srgbClr val="1A4C71"/>
      </a:hlink>
      <a:folHlink>
        <a:srgbClr val="76AE34"/>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القالب" id="{21383F53-8B68-A144-8F3C-61C365BDAE03}" vid="{D72FA2D9-7331-0D4A-8407-60EE0838F82C}"/>
    </a:ext>
  </a:extLst>
</a:theme>
</file>

<file path=ppt/theme/theme2.xml><?xml version="1.0" encoding="utf-8"?>
<a:theme xmlns:a="http://schemas.openxmlformats.org/drawingml/2006/main" name="1_MODON Theme">
  <a:themeElements>
    <a:clrScheme name="Custom 1">
      <a:dk1>
        <a:srgbClr val="0A2C52"/>
      </a:dk1>
      <a:lt1>
        <a:srgbClr val="FFFFFF"/>
      </a:lt1>
      <a:dk2>
        <a:srgbClr val="296A8E"/>
      </a:dk2>
      <a:lt2>
        <a:srgbClr val="E7E6E6"/>
      </a:lt2>
      <a:accent1>
        <a:srgbClr val="296A8E"/>
      </a:accent1>
      <a:accent2>
        <a:srgbClr val="94C64C"/>
      </a:accent2>
      <a:accent3>
        <a:srgbClr val="59B3D9"/>
      </a:accent3>
      <a:accent4>
        <a:srgbClr val="0A2C52"/>
      </a:accent4>
      <a:accent5>
        <a:srgbClr val="58B2D8"/>
      </a:accent5>
      <a:accent6>
        <a:srgbClr val="94C64C"/>
      </a:accent6>
      <a:hlink>
        <a:srgbClr val="1A4C71"/>
      </a:hlink>
      <a:folHlink>
        <a:srgbClr val="76AE34"/>
      </a:folHlink>
    </a:clrScheme>
    <a:fontScheme name="Custom 1">
      <a:majorFont>
        <a:latin typeface="Gotham"/>
        <a:ea typeface=""/>
        <a:cs typeface="TheSansArabic SemiBold"/>
      </a:majorFont>
      <a:minorFont>
        <a:latin typeface="Gotham"/>
        <a:ea typeface=""/>
        <a:cs typeface="TheSansArabic Plai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القالب" id="{21383F53-8B68-A144-8F3C-61C365BDAE03}" vid="{D72FA2D9-7331-0D4A-8407-60EE0838F82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القالب</Template>
  <TotalTime>11944</TotalTime>
  <Words>454</Words>
  <Application>Microsoft Office PowerPoint</Application>
  <PresentationFormat>Widescreen</PresentationFormat>
  <Paragraphs>103</Paragraphs>
  <Slides>31</Slides>
  <Notes>4</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31</vt:i4>
      </vt:variant>
    </vt:vector>
  </HeadingPairs>
  <TitlesOfParts>
    <vt:vector size="42" baseType="lpstr">
      <vt:lpstr>Arial</vt:lpstr>
      <vt:lpstr>Calibri</vt:lpstr>
      <vt:lpstr>Century Gothic</vt:lpstr>
      <vt:lpstr>Gotham</vt:lpstr>
      <vt:lpstr>TheSansArab Light</vt:lpstr>
      <vt:lpstr>TheSansArab Plain</vt:lpstr>
      <vt:lpstr>TheSansArabic</vt:lpstr>
      <vt:lpstr>TheSansArabic SemiLight</vt:lpstr>
      <vt:lpstr>Wingdings</vt:lpstr>
      <vt:lpstr>MODON Theme</vt:lpstr>
      <vt:lpstr>1_MODON Theme</vt:lpstr>
      <vt:lpstr>Weekly Progress Report – Construction Projects</vt:lpstr>
      <vt:lpstr>Disclaimer</vt:lpstr>
      <vt:lpstr>Introduction</vt:lpstr>
      <vt:lpstr>Weekly Progress Report Dashboard</vt:lpstr>
      <vt:lpstr>PowerPoint Presentation</vt:lpstr>
      <vt:lpstr>Weekly Progress Report Attachment</vt:lpstr>
      <vt:lpstr>Weekly Report Areas / Sections</vt:lpstr>
      <vt:lpstr>Weekly Report Areas / Sections</vt:lpstr>
      <vt:lpstr>Weekly Report Areas / General Information</vt:lpstr>
      <vt:lpstr>Weekly Report Areas / Dates</vt:lpstr>
      <vt:lpstr>Weekly Report Areas / Dates</vt:lpstr>
      <vt:lpstr>Weekly Report Areas / Progress</vt:lpstr>
      <vt:lpstr>Weekly Report Areas / Progress</vt:lpstr>
      <vt:lpstr>Weekly Report Areas / Progress</vt:lpstr>
      <vt:lpstr>Weekly Report Areas / Progress</vt:lpstr>
      <vt:lpstr>Weekly Report Areas / Milestones</vt:lpstr>
      <vt:lpstr>Weekly Report Areas / Shop Drawings</vt:lpstr>
      <vt:lpstr>Weekly Report Areas / Material Approval</vt:lpstr>
      <vt:lpstr>Weekly Report Areas / Quality Reports</vt:lpstr>
      <vt:lpstr>Weekly Report Areas / Invoices Summary </vt:lpstr>
      <vt:lpstr>Weekly Report Areas / Quality</vt:lpstr>
      <vt:lpstr>Weekly Report Areas / HSE </vt:lpstr>
      <vt:lpstr>Weekly Report Areas / HSE</vt:lpstr>
      <vt:lpstr>Weekly Report Areas / Invoices </vt:lpstr>
      <vt:lpstr>Weekly Report Areas / Invoices </vt:lpstr>
      <vt:lpstr>Weekly Report Areas / CCOs</vt:lpstr>
      <vt:lpstr>Weekly Report Areas / Resources</vt:lpstr>
      <vt:lpstr>Weekly Report Areas / Schedule Status</vt:lpstr>
      <vt:lpstr>Weekly Report Areas / Testing and Commissioning</vt:lpstr>
      <vt:lpstr>Weekly Report Areas / Issues</vt:lpstr>
      <vt:lpstr>شكراً</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Weekly Progress Report – Construction Projects</dc:title>
  <dc:subject/>
  <dc:creator>Albassam, Abdulaziz</dc:creator>
  <cp:keywords/>
  <dc:description/>
  <cp:lastModifiedBy>Arib Ansari</cp:lastModifiedBy>
  <cp:revision>673</cp:revision>
  <cp:lastPrinted>2025-01-06T07:02:30Z</cp:lastPrinted>
  <dcterms:created xsi:type="dcterms:W3CDTF">2020-09-06T07:51:21Z</dcterms:created>
  <dcterms:modified xsi:type="dcterms:W3CDTF">2026-10-18T07:29:34Z</dcterms:modified>
  <cp:category/>
</cp:coreProperties>
</file>